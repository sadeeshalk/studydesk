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6" r:id="rId5"/>
    <p:sldId id="290" r:id="rId6"/>
    <p:sldId id="291" r:id="rId7"/>
    <p:sldId id="288" r:id="rId8"/>
    <p:sldId id="273" r:id="rId9"/>
    <p:sldId id="277" r:id="rId10"/>
    <p:sldId id="296" r:id="rId11"/>
    <p:sldId id="298" r:id="rId12"/>
    <p:sldId id="299" r:id="rId13"/>
    <p:sldId id="300" r:id="rId14"/>
    <p:sldId id="302" r:id="rId15"/>
    <p:sldId id="310" r:id="rId16"/>
    <p:sldId id="303" r:id="rId17"/>
    <p:sldId id="304" r:id="rId18"/>
    <p:sldId id="270" r:id="rId19"/>
    <p:sldId id="305" r:id="rId20"/>
    <p:sldId id="269" r:id="rId21"/>
    <p:sldId id="307" r:id="rId22"/>
    <p:sldId id="309" r:id="rId23"/>
    <p:sldId id="308" r:id="rId24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6314"/>
    <a:srgbClr val="4E9416"/>
    <a:srgbClr val="EC3278"/>
    <a:srgbClr val="EFB6ED"/>
    <a:srgbClr val="BDE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2"/>
    <p:restoredTop sz="89780" autoAdjust="0"/>
  </p:normalViewPr>
  <p:slideViewPr>
    <p:cSldViewPr snapToGrid="0">
      <p:cViewPr varScale="1">
        <p:scale>
          <a:sx n="62" d="100"/>
          <a:sy n="62" d="100"/>
        </p:scale>
        <p:origin x="10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3F5F2-FC7B-5C4D-AEE7-657AC554683E}" type="datetimeFigureOut">
              <a:rPr lang="en-LK" smtClean="0"/>
              <a:t>03/09/2026</a:t>
            </a:fld>
            <a:endParaRPr lang="en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3C719-3BA5-C84D-8DCD-9456ABDAC1E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0384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4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683543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5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92919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L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6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604173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7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289446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9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397073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L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14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3627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L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16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83829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3C719-3BA5-C84D-8DCD-9456ABDAC1E4}" type="slidenum">
              <a:rPr lang="en-LK" smtClean="0"/>
              <a:t>21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0682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DD2A-AF85-C9CC-AEAD-CEF493FBB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1C9D2-3098-A6DF-7E64-1F081E0EC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9EE10-A5AE-BF61-9680-B87A0BF9E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83117-B8AF-9149-A633-128C9F3AC151}" type="datetime1">
              <a:rPr lang="en-US" smtClean="0"/>
              <a:t>3/9/2026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7E257-32D3-C5C8-0A16-766FD497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BF69-7C83-52AE-8136-28164088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3163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6112-6681-1203-DD98-E0473E9F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95D1-1912-427A-F15A-83C58A8F6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EEC03-C756-CBCC-4635-B87E1193E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DE2C-2A55-F84A-BC8F-3E4495143600}" type="datetime1">
              <a:rPr lang="en-US" smtClean="0"/>
              <a:t>3/9/2026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A10EE-A22C-B358-9534-DFB3772E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DA865-24F2-78AE-E2A6-16FDB335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2878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6AC3-1F3D-8F68-E8E6-E5D483DC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91978-49BF-4C81-06AD-B3F7E20B3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E07E9-0A55-7F32-97EA-174728E3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2B815-E9ED-9E4B-8830-9D623830785D}" type="datetime1">
              <a:rPr lang="en-US" smtClean="0"/>
              <a:t>3/9/2026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187F-E911-9C10-3E47-96DC5633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DCCA7-3C5D-4D0B-2F98-894EDC84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37866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0ED6-31FD-74FD-5628-6111B0C0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EF226-D4FE-CA7C-9F18-2F41121AD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A4ED2-2682-4588-5724-6F0DB7191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4F57E-70D4-DDB0-9FF2-DE8A1833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ECE9-9356-9B40-9A84-F81E31F031C0}" type="datetime1">
              <a:rPr lang="en-US" smtClean="0"/>
              <a:t>3/9/2026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CD9EE-38AB-FB3D-8856-A0D29CBB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91170-22CC-5694-6B65-6CDAD5C0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74759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3755-8A9F-607E-21FD-9D6E3CE7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97D41-18FF-CBD7-C894-5B1A3F1AE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15204-37DA-D958-0341-3A0F391B9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50546-DE06-1BE4-B128-1A7D21A72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5FA08-58F6-A130-03C0-8C8CF441A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DF7807-43A1-B982-72A2-B25FB76E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4DEF2-3F21-7743-B2C8-CEADA8FC5920}" type="datetime1">
              <a:rPr lang="en-US" smtClean="0"/>
              <a:t>3/9/2026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99DEC9-8FE4-70FE-181F-BD890D0A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51F01-8D72-37CD-D7B5-A0724D04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99833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DB03-296A-503C-1BA9-10CA3671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39093-D02F-D116-2EE9-1C810A1B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B3EDB-FD6B-D04E-9DED-B1AA36F8525B}" type="datetime1">
              <a:rPr lang="en-US" smtClean="0"/>
              <a:t>3/9/2026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7B103-6940-FE0F-89E7-598CE6ED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74BB8-1772-34F7-3BE3-3065EDAA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66274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C5EF5-E6DC-778D-2A5D-38C02BBF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4E19E-94ED-9546-9E77-D8B0A5FAD27B}" type="datetime1">
              <a:rPr lang="en-US" smtClean="0"/>
              <a:t>3/9/2026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B631B-CA91-FF6A-DB71-CD5F1448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231A7-3F72-39F5-95D6-2CBB29E9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50397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035C-FC6D-A166-F6D4-5E440B25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8B0F8-5E64-3900-86F0-CA40855E2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55204-6FBA-F279-3D36-46A7B5CAC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9C4F8-4F89-7C47-85CF-E1003CD2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94A6-7118-B748-B168-66EA018643B7}" type="datetime1">
              <a:rPr lang="en-US" smtClean="0"/>
              <a:t>3/9/2026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5B62B-E351-3FCF-1295-8BF7FED6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F2E5C-5E89-45DA-33B2-31058A0C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44283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1A1F-29B6-B812-7E22-E5B13052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4F059A-0346-51A4-FB5C-DA39AF819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5BE66-FCF9-8B86-098D-E1425B9A8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0A637-3DB4-27DF-6814-9F8F84FA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18C6-A7AA-F341-BB2F-A87173904576}" type="datetime1">
              <a:rPr lang="en-US" smtClean="0"/>
              <a:t>3/9/2026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6AE5D-3CF4-A8C1-374C-2B1295B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A21E1-9DB3-A114-8784-64DA5A7E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97409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55E1-B99D-35A3-7AFC-0491EA9F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37D48-B0DB-C7AF-F395-07F67EB63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27CF7-76B6-DF1D-3969-B72623C5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AB91-2E34-E849-93C6-DD1D118FDDDA}" type="datetime1">
              <a:rPr lang="en-US" smtClean="0"/>
              <a:t>3/9/2026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E2537-70EF-83E7-AE27-BEA96F30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EBE4-F63C-A108-E719-36F28F3C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627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52326-7C94-E6C6-C969-5345CDCD8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846F1-A9D2-0BB0-3EBA-7284C9455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ECD0C-2C42-D57E-6299-6AAE6333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B2E33-CA35-374F-8CA0-0E56264AABBE}" type="datetime1">
              <a:rPr lang="en-US" smtClean="0"/>
              <a:t>3/9/2026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81D7-9E15-C8D3-93BC-4981D619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D8A75-61FA-CCF8-A3EA-85710D5F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6446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5D478-DFB3-CF6C-383E-9ECE82A6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AE3FA-A382-E373-7C34-DF7217FF4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3602C-190E-5C51-251F-87C17DC26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65612-6D1C-AE4C-8885-4A091385CEA0}" type="datetime1">
              <a:rPr lang="en-US" smtClean="0"/>
              <a:t>3/9/2026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CE964-752D-148C-32C7-72A3E75BB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A21DA-F74B-B98E-8D38-2FEC6F5C9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1A293-67CA-DC4D-AB7B-6AB5BAE3D992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96277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6E81-757E-C61A-B5EB-3235A3814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0544"/>
            <a:ext cx="12191999" cy="825584"/>
          </a:xfrm>
          <a:solidFill>
            <a:schemeClr val="accent6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LK" sz="4400" b="1" dirty="0">
                <a:solidFill>
                  <a:schemeClr val="bg1">
                    <a:lumMod val="95000"/>
                  </a:schemeClr>
                </a:solidFill>
                <a:latin typeface="Times" pitchFamily="2" charset="0"/>
              </a:rPr>
              <a:t>Introduction to Organizational Leadership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1FF7B-9FCF-E4EA-7294-03525745A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269955"/>
            <a:ext cx="12192000" cy="588045"/>
          </a:xfrm>
          <a:noFill/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Ms. Sandali Ehalapitiya </a:t>
            </a:r>
            <a:r>
              <a:rPr lang="en-LK" sz="2000" b="1" dirty="0">
                <a:latin typeface="Times" pitchFamily="2" charset="0"/>
              </a:rPr>
              <a:t>|</a:t>
            </a:r>
            <a:r>
              <a:rPr lang="en-US" sz="2000" b="1" dirty="0">
                <a:latin typeface="Times" pitchFamily="2" charset="0"/>
              </a:rPr>
              <a:t> Assistant</a:t>
            </a:r>
            <a:r>
              <a:rPr lang="en-LK" sz="2000" b="1" dirty="0">
                <a:latin typeface="Times" pitchFamily="2" charset="0"/>
              </a:rPr>
              <a:t> Lecturer | SLIIT Business School</a:t>
            </a:r>
          </a:p>
        </p:txBody>
      </p:sp>
      <p:pic>
        <p:nvPicPr>
          <p:cNvPr id="29698" name="Picture 2" descr="Free Vectors | Organizational leader.4">
            <a:extLst>
              <a:ext uri="{FF2B5EF4-FFF2-40B4-BE49-F238E27FC236}">
                <a16:creationId xmlns:a16="http://schemas.microsoft.com/office/drawing/2014/main" id="{53A8156A-2631-25CB-FB3A-1A2E392F3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062" y="1216000"/>
            <a:ext cx="6615876" cy="464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520B5-1132-1B08-801A-B1259520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</a:t>
            </a:fld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55473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857B-5046-07BE-A47F-45E184C1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b="1" dirty="0">
                <a:latin typeface="Times" pitchFamily="2" charset="0"/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1EC6-2C44-FF07-00F1-90BA0B886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Times" pitchFamily="2" charset="0"/>
              </a:rPr>
              <a:t>At the end of this lesson students should be able to;</a:t>
            </a:r>
            <a:endParaRPr lang="en-GB" dirty="0">
              <a:latin typeface="Times" pitchFamily="2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Times" pitchFamily="2" charset="0"/>
              </a:rPr>
              <a:t>Understand the concepts of leadership and management.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" pitchFamily="2" charset="0"/>
              </a:rPr>
              <a:t>Distinguish between leaders and managers.</a:t>
            </a:r>
          </a:p>
        </p:txBody>
      </p:sp>
      <p:pic>
        <p:nvPicPr>
          <p:cNvPr id="30722" name="Picture 2" descr="Learning objective Vectors &amp; Illustrations for Free Download | Freepik">
            <a:extLst>
              <a:ext uri="{FF2B5EF4-FFF2-40B4-BE49-F238E27FC236}">
                <a16:creationId xmlns:a16="http://schemas.microsoft.com/office/drawing/2014/main" id="{633AA4A6-987A-E491-4CC6-2837A2A72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664" y="3399994"/>
            <a:ext cx="3376517" cy="313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D0AC-822F-3711-713C-41B7D086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2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10055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55A4-5274-F534-FF2B-16DF45B8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354012"/>
            <a:ext cx="2882900" cy="866775"/>
          </a:xfrm>
        </p:spPr>
        <p:txBody>
          <a:bodyPr/>
          <a:lstStyle/>
          <a:p>
            <a:pPr algn="ctr"/>
            <a:r>
              <a:rPr lang="en-LK" b="1" dirty="0">
                <a:latin typeface="Times" pitchFamily="2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6C4B2-5469-F094-2EC4-9F84339D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402" y="365125"/>
            <a:ext cx="4927600" cy="61277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LK" b="1" dirty="0">
                <a:latin typeface="Times" pitchFamily="2" charset="0"/>
              </a:rPr>
              <a:t>Leadership</a:t>
            </a:r>
          </a:p>
          <a:p>
            <a:pPr lvl="1">
              <a:lnSpc>
                <a:spcPct val="100000"/>
              </a:lnSpc>
            </a:pPr>
            <a:r>
              <a:rPr lang="en-LK" i="1" dirty="0">
                <a:latin typeface="Times" pitchFamily="2" charset="0"/>
              </a:rPr>
              <a:t>Levels of leadership</a:t>
            </a:r>
          </a:p>
          <a:p>
            <a:pPr lvl="1">
              <a:lnSpc>
                <a:spcPct val="100000"/>
              </a:lnSpc>
            </a:pPr>
            <a:r>
              <a:rPr lang="en-LK" i="1" dirty="0">
                <a:latin typeface="Times" pitchFamily="2" charset="0"/>
              </a:rPr>
              <a:t>Organizational leadership</a:t>
            </a:r>
          </a:p>
          <a:p>
            <a:pPr lvl="1">
              <a:lnSpc>
                <a:spcPct val="100000"/>
              </a:lnSpc>
            </a:pPr>
            <a:r>
              <a:rPr lang="en-LK" i="1" dirty="0">
                <a:latin typeface="Times" pitchFamily="2" charset="0"/>
              </a:rPr>
              <a:t>Leadership qualities &amp; skills</a:t>
            </a:r>
          </a:p>
          <a:p>
            <a:pPr lvl="1">
              <a:lnSpc>
                <a:spcPct val="100000"/>
              </a:lnSpc>
            </a:pPr>
            <a:endParaRPr lang="en-LK" dirty="0">
              <a:latin typeface="Times" pitchFamily="2" charset="0"/>
            </a:endParaRPr>
          </a:p>
          <a:p>
            <a:pPr>
              <a:lnSpc>
                <a:spcPct val="150000"/>
              </a:lnSpc>
            </a:pPr>
            <a:r>
              <a:rPr lang="en-LK" b="1" dirty="0">
                <a:latin typeface="Times" pitchFamily="2" charset="0"/>
              </a:rPr>
              <a:t>Management</a:t>
            </a:r>
          </a:p>
          <a:p>
            <a:pPr lvl="1">
              <a:lnSpc>
                <a:spcPct val="100000"/>
              </a:lnSpc>
            </a:pPr>
            <a:r>
              <a:rPr lang="en-LK" i="1" dirty="0">
                <a:latin typeface="Times" pitchFamily="2" charset="0"/>
              </a:rPr>
              <a:t>Management process</a:t>
            </a:r>
          </a:p>
          <a:p>
            <a:pPr lvl="1">
              <a:lnSpc>
                <a:spcPct val="100000"/>
              </a:lnSpc>
            </a:pPr>
            <a:r>
              <a:rPr lang="en-LK" i="1" dirty="0">
                <a:latin typeface="Times" pitchFamily="2" charset="0"/>
              </a:rPr>
              <a:t>Managerial levels</a:t>
            </a:r>
          </a:p>
          <a:p>
            <a:pPr lvl="1">
              <a:lnSpc>
                <a:spcPct val="100000"/>
              </a:lnSpc>
            </a:pPr>
            <a:r>
              <a:rPr lang="en-LK" i="1" dirty="0">
                <a:latin typeface="Times" pitchFamily="2" charset="0"/>
              </a:rPr>
              <a:t>Managerial skills</a:t>
            </a:r>
          </a:p>
          <a:p>
            <a:pPr lvl="1">
              <a:lnSpc>
                <a:spcPct val="100000"/>
              </a:lnSpc>
            </a:pPr>
            <a:endParaRPr lang="en-LK" dirty="0">
              <a:latin typeface="Times" pitchFamily="2" charset="0"/>
            </a:endParaRPr>
          </a:p>
          <a:p>
            <a:pPr>
              <a:lnSpc>
                <a:spcPct val="150000"/>
              </a:lnSpc>
            </a:pPr>
            <a:r>
              <a:rPr lang="en-LK" b="1" dirty="0">
                <a:latin typeface="Times" pitchFamily="2" charset="0"/>
              </a:rPr>
              <a:t>Leader Vs Managers</a:t>
            </a:r>
          </a:p>
          <a:p>
            <a:pPr marL="0" indent="0">
              <a:lnSpc>
                <a:spcPct val="150000"/>
              </a:lnSpc>
              <a:buNone/>
            </a:pPr>
            <a:endParaRPr lang="en-LK" dirty="0">
              <a:latin typeface="Times" pitchFamily="2" charset="0"/>
            </a:endParaRPr>
          </a:p>
        </p:txBody>
      </p:sp>
      <p:pic>
        <p:nvPicPr>
          <p:cNvPr id="31746" name="Picture 2" descr="Table Of Contents PNG, Vector, PSD, and Clipart With Transparent Background  for Free Download | Pngtree">
            <a:extLst>
              <a:ext uri="{FF2B5EF4-FFF2-40B4-BE49-F238E27FC236}">
                <a16:creationId xmlns:a16="http://schemas.microsoft.com/office/drawing/2014/main" id="{A5063D92-3B87-A3A2-E444-406FA43F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220787"/>
            <a:ext cx="4254500" cy="463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7DF4-7E07-75D2-F19D-54F16388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3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60446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7244-0D21-D842-86A2-35AFF106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57201"/>
            <a:ext cx="10515600" cy="701675"/>
          </a:xfrm>
        </p:spPr>
        <p:txBody>
          <a:bodyPr>
            <a:normAutofit/>
          </a:bodyPr>
          <a:lstStyle/>
          <a:p>
            <a:r>
              <a:rPr lang="en-LK" b="1" dirty="0">
                <a:latin typeface="Times" pitchFamily="2" charset="0"/>
              </a:rPr>
              <a:t>What is Leadership?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D09F-BC47-99DF-FDD2-59BEAC0CA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0" y="1282700"/>
            <a:ext cx="6197600" cy="5118099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2400" dirty="0">
                <a:latin typeface="Times" pitchFamily="2" charset="0"/>
              </a:rPr>
              <a:t>Leadership is the process of </a:t>
            </a:r>
            <a:r>
              <a:rPr lang="en-GB" sz="2400" b="1" i="1" dirty="0">
                <a:latin typeface="Times" pitchFamily="2" charset="0"/>
              </a:rPr>
              <a:t>influencing and guiding </a:t>
            </a:r>
            <a:r>
              <a:rPr lang="en-GB" sz="2400" dirty="0">
                <a:latin typeface="Times" pitchFamily="2" charset="0"/>
              </a:rPr>
              <a:t>others to achieve intended goals.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Times" pitchFamily="2" charset="0"/>
              </a:rPr>
              <a:t>It involves </a:t>
            </a:r>
            <a:r>
              <a:rPr lang="en-GB" sz="2400" b="1" i="1" dirty="0">
                <a:latin typeface="Times" pitchFamily="2" charset="0"/>
              </a:rPr>
              <a:t>inspiring and motivating </a:t>
            </a:r>
            <a:r>
              <a:rPr lang="en-GB" sz="2400" dirty="0">
                <a:latin typeface="Times" pitchFamily="2" charset="0"/>
              </a:rPr>
              <a:t>people to contribute towards the success or successful attainment of the intended goals.</a:t>
            </a:r>
          </a:p>
          <a:p>
            <a:pPr algn="just">
              <a:lnSpc>
                <a:spcPct val="110000"/>
              </a:lnSpc>
            </a:pPr>
            <a:r>
              <a:rPr lang="en-GB" sz="2400" dirty="0">
                <a:latin typeface="Times" pitchFamily="2" charset="0"/>
              </a:rPr>
              <a:t>Leadership exists at different levels.</a:t>
            </a:r>
          </a:p>
          <a:p>
            <a:pPr lvl="1" algn="just">
              <a:lnSpc>
                <a:spcPct val="110000"/>
              </a:lnSpc>
            </a:pPr>
            <a:r>
              <a:rPr lang="en-GB" sz="2000" i="1" dirty="0">
                <a:latin typeface="Times" pitchFamily="2" charset="0"/>
              </a:rPr>
              <a:t>Team Leadership</a:t>
            </a:r>
          </a:p>
          <a:p>
            <a:pPr lvl="1" algn="just">
              <a:lnSpc>
                <a:spcPct val="110000"/>
              </a:lnSpc>
            </a:pPr>
            <a:r>
              <a:rPr lang="en-GB" sz="2000" i="1" dirty="0">
                <a:latin typeface="Times" pitchFamily="2" charset="0"/>
              </a:rPr>
              <a:t>Organizational Leadership</a:t>
            </a:r>
          </a:p>
          <a:p>
            <a:pPr lvl="1" algn="just">
              <a:lnSpc>
                <a:spcPct val="110000"/>
              </a:lnSpc>
            </a:pPr>
            <a:r>
              <a:rPr lang="en-GB" sz="2000" i="1" dirty="0">
                <a:latin typeface="Times" pitchFamily="2" charset="0"/>
              </a:rPr>
              <a:t>Community Leadership</a:t>
            </a:r>
          </a:p>
          <a:p>
            <a:pPr lvl="1" algn="just">
              <a:lnSpc>
                <a:spcPct val="110000"/>
              </a:lnSpc>
            </a:pPr>
            <a:r>
              <a:rPr lang="en-GB" sz="2000" i="1" dirty="0">
                <a:latin typeface="Times" pitchFamily="2" charset="0"/>
              </a:rPr>
              <a:t>National Leadership</a:t>
            </a:r>
          </a:p>
          <a:p>
            <a:pPr lvl="1" algn="just">
              <a:lnSpc>
                <a:spcPct val="110000"/>
              </a:lnSpc>
            </a:pPr>
            <a:r>
              <a:rPr lang="en-GB" sz="2000" i="1" dirty="0">
                <a:latin typeface="Times" pitchFamily="2" charset="0"/>
              </a:rPr>
              <a:t>Global Leadership</a:t>
            </a:r>
          </a:p>
        </p:txBody>
      </p:sp>
      <p:pic>
        <p:nvPicPr>
          <p:cNvPr id="34820" name="Picture 4" descr="Leadership Vectors &amp; Illustrations for Free Download | Freepik">
            <a:extLst>
              <a:ext uri="{FF2B5EF4-FFF2-40B4-BE49-F238E27FC236}">
                <a16:creationId xmlns:a16="http://schemas.microsoft.com/office/drawing/2014/main" id="{25F08151-CD1F-44A0-1B9B-CC3D8E5C0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158876"/>
            <a:ext cx="5495924" cy="549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216C1-C0C2-28AA-2BF7-9DCFE903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4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02654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7244-0D21-D842-86A2-35AFF106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57201"/>
            <a:ext cx="10515600" cy="701675"/>
          </a:xfrm>
        </p:spPr>
        <p:txBody>
          <a:bodyPr>
            <a:normAutofit/>
          </a:bodyPr>
          <a:lstStyle/>
          <a:p>
            <a:r>
              <a:rPr lang="en-LK" b="1" dirty="0">
                <a:latin typeface="Times" pitchFamily="2" charset="0"/>
              </a:rPr>
              <a:t>What is Organizational Leadership?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D09F-BC47-99DF-FDD2-59BEAC0CA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2176" y="1536701"/>
            <a:ext cx="5915024" cy="51180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imes" pitchFamily="2" charset="0"/>
              </a:rPr>
              <a:t>Organizational leadership is the process of </a:t>
            </a:r>
            <a:r>
              <a:rPr lang="en-GB" sz="2400" b="1" i="1" dirty="0">
                <a:latin typeface="Times" pitchFamily="2" charset="0"/>
              </a:rPr>
              <a:t>influencing and guiding </a:t>
            </a:r>
            <a:r>
              <a:rPr lang="en-GB" sz="2400" dirty="0">
                <a:latin typeface="Times" pitchFamily="2" charset="0"/>
              </a:rPr>
              <a:t>organizational members to achieve broader organizational goals.</a:t>
            </a:r>
          </a:p>
          <a:p>
            <a:pPr algn="just">
              <a:lnSpc>
                <a:spcPct val="150000"/>
              </a:lnSpc>
            </a:pPr>
            <a:endParaRPr lang="en-GB" sz="1200" dirty="0">
              <a:latin typeface="Times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" pitchFamily="2" charset="0"/>
              </a:rPr>
              <a:t>It involves </a:t>
            </a:r>
            <a:r>
              <a:rPr lang="en-GB" sz="2400" b="1" i="1" dirty="0">
                <a:latin typeface="Times" pitchFamily="2" charset="0"/>
              </a:rPr>
              <a:t>inspiring and motivating </a:t>
            </a:r>
            <a:r>
              <a:rPr lang="en-GB" sz="2400" dirty="0">
                <a:latin typeface="Times" pitchFamily="2" charset="0"/>
              </a:rPr>
              <a:t>organizational employees</a:t>
            </a:r>
            <a:r>
              <a:rPr lang="en-GB" sz="2400" b="1" i="1" dirty="0">
                <a:latin typeface="Times" pitchFamily="2" charset="0"/>
              </a:rPr>
              <a:t> </a:t>
            </a:r>
            <a:r>
              <a:rPr lang="en-GB" sz="2400" dirty="0">
                <a:latin typeface="Times" pitchFamily="2" charset="0"/>
              </a:rPr>
              <a:t>to contribute towards the success of the organization.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>
              <a:latin typeface="Times" pitchFamily="2" charset="0"/>
            </a:endParaRPr>
          </a:p>
        </p:txBody>
      </p:sp>
      <p:pic>
        <p:nvPicPr>
          <p:cNvPr id="36868" name="Picture 4" descr="Leadership manager Vectors &amp; Illustrations for Free Download | Freepik">
            <a:extLst>
              <a:ext uri="{FF2B5EF4-FFF2-40B4-BE49-F238E27FC236}">
                <a16:creationId xmlns:a16="http://schemas.microsoft.com/office/drawing/2014/main" id="{A2061861-B44D-4EE2-3A80-ACF323A54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876"/>
            <a:ext cx="5495924" cy="549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447E6-455B-D27A-9AA8-DEB53C10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5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04673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7244-0D21-D842-86A2-35AFF106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33401"/>
            <a:ext cx="10515600" cy="701675"/>
          </a:xfrm>
        </p:spPr>
        <p:txBody>
          <a:bodyPr>
            <a:normAutofit/>
          </a:bodyPr>
          <a:lstStyle/>
          <a:p>
            <a:r>
              <a:rPr lang="en-LK" b="1" dirty="0">
                <a:latin typeface="Times" pitchFamily="2" charset="0"/>
              </a:rPr>
              <a:t>Leadership Qualities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D09F-BC47-99DF-FDD2-59BEAC0CA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49401"/>
            <a:ext cx="5676900" cy="51180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imes" pitchFamily="2" charset="0"/>
              </a:rPr>
              <a:t>Leadership qualities are the </a:t>
            </a:r>
            <a:r>
              <a:rPr lang="en-GB" sz="2400" b="1" i="1" dirty="0">
                <a:latin typeface="Times" pitchFamily="2" charset="0"/>
              </a:rPr>
              <a:t>inherent characteristics or attributes</a:t>
            </a:r>
            <a:r>
              <a:rPr lang="en-GB" sz="2400" dirty="0">
                <a:latin typeface="Times" pitchFamily="2" charset="0"/>
              </a:rPr>
              <a:t> that effective leaders possess.</a:t>
            </a:r>
            <a:endParaRPr lang="en-GB" sz="1050" dirty="0">
              <a:latin typeface="Times" pitchFamily="2" charset="0"/>
            </a:endParaRP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Vision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Integrity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Confidence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Responsibility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Empathy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Adaptability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>
              <a:latin typeface="Times" pitchFamily="2" charset="0"/>
            </a:endParaRPr>
          </a:p>
        </p:txBody>
      </p:sp>
      <p:pic>
        <p:nvPicPr>
          <p:cNvPr id="37892" name="Picture 4" descr="Quality Images - Free Download on Freepik">
            <a:extLst>
              <a:ext uri="{FF2B5EF4-FFF2-40B4-BE49-F238E27FC236}">
                <a16:creationId xmlns:a16="http://schemas.microsoft.com/office/drawing/2014/main" id="{FDE488AE-EAF3-1040-ACA6-21DBE7E2C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00" y="684358"/>
            <a:ext cx="5003800" cy="567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8AE97-0BBD-9B13-B464-BDBE0E9F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6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95521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7244-0D21-D842-86A2-35AFF106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17501"/>
            <a:ext cx="10515600" cy="701675"/>
          </a:xfrm>
        </p:spPr>
        <p:txBody>
          <a:bodyPr>
            <a:normAutofit/>
          </a:bodyPr>
          <a:lstStyle/>
          <a:p>
            <a:r>
              <a:rPr lang="en-LK" b="1" dirty="0">
                <a:latin typeface="Times" pitchFamily="2" charset="0"/>
              </a:rPr>
              <a:t>Leadership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D09F-BC47-99DF-FDD2-59BEAC0CA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58876"/>
            <a:ext cx="5676900" cy="550862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sz="2300" dirty="0">
                <a:latin typeface="Times" pitchFamily="2" charset="0"/>
              </a:rPr>
              <a:t>Leadership skills are the </a:t>
            </a:r>
            <a:r>
              <a:rPr lang="en-GB" sz="2300" b="1" i="1" dirty="0">
                <a:latin typeface="Times" pitchFamily="2" charset="0"/>
              </a:rPr>
              <a:t>specific abilities or competencies </a:t>
            </a:r>
            <a:r>
              <a:rPr lang="en-GB" sz="2300" dirty="0">
                <a:latin typeface="Times" pitchFamily="2" charset="0"/>
              </a:rPr>
              <a:t>that leaders develop and utilize </a:t>
            </a:r>
            <a:r>
              <a:rPr lang="en-GB" sz="2300" b="1" i="1" dirty="0">
                <a:latin typeface="Times" pitchFamily="2" charset="0"/>
              </a:rPr>
              <a:t>to effectively lead others </a:t>
            </a:r>
            <a:r>
              <a:rPr lang="en-GB" sz="2300" dirty="0">
                <a:latin typeface="Times" pitchFamily="2" charset="0"/>
              </a:rPr>
              <a:t>and achieve organizational goals.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800" dirty="0">
              <a:latin typeface="Times" pitchFamily="2" charset="0"/>
            </a:endParaRP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Communication Skills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Decision-Making Skills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Adaptability Skills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Problem-Solving Skills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Team Building Skills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Times" pitchFamily="2" charset="0"/>
              </a:rPr>
              <a:t>Emotional Intelligence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endParaRPr lang="en-GB" sz="2000" dirty="0">
              <a:latin typeface="Times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000" dirty="0">
              <a:latin typeface="Times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>
              <a:latin typeface="Times" pitchFamily="2" charset="0"/>
            </a:endParaRPr>
          </a:p>
        </p:txBody>
      </p:sp>
      <p:pic>
        <p:nvPicPr>
          <p:cNvPr id="38914" name="Picture 2" descr="41,900+ Leadership Skills Stock Illustrations, Royalty-Free Vector Graphics  &amp; Clip Art - iStock | Management &amp; leadership skills, Leadership skills  training, Business leadership skills">
            <a:extLst>
              <a:ext uri="{FF2B5EF4-FFF2-40B4-BE49-F238E27FC236}">
                <a16:creationId xmlns:a16="http://schemas.microsoft.com/office/drawing/2014/main" id="{1C70DD78-536D-3079-7771-7EF02EC6E3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6"/>
          <a:stretch/>
        </p:blipFill>
        <p:spPr bwMode="auto">
          <a:xfrm>
            <a:off x="6234546" y="1233921"/>
            <a:ext cx="5430982" cy="490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30AA-7A03-E205-FCB4-E588578E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7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86556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Employee management Vectors &amp; Illustrations for Free Download | Freepik">
            <a:extLst>
              <a:ext uri="{FF2B5EF4-FFF2-40B4-BE49-F238E27FC236}">
                <a16:creationId xmlns:a16="http://schemas.microsoft.com/office/drawing/2014/main" id="{E79562B8-B9BA-0897-4A32-A6D84562D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700" y="0"/>
            <a:ext cx="7607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1A508-3BCD-3969-73A8-FF641BBC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871538"/>
            <a:ext cx="10515600" cy="2852737"/>
          </a:xfrm>
        </p:spPr>
        <p:txBody>
          <a:bodyPr/>
          <a:lstStyle/>
          <a:p>
            <a:r>
              <a:rPr lang="en-LK" b="1" dirty="0">
                <a:latin typeface="Times" pitchFamily="2" charset="0"/>
              </a:rPr>
              <a:t>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B41FFC-50CE-1AE5-4B86-74BBBC7D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8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8025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7244-0D21-D842-86A2-35AFF106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925"/>
            <a:ext cx="10515600" cy="917575"/>
          </a:xfrm>
        </p:spPr>
        <p:txBody>
          <a:bodyPr/>
          <a:lstStyle/>
          <a:p>
            <a:r>
              <a:rPr lang="en-LK" b="1" dirty="0">
                <a:latin typeface="Times" pitchFamily="2" charset="0"/>
              </a:rPr>
              <a:t>What is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D09F-BC47-99DF-FDD2-59BEAC0CA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2" y="1605844"/>
            <a:ext cx="5156198" cy="47505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imes" pitchFamily="2" charset="0"/>
              </a:rPr>
              <a:t>Management is the process of </a:t>
            </a:r>
            <a:r>
              <a:rPr lang="en-GB" sz="2400" b="1" i="1" dirty="0">
                <a:latin typeface="Times" pitchFamily="2" charset="0"/>
              </a:rPr>
              <a:t>planning, organizing, directing, and controlling</a:t>
            </a:r>
            <a:r>
              <a:rPr lang="en-GB" sz="2400" dirty="0">
                <a:latin typeface="Times" pitchFamily="2" charset="0"/>
              </a:rPr>
              <a:t> resources to achieve specific goals.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" pitchFamily="2" charset="0"/>
              </a:rPr>
              <a:t>It involves coordinating activities and resources to ensure the effective and efficient operation of an organization.</a:t>
            </a:r>
            <a:endParaRPr lang="en-LK" sz="2400" dirty="0">
              <a:latin typeface="Times" pitchFamily="2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1BFA7702-2A87-F775-237E-C6B8C56F6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491528"/>
            <a:ext cx="5727700" cy="514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3F6D8-B143-E7D2-D780-91A7D4A5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9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69991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0B0C-ADC8-A2A7-5DC1-82A90EE47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285750"/>
            <a:ext cx="11658600" cy="6286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LK" b="1" dirty="0">
                <a:latin typeface="Times" pitchFamily="2" charset="0"/>
              </a:rPr>
              <a:t>Vision: </a:t>
            </a:r>
          </a:p>
          <a:p>
            <a:pPr>
              <a:lnSpc>
                <a:spcPct val="150000"/>
              </a:lnSpc>
            </a:pPr>
            <a:r>
              <a:rPr lang="en-LK" sz="2400" dirty="0">
                <a:latin typeface="Times" pitchFamily="2" charset="0"/>
              </a:rPr>
              <a:t>To be the most innovative biscuit manufacturer leading the b</a:t>
            </a:r>
            <a:r>
              <a:rPr lang="en-GB" sz="2400" dirty="0" err="1">
                <a:latin typeface="Times" pitchFamily="2" charset="0"/>
              </a:rPr>
              <a:t>i</a:t>
            </a:r>
            <a:r>
              <a:rPr lang="en-LK" sz="2400" dirty="0">
                <a:latin typeface="Times" pitchFamily="2" charset="0"/>
              </a:rPr>
              <a:t>scuit market in South Asia</a:t>
            </a:r>
          </a:p>
          <a:p>
            <a:pPr lvl="1">
              <a:lnSpc>
                <a:spcPct val="150000"/>
              </a:lnSpc>
            </a:pPr>
            <a:r>
              <a:rPr lang="en-LK" sz="2000" i="1" dirty="0">
                <a:latin typeface="Times" pitchFamily="2" charset="0"/>
              </a:rPr>
              <a:t>For that, as a co</a:t>
            </a:r>
            <a:r>
              <a:rPr lang="en-GB" sz="2000" i="1" dirty="0">
                <a:latin typeface="Times" pitchFamily="2" charset="0"/>
              </a:rPr>
              <a:t>m</a:t>
            </a:r>
            <a:r>
              <a:rPr lang="en-LK" sz="2000" i="1" dirty="0">
                <a:latin typeface="Times" pitchFamily="2" charset="0"/>
              </a:rPr>
              <a:t>pany, you will have to innovate new biscuit varieties continuously.</a:t>
            </a:r>
          </a:p>
          <a:p>
            <a:pPr marL="0" indent="0">
              <a:lnSpc>
                <a:spcPct val="150000"/>
              </a:lnSpc>
              <a:buNone/>
            </a:pPr>
            <a:endParaRPr lang="en-LK" sz="2400" i="1" dirty="0">
              <a:latin typeface="Times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LK" dirty="0">
              <a:latin typeface="Times" pitchFamily="2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B10BF039-644E-B437-C454-A87B46D8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500190"/>
            <a:ext cx="4648199" cy="417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1177DF-0813-B10F-7C0B-3E796A146CF2}"/>
              </a:ext>
            </a:extLst>
          </p:cNvPr>
          <p:cNvSpPr/>
          <p:nvPr/>
        </p:nvSpPr>
        <p:spPr>
          <a:xfrm>
            <a:off x="5778500" y="3006276"/>
            <a:ext cx="6045200" cy="26960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LK" sz="2400" b="1" dirty="0">
                <a:solidFill>
                  <a:schemeClr val="tx1"/>
                </a:solidFill>
                <a:latin typeface="Times" pitchFamily="2" charset="0"/>
              </a:rPr>
              <a:t>Planning: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LK" b="1" dirty="0">
                <a:solidFill>
                  <a:schemeClr val="tx1"/>
                </a:solidFill>
                <a:latin typeface="Times" pitchFamily="2" charset="0"/>
              </a:rPr>
              <a:t>Set goals &amp; determining action plans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Set a goal to introduce 6 new biscu</a:t>
            </a:r>
            <a:r>
              <a:rPr lang="en-GB" sz="1600" dirty="0" err="1">
                <a:solidFill>
                  <a:schemeClr val="tx1"/>
                </a:solidFill>
                <a:latin typeface="Times" pitchFamily="2" charset="0"/>
              </a:rPr>
              <a:t>i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t varieties annually.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Every 2 months a new biscuit has to be released from the company.</a:t>
            </a:r>
            <a:endParaRPr lang="en-LK" sz="16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A9DD4E-0164-2789-4AF8-617FAD9AA1F3}"/>
              </a:ext>
            </a:extLst>
          </p:cNvPr>
          <p:cNvSpPr/>
          <p:nvPr/>
        </p:nvSpPr>
        <p:spPr>
          <a:xfrm>
            <a:off x="1460500" y="2298700"/>
            <a:ext cx="2171700" cy="1854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0145EE-1EE0-DF15-C5AA-C0CDCC10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10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2379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0B0C-ADC8-A2A7-5DC1-82A90EE47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285750"/>
            <a:ext cx="11658600" cy="6286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LK" b="1" dirty="0">
                <a:latin typeface="Times" pitchFamily="2" charset="0"/>
              </a:rPr>
              <a:t>Vision: </a:t>
            </a:r>
          </a:p>
          <a:p>
            <a:pPr>
              <a:lnSpc>
                <a:spcPct val="150000"/>
              </a:lnSpc>
            </a:pPr>
            <a:r>
              <a:rPr lang="en-LK" sz="2400" dirty="0">
                <a:latin typeface="Times" pitchFamily="2" charset="0"/>
              </a:rPr>
              <a:t>To be the most innovative biscuit manufacturer leading the b</a:t>
            </a:r>
            <a:r>
              <a:rPr lang="en-GB" sz="2400" dirty="0" err="1">
                <a:latin typeface="Times" pitchFamily="2" charset="0"/>
              </a:rPr>
              <a:t>i</a:t>
            </a:r>
            <a:r>
              <a:rPr lang="en-LK" sz="2400" dirty="0">
                <a:latin typeface="Times" pitchFamily="2" charset="0"/>
              </a:rPr>
              <a:t>scuit market in South Asia</a:t>
            </a:r>
          </a:p>
          <a:p>
            <a:pPr lvl="1">
              <a:lnSpc>
                <a:spcPct val="150000"/>
              </a:lnSpc>
            </a:pPr>
            <a:r>
              <a:rPr lang="en-LK" sz="2000" i="1" dirty="0">
                <a:latin typeface="Times" pitchFamily="2" charset="0"/>
              </a:rPr>
              <a:t>For that, as a co</a:t>
            </a:r>
            <a:r>
              <a:rPr lang="en-GB" sz="2000" i="1" dirty="0">
                <a:latin typeface="Times" pitchFamily="2" charset="0"/>
              </a:rPr>
              <a:t>m</a:t>
            </a:r>
            <a:r>
              <a:rPr lang="en-LK" sz="2000" i="1" dirty="0">
                <a:latin typeface="Times" pitchFamily="2" charset="0"/>
              </a:rPr>
              <a:t>pany, you will have to innovate new biscuit varieties continuously.</a:t>
            </a:r>
          </a:p>
          <a:p>
            <a:pPr marL="0" indent="0">
              <a:lnSpc>
                <a:spcPct val="150000"/>
              </a:lnSpc>
              <a:buNone/>
            </a:pPr>
            <a:endParaRPr lang="en-LK" sz="2400" i="1" dirty="0">
              <a:latin typeface="Times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LK" dirty="0">
              <a:latin typeface="Times" pitchFamily="2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B10BF039-644E-B437-C454-A87B46D8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500190"/>
            <a:ext cx="4648199" cy="417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1177DF-0813-B10F-7C0B-3E796A146CF2}"/>
              </a:ext>
            </a:extLst>
          </p:cNvPr>
          <p:cNvSpPr/>
          <p:nvPr/>
        </p:nvSpPr>
        <p:spPr>
          <a:xfrm>
            <a:off x="5778500" y="3204212"/>
            <a:ext cx="6045200" cy="27710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LK" sz="2400" b="1" dirty="0">
                <a:solidFill>
                  <a:schemeClr val="tx1"/>
                </a:solidFill>
                <a:latin typeface="Times" pitchFamily="2" charset="0"/>
              </a:rPr>
              <a:t>Organizing: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LK" b="1" dirty="0">
                <a:solidFill>
                  <a:schemeClr val="tx1"/>
                </a:solidFill>
                <a:latin typeface="Times" pitchFamily="2" charset="0"/>
              </a:rPr>
              <a:t>Allocating tasks and resources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Allocate experts and form a new product development team.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Allocate funds &amp; facilities for research &amp; development.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Assign responsibility for t</a:t>
            </a:r>
            <a:r>
              <a:rPr lang="en-GB" sz="1600" dirty="0">
                <a:solidFill>
                  <a:schemeClr val="tx1"/>
                </a:solidFill>
                <a:latin typeface="Times" pitchFamily="2" charset="0"/>
              </a:rPr>
              <a:t>he team to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 produce one new biscu</a:t>
            </a:r>
            <a:r>
              <a:rPr lang="en-GB" sz="1600" dirty="0" err="1">
                <a:solidFill>
                  <a:schemeClr val="tx1"/>
                </a:solidFill>
                <a:latin typeface="Times" pitchFamily="2" charset="0"/>
              </a:rPr>
              <a:t>i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t variety, every 2 months.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B72CA9-A6C3-9095-626B-59D49DEB65D9}"/>
              </a:ext>
            </a:extLst>
          </p:cNvPr>
          <p:cNvSpPr/>
          <p:nvPr/>
        </p:nvSpPr>
        <p:spPr>
          <a:xfrm>
            <a:off x="2844799" y="3662647"/>
            <a:ext cx="2171700" cy="1854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62848-F671-59AB-D7D7-47DB81CE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11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35018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0B0C-ADC8-A2A7-5DC1-82A90EE47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285750"/>
            <a:ext cx="11658600" cy="6286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LK" b="1" dirty="0">
                <a:latin typeface="Times" pitchFamily="2" charset="0"/>
              </a:rPr>
              <a:t>Vision: </a:t>
            </a:r>
          </a:p>
          <a:p>
            <a:pPr>
              <a:lnSpc>
                <a:spcPct val="150000"/>
              </a:lnSpc>
            </a:pPr>
            <a:r>
              <a:rPr lang="en-LK" sz="2400" dirty="0">
                <a:latin typeface="Times" pitchFamily="2" charset="0"/>
              </a:rPr>
              <a:t>To be the most innovative biscuit manufacturer leading the b</a:t>
            </a:r>
            <a:r>
              <a:rPr lang="en-GB" sz="2400" dirty="0" err="1">
                <a:latin typeface="Times" pitchFamily="2" charset="0"/>
              </a:rPr>
              <a:t>i</a:t>
            </a:r>
            <a:r>
              <a:rPr lang="en-LK" sz="2400" dirty="0">
                <a:latin typeface="Times" pitchFamily="2" charset="0"/>
              </a:rPr>
              <a:t>scuit market in South Asia</a:t>
            </a:r>
          </a:p>
          <a:p>
            <a:pPr lvl="1">
              <a:lnSpc>
                <a:spcPct val="150000"/>
              </a:lnSpc>
            </a:pPr>
            <a:r>
              <a:rPr lang="en-LK" sz="2000" i="1" dirty="0">
                <a:latin typeface="Times" pitchFamily="2" charset="0"/>
              </a:rPr>
              <a:t>For that, as a co</a:t>
            </a:r>
            <a:r>
              <a:rPr lang="en-GB" sz="2000" i="1" dirty="0">
                <a:latin typeface="Times" pitchFamily="2" charset="0"/>
              </a:rPr>
              <a:t>m</a:t>
            </a:r>
            <a:r>
              <a:rPr lang="en-LK" sz="2000" i="1" dirty="0">
                <a:latin typeface="Times" pitchFamily="2" charset="0"/>
              </a:rPr>
              <a:t>pany, you will have to innovate new biscuit varieties continuously.</a:t>
            </a:r>
          </a:p>
          <a:p>
            <a:pPr marL="0" indent="0">
              <a:lnSpc>
                <a:spcPct val="150000"/>
              </a:lnSpc>
              <a:buNone/>
            </a:pPr>
            <a:endParaRPr lang="en-LK" sz="2400" i="1" dirty="0">
              <a:latin typeface="Times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LK" dirty="0">
              <a:latin typeface="Times" pitchFamily="2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B10BF039-644E-B437-C454-A87B46D8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500190"/>
            <a:ext cx="4648199" cy="417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1177DF-0813-B10F-7C0B-3E796A146CF2}"/>
              </a:ext>
            </a:extLst>
          </p:cNvPr>
          <p:cNvSpPr/>
          <p:nvPr/>
        </p:nvSpPr>
        <p:spPr>
          <a:xfrm>
            <a:off x="5778500" y="3241735"/>
            <a:ext cx="6045200" cy="26960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LK" sz="2400" b="1" dirty="0">
                <a:solidFill>
                  <a:schemeClr val="tx1"/>
                </a:solidFill>
                <a:latin typeface="Times" pitchFamily="2" charset="0"/>
              </a:rPr>
              <a:t>Directing: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LK" b="1" dirty="0">
                <a:solidFill>
                  <a:schemeClr val="tx1"/>
                </a:solidFill>
                <a:latin typeface="Times" pitchFamily="2" charset="0"/>
              </a:rPr>
              <a:t>Driving &amp; pushing people towards goal attainment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Give the needful drive and guidance </a:t>
            </a:r>
            <a:r>
              <a:rPr lang="en-GB" sz="1600" dirty="0">
                <a:solidFill>
                  <a:schemeClr val="tx1"/>
                </a:solidFill>
                <a:latin typeface="Times" pitchFamily="2" charset="0"/>
              </a:rPr>
              <a:t>to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 the team periodically.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Accolade them for achiev</a:t>
            </a:r>
            <a:r>
              <a:rPr lang="en-GB" sz="1600" dirty="0">
                <a:solidFill>
                  <a:schemeClr val="tx1"/>
                </a:solidFill>
                <a:latin typeface="Times" pitchFamily="2" charset="0"/>
              </a:rPr>
              <a:t>ing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 targets, by appropriate methods of appreciation.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LK" sz="16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3701447-22A1-0AA7-11D8-4FEC00995770}"/>
              </a:ext>
            </a:extLst>
          </p:cNvPr>
          <p:cNvSpPr/>
          <p:nvPr/>
        </p:nvSpPr>
        <p:spPr>
          <a:xfrm>
            <a:off x="1403349" y="5029200"/>
            <a:ext cx="2171700" cy="17653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BDAF4-78EC-B3FB-F4FE-F2E1FA3B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12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44890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0B0C-ADC8-A2A7-5DC1-82A90EE47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285750"/>
            <a:ext cx="11658600" cy="6286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LK" b="1" dirty="0">
                <a:latin typeface="Times" pitchFamily="2" charset="0"/>
              </a:rPr>
              <a:t>Vision: </a:t>
            </a:r>
          </a:p>
          <a:p>
            <a:pPr>
              <a:lnSpc>
                <a:spcPct val="150000"/>
              </a:lnSpc>
            </a:pPr>
            <a:r>
              <a:rPr lang="en-LK" sz="2400" dirty="0">
                <a:latin typeface="Times" pitchFamily="2" charset="0"/>
              </a:rPr>
              <a:t>To be the most innovative biscuit manufacturer leading the b</a:t>
            </a:r>
            <a:r>
              <a:rPr lang="en-GB" sz="2400" dirty="0" err="1">
                <a:latin typeface="Times" pitchFamily="2" charset="0"/>
              </a:rPr>
              <a:t>i</a:t>
            </a:r>
            <a:r>
              <a:rPr lang="en-LK" sz="2400" dirty="0">
                <a:latin typeface="Times" pitchFamily="2" charset="0"/>
              </a:rPr>
              <a:t>scuit market in South Asia</a:t>
            </a:r>
          </a:p>
          <a:p>
            <a:pPr lvl="1">
              <a:lnSpc>
                <a:spcPct val="150000"/>
              </a:lnSpc>
            </a:pPr>
            <a:r>
              <a:rPr lang="en-LK" sz="2000" i="1" dirty="0">
                <a:latin typeface="Times" pitchFamily="2" charset="0"/>
              </a:rPr>
              <a:t>For that, as a co</a:t>
            </a:r>
            <a:r>
              <a:rPr lang="en-GB" sz="2000" i="1" dirty="0">
                <a:latin typeface="Times" pitchFamily="2" charset="0"/>
              </a:rPr>
              <a:t>m</a:t>
            </a:r>
            <a:r>
              <a:rPr lang="en-LK" sz="2000" i="1" dirty="0">
                <a:latin typeface="Times" pitchFamily="2" charset="0"/>
              </a:rPr>
              <a:t>pany, you will have to innovate new biscuit varieties continuously.</a:t>
            </a:r>
          </a:p>
          <a:p>
            <a:pPr marL="0" indent="0">
              <a:lnSpc>
                <a:spcPct val="150000"/>
              </a:lnSpc>
              <a:buNone/>
            </a:pPr>
            <a:endParaRPr lang="en-LK" sz="2400" i="1" dirty="0">
              <a:latin typeface="Times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LK" dirty="0">
              <a:latin typeface="Times" pitchFamily="2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B10BF039-644E-B437-C454-A87B46D8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500190"/>
            <a:ext cx="4648199" cy="417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1177DF-0813-B10F-7C0B-3E796A146CF2}"/>
              </a:ext>
            </a:extLst>
          </p:cNvPr>
          <p:cNvSpPr/>
          <p:nvPr/>
        </p:nvSpPr>
        <p:spPr>
          <a:xfrm>
            <a:off x="5778500" y="3006276"/>
            <a:ext cx="6045200" cy="26960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LK" sz="2400" b="1" dirty="0">
                <a:solidFill>
                  <a:schemeClr val="tx1"/>
                </a:solidFill>
                <a:latin typeface="Times" pitchFamily="2" charset="0"/>
              </a:rPr>
              <a:t>Controlling: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LK" b="1" dirty="0">
                <a:solidFill>
                  <a:schemeClr val="tx1"/>
                </a:solidFill>
                <a:latin typeface="Times" pitchFamily="2" charset="0"/>
              </a:rPr>
              <a:t>Checking if everything is going as planned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Review if the team is producing new biscuit varieties as planned.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i.e., Has the team produced one new b</a:t>
            </a:r>
            <a:r>
              <a:rPr lang="en-GB" sz="1600" dirty="0" err="1">
                <a:solidFill>
                  <a:schemeClr val="tx1"/>
                </a:solidFill>
                <a:latin typeface="Times" pitchFamily="2" charset="0"/>
              </a:rPr>
              <a:t>i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scuit variet</a:t>
            </a:r>
            <a:r>
              <a:rPr lang="en-GB" sz="1600" dirty="0">
                <a:solidFill>
                  <a:schemeClr val="tx1"/>
                </a:solidFill>
                <a:latin typeface="Times" pitchFamily="2" charset="0"/>
              </a:rPr>
              <a:t>y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 by the months of</a:t>
            </a:r>
            <a:r>
              <a:rPr lang="en-LK" sz="1600" b="1" dirty="0">
                <a:solidFill>
                  <a:schemeClr val="tx1"/>
                </a:solidFill>
                <a:latin typeface="Times" pitchFamily="2" charset="0"/>
              </a:rPr>
              <a:t> (1)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February, </a:t>
            </a:r>
            <a:r>
              <a:rPr lang="en-LK" sz="1600" b="1" dirty="0">
                <a:solidFill>
                  <a:schemeClr val="tx1"/>
                </a:solidFill>
                <a:latin typeface="Times" pitchFamily="2" charset="0"/>
              </a:rPr>
              <a:t>(2)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April, </a:t>
            </a:r>
            <a:r>
              <a:rPr lang="en-LK" sz="1600" b="1" dirty="0">
                <a:solidFill>
                  <a:schemeClr val="tx1"/>
                </a:solidFill>
                <a:latin typeface="Times" pitchFamily="2" charset="0"/>
              </a:rPr>
              <a:t>(3)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June, </a:t>
            </a:r>
            <a:r>
              <a:rPr lang="en-LK" sz="1600" b="1" dirty="0">
                <a:solidFill>
                  <a:schemeClr val="tx1"/>
                </a:solidFill>
                <a:latin typeface="Times" pitchFamily="2" charset="0"/>
              </a:rPr>
              <a:t>(4)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August, </a:t>
            </a:r>
            <a:r>
              <a:rPr lang="en-LK" sz="1600" b="1" dirty="0">
                <a:solidFill>
                  <a:schemeClr val="tx1"/>
                </a:solidFill>
                <a:latin typeface="Times" pitchFamily="2" charset="0"/>
              </a:rPr>
              <a:t>(5)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October and </a:t>
            </a:r>
            <a:r>
              <a:rPr lang="en-LK" sz="1600" b="1" dirty="0">
                <a:solidFill>
                  <a:schemeClr val="tx1"/>
                </a:solidFill>
                <a:latin typeface="Times" pitchFamily="2" charset="0"/>
              </a:rPr>
              <a:t>(6)</a:t>
            </a:r>
            <a:r>
              <a:rPr lang="en-LK" sz="1600" dirty="0">
                <a:solidFill>
                  <a:schemeClr val="tx1"/>
                </a:solidFill>
                <a:latin typeface="Times" pitchFamily="2" charset="0"/>
              </a:rPr>
              <a:t>December.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LK" sz="16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A1F358F-3D68-0ACB-7297-2997F54788D9}"/>
              </a:ext>
            </a:extLst>
          </p:cNvPr>
          <p:cNvSpPr/>
          <p:nvPr/>
        </p:nvSpPr>
        <p:spPr>
          <a:xfrm>
            <a:off x="165100" y="3707097"/>
            <a:ext cx="1930400" cy="17653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75585-D966-779B-04C1-C6E7FFD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13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65403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7244-0D21-D842-86A2-35AFF106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071" y="295371"/>
            <a:ext cx="6154220" cy="701675"/>
          </a:xfrm>
        </p:spPr>
        <p:txBody>
          <a:bodyPr>
            <a:normAutofit/>
          </a:bodyPr>
          <a:lstStyle/>
          <a:p>
            <a:pPr algn="ctr"/>
            <a:r>
              <a:rPr lang="en-LK" b="1" dirty="0">
                <a:latin typeface="Times" pitchFamily="2" charset="0"/>
              </a:rPr>
              <a:t>Managerial Levels</a:t>
            </a:r>
          </a:p>
        </p:txBody>
      </p:sp>
      <p:pic>
        <p:nvPicPr>
          <p:cNvPr id="24578" name="Picture 2" descr="3 Levels of Management – Meanings, Responsibilities, and More - Shiksha  Online">
            <a:extLst>
              <a:ext uri="{FF2B5EF4-FFF2-40B4-BE49-F238E27FC236}">
                <a16:creationId xmlns:a16="http://schemas.microsoft.com/office/drawing/2014/main" id="{C5CAECF3-0D10-068B-2529-24514903A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1825" r="25625" b="9513"/>
          <a:stretch/>
        </p:blipFill>
        <p:spPr bwMode="auto">
          <a:xfrm>
            <a:off x="5462071" y="1243173"/>
            <a:ext cx="6458806" cy="547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472090-5DF6-6D94-AD64-A35DF35FB1D3}"/>
              </a:ext>
            </a:extLst>
          </p:cNvPr>
          <p:cNvSpPr txBox="1"/>
          <p:nvPr/>
        </p:nvSpPr>
        <p:spPr>
          <a:xfrm>
            <a:off x="440037" y="200819"/>
            <a:ext cx="4889004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LK" sz="2400" b="1" dirty="0">
                <a:solidFill>
                  <a:schemeClr val="accent4">
                    <a:lumMod val="50000"/>
                  </a:schemeClr>
                </a:solidFill>
                <a:latin typeface="Times" pitchFamily="2" charset="0"/>
              </a:rPr>
              <a:t>Top Level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LK" sz="2000" dirty="0">
                <a:latin typeface="Times" pitchFamily="2" charset="0"/>
              </a:rPr>
              <a:t>Chief Executive Officer</a:t>
            </a:r>
            <a:r>
              <a:rPr lang="en-US" sz="2000" dirty="0">
                <a:latin typeface="Times" pitchFamily="2" charset="0"/>
              </a:rPr>
              <a:t> (CEO)</a:t>
            </a:r>
            <a:endParaRPr lang="en-LK" sz="2000" dirty="0">
              <a:latin typeface="Times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" pitchFamily="2" charset="0"/>
              </a:rPr>
              <a:t>Managing Director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LK" sz="2000" dirty="0">
                <a:latin typeface="Times" pitchFamily="2" charset="0"/>
              </a:rPr>
              <a:t>Chief Operating Officer (COO)</a:t>
            </a:r>
          </a:p>
          <a:p>
            <a:pPr>
              <a:lnSpc>
                <a:spcPct val="300000"/>
              </a:lnSpc>
            </a:pPr>
            <a:r>
              <a:rPr lang="en-LK" sz="2400" b="1" dirty="0">
                <a:solidFill>
                  <a:srgbClr val="EC3278"/>
                </a:solidFill>
                <a:latin typeface="Times" pitchFamily="2" charset="0"/>
              </a:rPr>
              <a:t>Middle Level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LK" sz="2000" dirty="0">
                <a:latin typeface="Times" pitchFamily="2" charset="0"/>
              </a:rPr>
              <a:t>Production Manager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" pitchFamily="2" charset="0"/>
              </a:rPr>
              <a:t>Department Manager</a:t>
            </a:r>
            <a:endParaRPr lang="en-LK" sz="2000" dirty="0">
              <a:latin typeface="Times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" pitchFamily="2" charset="0"/>
              </a:rPr>
              <a:t>Branch Manager</a:t>
            </a:r>
            <a:endParaRPr lang="en-LK" sz="2000" dirty="0">
              <a:latin typeface="Times" pitchFamily="2" charset="0"/>
            </a:endParaRPr>
          </a:p>
          <a:p>
            <a:pPr>
              <a:lnSpc>
                <a:spcPct val="300000"/>
              </a:lnSpc>
            </a:pPr>
            <a:r>
              <a:rPr lang="en-LK" sz="2400" b="1" dirty="0">
                <a:solidFill>
                  <a:srgbClr val="4E9416"/>
                </a:solidFill>
                <a:latin typeface="Times" pitchFamily="2" charset="0"/>
              </a:rPr>
              <a:t>Lower Level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LK" sz="2000" dirty="0">
                <a:latin typeface="Times" pitchFamily="2" charset="0"/>
              </a:rPr>
              <a:t>Sales Supervisor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LK" sz="2000" dirty="0">
                <a:latin typeface="Times" pitchFamily="2" charset="0"/>
              </a:rPr>
              <a:t>Team Supervisor</a:t>
            </a:r>
            <a:endParaRPr lang="en-US" sz="2000" dirty="0">
              <a:latin typeface="Times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LK" sz="2000" dirty="0">
                <a:latin typeface="Times" pitchFamily="2" charset="0"/>
              </a:rPr>
              <a:t>Line Supervisor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F7565-4560-8485-FDC7-84BCE025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14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37441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A17D-6082-2A64-03CF-8545C386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24"/>
            <a:ext cx="10515600" cy="1325563"/>
          </a:xfrm>
        </p:spPr>
        <p:txBody>
          <a:bodyPr/>
          <a:lstStyle/>
          <a:p>
            <a:r>
              <a:rPr lang="en-LK" b="1" dirty="0">
                <a:latin typeface="Times" pitchFamily="2" charset="0"/>
              </a:rPr>
              <a:t>Managerial Levels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D012-3425-BABC-6ACB-F3C159EC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121" y="1346387"/>
            <a:ext cx="5665342" cy="517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Top Level Managers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Strategic decision making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Setting organizational vision and goals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Middle Level Managers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Implementing strategies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Coordinating departments and teams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Lower-Level Managers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Supervising daily operations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Managing frontline employees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F3908-86BD-8D0F-8AC6-51FCF547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15</a:t>
            </a:fld>
            <a:endParaRPr lang="en-LK"/>
          </a:p>
        </p:txBody>
      </p:sp>
      <p:pic>
        <p:nvPicPr>
          <p:cNvPr id="1026" name="Picture 2" descr="Management Study Guide">
            <a:extLst>
              <a:ext uri="{FF2B5EF4-FFF2-40B4-BE49-F238E27FC236}">
                <a16:creationId xmlns:a16="http://schemas.microsoft.com/office/drawing/2014/main" id="{D6E33ED4-C7D1-02A5-F18E-5BA831AE8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539" y="1109610"/>
            <a:ext cx="5496674" cy="532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84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F89EDDA-E0A2-78B7-588A-B42217B854E8}"/>
              </a:ext>
            </a:extLst>
          </p:cNvPr>
          <p:cNvGrpSpPr/>
          <p:nvPr/>
        </p:nvGrpSpPr>
        <p:grpSpPr>
          <a:xfrm>
            <a:off x="222250" y="1311815"/>
            <a:ext cx="11528425" cy="5090661"/>
            <a:chOff x="238125" y="867315"/>
            <a:chExt cx="11528425" cy="509066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5A72C8B-D928-04B2-9229-01A17F0C7271}"/>
                </a:ext>
              </a:extLst>
            </p:cNvPr>
            <p:cNvSpPr txBox="1"/>
            <p:nvPr/>
          </p:nvSpPr>
          <p:spPr>
            <a:xfrm>
              <a:off x="1644650" y="4426788"/>
              <a:ext cx="10121900" cy="15311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LK" sz="2400" b="1" dirty="0">
                  <a:solidFill>
                    <a:schemeClr val="accent6">
                      <a:lumMod val="75000"/>
                    </a:schemeClr>
                  </a:solidFill>
                  <a:latin typeface="Times" pitchFamily="2" charset="0"/>
                </a:rPr>
                <a:t>Human Skills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Times" pitchFamily="2" charset="0"/>
                </a:rPr>
                <a:t>Ability to work well with others, communicate effectively, and manage relationships.</a:t>
              </a:r>
            </a:p>
            <a:p>
              <a:pPr lvl="1">
                <a:lnSpc>
                  <a:spcPct val="150000"/>
                </a:lnSpc>
              </a:pPr>
              <a:r>
                <a:rPr lang="en-GB" b="1" i="1" dirty="0">
                  <a:latin typeface="Times" pitchFamily="2" charset="0"/>
                </a:rPr>
                <a:t>Example</a:t>
              </a:r>
              <a:r>
                <a:rPr lang="en-GB" dirty="0">
                  <a:latin typeface="Times" pitchFamily="2" charset="0"/>
                </a:rPr>
                <a:t>: A Manager resolving conflicts and motivating staff.</a:t>
              </a:r>
              <a:endParaRPr lang="en-LK" dirty="0">
                <a:latin typeface="Times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219CC8-BA49-9B5B-45EE-06C1D8882F58}"/>
                </a:ext>
              </a:extLst>
            </p:cNvPr>
            <p:cNvSpPr txBox="1"/>
            <p:nvPr/>
          </p:nvSpPr>
          <p:spPr>
            <a:xfrm>
              <a:off x="1644650" y="2663406"/>
              <a:ext cx="10121900" cy="153118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LK" sz="2400" b="1" dirty="0">
                  <a:solidFill>
                    <a:schemeClr val="accent2">
                      <a:lumMod val="75000"/>
                    </a:schemeClr>
                  </a:solidFill>
                  <a:latin typeface="Times" pitchFamily="2" charset="0"/>
                </a:rPr>
                <a:t>Technical Skills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Times" pitchFamily="2" charset="0"/>
                </a:rPr>
                <a:t>Specific knowledge and abilities related to specialized tasks and processes.</a:t>
              </a:r>
            </a:p>
            <a:p>
              <a:pPr lvl="1">
                <a:lnSpc>
                  <a:spcPct val="150000"/>
                </a:lnSpc>
              </a:pPr>
              <a:r>
                <a:rPr lang="en-GB" b="1" i="1" dirty="0">
                  <a:latin typeface="Times" pitchFamily="2" charset="0"/>
                </a:rPr>
                <a:t>Example</a:t>
              </a:r>
              <a:r>
                <a:rPr lang="en-GB" dirty="0">
                  <a:latin typeface="Times" pitchFamily="2" charset="0"/>
                </a:rPr>
                <a:t>: A Production Manager knowing how to operate and troubleshoot sewing machines.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0359E5-EBF4-58F8-4E1F-290A00D29421}"/>
                </a:ext>
              </a:extLst>
            </p:cNvPr>
            <p:cNvSpPr txBox="1"/>
            <p:nvPr/>
          </p:nvSpPr>
          <p:spPr>
            <a:xfrm>
              <a:off x="1644650" y="867315"/>
              <a:ext cx="10121900" cy="15311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LK" sz="2400" b="1" dirty="0">
                  <a:solidFill>
                    <a:schemeClr val="accent1">
                      <a:lumMod val="75000"/>
                    </a:schemeClr>
                  </a:solidFill>
                  <a:latin typeface="Times" pitchFamily="2" charset="0"/>
                </a:rPr>
                <a:t>Conceptual Skills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Times" pitchFamily="2" charset="0"/>
                </a:rPr>
                <a:t>Ability to see the big picture, think strategically, and solve complex problems.</a:t>
              </a:r>
            </a:p>
            <a:p>
              <a:pPr lvl="1">
                <a:lnSpc>
                  <a:spcPct val="150000"/>
                </a:lnSpc>
              </a:pPr>
              <a:r>
                <a:rPr lang="en-GB" b="1" i="1" dirty="0">
                  <a:latin typeface="Times" pitchFamily="2" charset="0"/>
                </a:rPr>
                <a:t>Example</a:t>
              </a:r>
              <a:r>
                <a:rPr lang="en-GB" dirty="0">
                  <a:latin typeface="Times" pitchFamily="2" charset="0"/>
                </a:rPr>
                <a:t>: A CEO developing a new business strategy for international expansion.</a:t>
              </a:r>
            </a:p>
          </p:txBody>
        </p:sp>
        <p:pic>
          <p:nvPicPr>
            <p:cNvPr id="10" name="Graphic 9" descr="Brain with solid fill">
              <a:extLst>
                <a:ext uri="{FF2B5EF4-FFF2-40B4-BE49-F238E27FC236}">
                  <a16:creationId xmlns:a16="http://schemas.microsoft.com/office/drawing/2014/main" id="{7E2BBB63-6DAD-D0F3-B337-9DAC67F3E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2100" y="1036009"/>
              <a:ext cx="1079500" cy="1079500"/>
            </a:xfrm>
            <a:prstGeom prst="rect">
              <a:avLst/>
            </a:prstGeom>
          </p:spPr>
        </p:pic>
        <p:pic>
          <p:nvPicPr>
            <p:cNvPr id="12" name="Graphic 11" descr="Tools with solid fill">
              <a:extLst>
                <a:ext uri="{FF2B5EF4-FFF2-40B4-BE49-F238E27FC236}">
                  <a16:creationId xmlns:a16="http://schemas.microsoft.com/office/drawing/2014/main" id="{AB2F6062-C384-0B8C-2AFA-63970894C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200" y="2862891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Group with solid fill">
              <a:extLst>
                <a:ext uri="{FF2B5EF4-FFF2-40B4-BE49-F238E27FC236}">
                  <a16:creationId xmlns:a16="http://schemas.microsoft.com/office/drawing/2014/main" id="{4183B28D-1DF3-3299-70AC-7B1276B2A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8125" y="4524673"/>
              <a:ext cx="1187450" cy="1187450"/>
            </a:xfrm>
            <a:prstGeom prst="rect">
              <a:avLst/>
            </a:prstGeom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F84355C-A871-F634-A619-BE015146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348704"/>
            <a:ext cx="10515600" cy="384423"/>
          </a:xfrm>
        </p:spPr>
        <p:txBody>
          <a:bodyPr>
            <a:normAutofit fontScale="90000"/>
          </a:bodyPr>
          <a:lstStyle/>
          <a:p>
            <a:r>
              <a:rPr lang="en-LK" b="1" dirty="0">
                <a:latin typeface="Times" pitchFamily="2" charset="0"/>
              </a:rPr>
              <a:t>Managerial Skills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5AB6F-8A6C-276C-7C4B-A9BEB573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16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826799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DA5-0181-AF03-F42F-1DA9E60E4166}"/>
              </a:ext>
            </a:extLst>
          </p:cNvPr>
          <p:cNvSpPr txBox="1">
            <a:spLocks/>
          </p:cNvSpPr>
          <p:nvPr/>
        </p:nvSpPr>
        <p:spPr>
          <a:xfrm>
            <a:off x="288925" y="297904"/>
            <a:ext cx="10515600" cy="62919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LK" sz="4000" b="1" dirty="0">
                <a:latin typeface="Times" pitchFamily="2" charset="0"/>
              </a:rPr>
              <a:t>Managerial Levels Vs. Managerial Skills</a:t>
            </a:r>
          </a:p>
        </p:txBody>
      </p:sp>
      <p:pic>
        <p:nvPicPr>
          <p:cNvPr id="26630" name="Picture 6" descr="Managerial skills according to Katz - ManagementMania.com">
            <a:extLst>
              <a:ext uri="{FF2B5EF4-FFF2-40B4-BE49-F238E27FC236}">
                <a16:creationId xmlns:a16="http://schemas.microsoft.com/office/drawing/2014/main" id="{542E7D76-6997-BEB6-DB9E-949ACB37F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" t="19741" r="5001" b="10000"/>
          <a:stretch/>
        </p:blipFill>
        <p:spPr bwMode="auto">
          <a:xfrm>
            <a:off x="288925" y="1409700"/>
            <a:ext cx="11828758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C18BE-011C-230E-6715-704434CD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17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06136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Difference between leader and manager - Maysante">
            <a:extLst>
              <a:ext uri="{FF2B5EF4-FFF2-40B4-BE49-F238E27FC236}">
                <a16:creationId xmlns:a16="http://schemas.microsoft.com/office/drawing/2014/main" id="{ABBF85E3-6BD6-9A56-9651-A99E12804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224367"/>
            <a:ext cx="9613900" cy="640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C2B558-8282-7F57-9F25-FCA29C4B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18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899821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Difference Between Leader And Manager PPT And Google Slides">
            <a:extLst>
              <a:ext uri="{FF2B5EF4-FFF2-40B4-BE49-F238E27FC236}">
                <a16:creationId xmlns:a16="http://schemas.microsoft.com/office/drawing/2014/main" id="{2E3E9AFC-AF4E-926D-9363-CAAD72611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9" t="20555" r="10417" b="4999"/>
          <a:stretch/>
        </p:blipFill>
        <p:spPr bwMode="auto">
          <a:xfrm>
            <a:off x="452019" y="431800"/>
            <a:ext cx="11185799" cy="594014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B1AB8-8DA6-4D73-DF1E-DB291030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19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0741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eadership vs. Management … Distinct difference or Overlapping qualities? |  Connections 4 Success">
            <a:extLst>
              <a:ext uri="{FF2B5EF4-FFF2-40B4-BE49-F238E27FC236}">
                <a16:creationId xmlns:a16="http://schemas.microsoft.com/office/drawing/2014/main" id="{BD3ED093-4B0E-FE49-87DC-4306D87EB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28335"/>
            <a:ext cx="10744200" cy="595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42F22-3D91-8F97-2D43-B9EB402B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20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659962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mium Vector | Vector illustration of two students studying in the  classroom | Student cartoon, Classroom clipart, School cartoon">
            <a:extLst>
              <a:ext uri="{FF2B5EF4-FFF2-40B4-BE49-F238E27FC236}">
                <a16:creationId xmlns:a16="http://schemas.microsoft.com/office/drawing/2014/main" id="{A5A053EE-7749-D6FB-41A1-C07B78D01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006" y="486160"/>
            <a:ext cx="7228114" cy="561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5128B-1CE2-025B-0D35-682559A0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5" y="1447293"/>
            <a:ext cx="4432482" cy="2852737"/>
          </a:xfrm>
        </p:spPr>
        <p:txBody>
          <a:bodyPr/>
          <a:lstStyle/>
          <a:p>
            <a:pPr algn="ctr"/>
            <a:r>
              <a:rPr lang="en-LK" sz="8800" b="1" dirty="0">
                <a:solidFill>
                  <a:srgbClr val="0070C0"/>
                </a:solidFill>
                <a:latin typeface="Times" pitchFamily="2" charset="0"/>
              </a:rPr>
              <a:t>A</a:t>
            </a:r>
            <a:r>
              <a:rPr lang="en-LK" sz="8800" b="1" dirty="0">
                <a:solidFill>
                  <a:srgbClr val="002060"/>
                </a:solidFill>
                <a:latin typeface="Times" pitchFamily="2" charset="0"/>
              </a:rPr>
              <a:t>ct</a:t>
            </a:r>
            <a:r>
              <a:rPr lang="en-LK" sz="8800" b="1" dirty="0">
                <a:solidFill>
                  <a:srgbClr val="0070C0"/>
                </a:solidFill>
                <a:latin typeface="Times" pitchFamily="2" charset="0"/>
              </a:rPr>
              <a:t>i</a:t>
            </a:r>
            <a:r>
              <a:rPr lang="en-LK" sz="8800" b="1" dirty="0">
                <a:solidFill>
                  <a:srgbClr val="002060"/>
                </a:solidFill>
                <a:latin typeface="Times" pitchFamily="2" charset="0"/>
              </a:rPr>
              <a:t>v</a:t>
            </a:r>
            <a:r>
              <a:rPr lang="en-LK" sz="8800" b="1" dirty="0">
                <a:solidFill>
                  <a:srgbClr val="0070C0"/>
                </a:solidFill>
                <a:latin typeface="Times" pitchFamily="2" charset="0"/>
              </a:rPr>
              <a:t>i</a:t>
            </a:r>
            <a:r>
              <a:rPr lang="en-LK" sz="8800" b="1" dirty="0">
                <a:solidFill>
                  <a:srgbClr val="002060"/>
                </a:solidFill>
                <a:latin typeface="Times" pitchFamily="2" charset="0"/>
              </a:rPr>
              <a:t>ty</a:t>
            </a:r>
            <a:r>
              <a:rPr lang="en-LK" b="1" dirty="0">
                <a:solidFill>
                  <a:srgbClr val="002060"/>
                </a:solidFill>
                <a:latin typeface="Times" pitchFamily="2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B67DF2-A107-5D60-9F43-8F2895C5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21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604893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0004F-FABD-9432-823D-E5769023C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1789"/>
            <a:ext cx="10515600" cy="5735174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b="1" dirty="0"/>
              <a:t>Tutorial Question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Come up with a SWOT analysis in respect of leadership 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A159B-6516-D51E-D887-C54B0FEF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A293-67CA-DC4D-AB7B-6AB5BAE3D992}" type="slidenum">
              <a:rPr lang="en-LK" smtClean="0"/>
              <a:t>22</a:t>
            </a:fld>
            <a:endParaRPr lang="en-LK"/>
          </a:p>
        </p:txBody>
      </p:sp>
      <p:pic>
        <p:nvPicPr>
          <p:cNvPr id="2050" name="Picture 2" descr="SWOT: Strengths, Weaknesses, Opportunities, Threats">
            <a:extLst>
              <a:ext uri="{FF2B5EF4-FFF2-40B4-BE49-F238E27FC236}">
                <a16:creationId xmlns:a16="http://schemas.microsoft.com/office/drawing/2014/main" id="{C762736A-AB81-799F-0FAB-756F0ECF8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2310145"/>
            <a:ext cx="4603679" cy="422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95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FEA2F6-1E30-002C-E3DE-07DA6439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081A293-67CA-DC4D-AB7B-6AB5BAE3D992}" type="slidenum">
              <a:rPr lang="en-LK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LK">
              <a:solidFill>
                <a:srgbClr val="FFFFFF"/>
              </a:solidFill>
            </a:endParaRPr>
          </a:p>
        </p:txBody>
      </p:sp>
      <p:pic>
        <p:nvPicPr>
          <p:cNvPr id="4102" name="Picture 6" descr="Thank You Vector Art &amp; Graphics | freevector.com">
            <a:extLst>
              <a:ext uri="{FF2B5EF4-FFF2-40B4-BE49-F238E27FC236}">
                <a16:creationId xmlns:a16="http://schemas.microsoft.com/office/drawing/2014/main" id="{09196762-5A5A-FA05-1CD6-E6AAC9BB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889000"/>
            <a:ext cx="67818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55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784</Words>
  <Application>Microsoft Office PowerPoint</Application>
  <PresentationFormat>Widescreen</PresentationFormat>
  <Paragraphs>153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</vt:lpstr>
      <vt:lpstr>Wingdings</vt:lpstr>
      <vt:lpstr>Office Theme</vt:lpstr>
      <vt:lpstr>Introduction to Organizational Leadership</vt:lpstr>
      <vt:lpstr>Learning Outcomes</vt:lpstr>
      <vt:lpstr>Contents</vt:lpstr>
      <vt:lpstr>What is Leadership?</vt:lpstr>
      <vt:lpstr>What is Organizational Leadership?</vt:lpstr>
      <vt:lpstr>Leadership Qualities</vt:lpstr>
      <vt:lpstr>Leadership Skills</vt:lpstr>
      <vt:lpstr>Management</vt:lpstr>
      <vt:lpstr>What is Management?</vt:lpstr>
      <vt:lpstr>PowerPoint Presentation</vt:lpstr>
      <vt:lpstr>PowerPoint Presentation</vt:lpstr>
      <vt:lpstr>PowerPoint Presentation</vt:lpstr>
      <vt:lpstr>PowerPoint Presentation</vt:lpstr>
      <vt:lpstr>Managerial Levels</vt:lpstr>
      <vt:lpstr>Managerial Levels</vt:lpstr>
      <vt:lpstr>Managerial Skills</vt:lpstr>
      <vt:lpstr>PowerPoint Presentation</vt:lpstr>
      <vt:lpstr>PowerPoint Presentation</vt:lpstr>
      <vt:lpstr>PowerPoint Presentation</vt:lpstr>
      <vt:lpstr>PowerPoint Presentation</vt:lpstr>
      <vt:lpstr>Activity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Vageesha Rajapakse</dc:creator>
  <cp:lastModifiedBy>Sandali Ehalapitiya</cp:lastModifiedBy>
  <cp:revision>38</cp:revision>
  <dcterms:created xsi:type="dcterms:W3CDTF">2024-07-02T16:46:24Z</dcterms:created>
  <dcterms:modified xsi:type="dcterms:W3CDTF">2026-03-09T01:37:05Z</dcterms:modified>
</cp:coreProperties>
</file>