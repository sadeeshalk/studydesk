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351" r:id="rId5"/>
    <p:sldId id="352" r:id="rId6"/>
    <p:sldId id="355" r:id="rId7"/>
    <p:sldId id="356" r:id="rId8"/>
    <p:sldId id="357" r:id="rId9"/>
    <p:sldId id="381" r:id="rId10"/>
    <p:sldId id="353" r:id="rId11"/>
    <p:sldId id="360" r:id="rId12"/>
    <p:sldId id="363" r:id="rId13"/>
    <p:sldId id="380" r:id="rId14"/>
    <p:sldId id="364" r:id="rId15"/>
    <p:sldId id="365" r:id="rId16"/>
    <p:sldId id="366" r:id="rId17"/>
    <p:sldId id="362" r:id="rId18"/>
    <p:sldId id="354" r:id="rId19"/>
    <p:sldId id="370" r:id="rId20"/>
    <p:sldId id="371" r:id="rId21"/>
    <p:sldId id="372" r:id="rId22"/>
    <p:sldId id="373" r:id="rId23"/>
    <p:sldId id="374" r:id="rId24"/>
    <p:sldId id="375" r:id="rId25"/>
    <p:sldId id="376" r:id="rId26"/>
    <p:sldId id="379" r:id="rId27"/>
    <p:sldId id="377" r:id="rId28"/>
    <p:sldId id="307" r:id="rId29"/>
    <p:sldId id="387" r:id="rId30"/>
    <p:sldId id="388" r:id="rId31"/>
    <p:sldId id="386" r:id="rId32"/>
    <p:sldId id="309" r:id="rId33"/>
    <p:sldId id="33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122D"/>
    <a:srgbClr val="F96005"/>
    <a:srgbClr val="019587"/>
    <a:srgbClr val="F3F2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13103F-87BF-F85C-996A-E498ED429745}" v="22" dt="2025-05-19T02:52:04.1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28" autoAdjust="0"/>
    <p:restoredTop sz="94049" autoAdjust="0"/>
  </p:normalViewPr>
  <p:slideViewPr>
    <p:cSldViewPr snapToGrid="0">
      <p:cViewPr varScale="1">
        <p:scale>
          <a:sx n="70" d="100"/>
          <a:sy n="70" d="100"/>
        </p:scale>
        <p:origin x="46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geesha Rajapakse" userId="S::vageesha.r@sliit.lk::75266562-5131-4e78-a7bd-5bf018ac3dac" providerId="AD" clId="Web-{0813103F-87BF-F85C-996A-E498ED429745}"/>
    <pc:docChg chg="modSld">
      <pc:chgData name="Vageesha Rajapakse" userId="S::vageesha.r@sliit.lk::75266562-5131-4e78-a7bd-5bf018ac3dac" providerId="AD" clId="Web-{0813103F-87BF-F85C-996A-E498ED429745}" dt="2025-05-19T02:52:01.443" v="20" actId="20577"/>
      <pc:docMkLst>
        <pc:docMk/>
      </pc:docMkLst>
      <pc:sldChg chg="modSp">
        <pc:chgData name="Vageesha Rajapakse" userId="S::vageesha.r@sliit.lk::75266562-5131-4e78-a7bd-5bf018ac3dac" providerId="AD" clId="Web-{0813103F-87BF-F85C-996A-E498ED429745}" dt="2025-05-19T02:52:01.443" v="20" actId="20577"/>
        <pc:sldMkLst>
          <pc:docMk/>
          <pc:sldMk cId="2402051357" sldId="360"/>
        </pc:sldMkLst>
        <pc:spChg chg="mod">
          <ac:chgData name="Vageesha Rajapakse" userId="S::vageesha.r@sliit.lk::75266562-5131-4e78-a7bd-5bf018ac3dac" providerId="AD" clId="Web-{0813103F-87BF-F85C-996A-E498ED429745}" dt="2025-05-19T02:52:01.443" v="20" actId="20577"/>
          <ac:spMkLst>
            <pc:docMk/>
            <pc:sldMk cId="2402051357" sldId="360"/>
            <ac:spMk id="3" creationId="{BCDD7720-D31A-7EA0-A760-927B91B823B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0B4914-76BD-41F8-8715-3D6CF82EC64F}" type="doc">
      <dgm:prSet loTypeId="urn:microsoft.com/office/officeart/2005/8/layout/list1" loCatId="list" qsTypeId="urn:microsoft.com/office/officeart/2005/8/quickstyle/simple1" qsCatId="simple" csTypeId="urn:microsoft.com/office/officeart/2005/8/colors/accent4_2" csCatId="accent4" phldr="1"/>
      <dgm:spPr/>
      <dgm:t>
        <a:bodyPr/>
        <a:lstStyle/>
        <a:p>
          <a:endParaRPr lang="en-US"/>
        </a:p>
      </dgm:t>
    </dgm:pt>
    <dgm:pt modelId="{32D76708-BE2B-48F3-BEDF-E9D6570D9719}">
      <dgm:prSet custT="1"/>
      <dgm:spPr/>
      <dgm:t>
        <a:bodyPr/>
        <a:lstStyle/>
        <a:p>
          <a:r>
            <a:rPr lang="en-US" sz="2400" b="1" dirty="0">
              <a:solidFill>
                <a:srgbClr val="C00000"/>
              </a:solidFill>
              <a:latin typeface="Times" pitchFamily="2" charset="0"/>
            </a:rPr>
            <a:t>Follower</a:t>
          </a:r>
          <a:r>
            <a:rPr lang="en-US" sz="2400" b="1" dirty="0">
              <a:solidFill>
                <a:schemeClr val="tx1"/>
              </a:solidFill>
              <a:latin typeface="Times" pitchFamily="2" charset="0"/>
            </a:rPr>
            <a:t>: Unable and Unwilling</a:t>
          </a:r>
        </a:p>
      </dgm:t>
    </dgm:pt>
    <dgm:pt modelId="{2DE5CA0B-8E44-4A95-A6C6-0D9EDD7DC511}" type="parTrans" cxnId="{0E981921-91B4-4B14-B7F9-0A248E2AA4F1}">
      <dgm:prSet/>
      <dgm:spPr/>
      <dgm:t>
        <a:bodyPr/>
        <a:lstStyle/>
        <a:p>
          <a:endParaRPr lang="en-US" sz="1600">
            <a:latin typeface="Times" pitchFamily="2" charset="0"/>
          </a:endParaRPr>
        </a:p>
      </dgm:t>
    </dgm:pt>
    <dgm:pt modelId="{FD868225-6B50-4AC4-8DF8-1508C3197935}" type="sibTrans" cxnId="{0E981921-91B4-4B14-B7F9-0A248E2AA4F1}">
      <dgm:prSet/>
      <dgm:spPr/>
      <dgm:t>
        <a:bodyPr/>
        <a:lstStyle/>
        <a:p>
          <a:endParaRPr lang="en-US" sz="1600">
            <a:latin typeface="Times" pitchFamily="2" charset="0"/>
          </a:endParaRPr>
        </a:p>
      </dgm:t>
    </dgm:pt>
    <dgm:pt modelId="{C181FF1C-39A5-4EF8-AAFB-C8782A4FBA95}">
      <dgm:prSet custT="1"/>
      <dgm:spPr/>
      <dgm:t>
        <a:bodyPr/>
        <a:lstStyle/>
        <a:p>
          <a:endParaRPr lang="en-US" sz="1600" b="1" dirty="0">
            <a:solidFill>
              <a:srgbClr val="C00000"/>
            </a:solidFill>
            <a:latin typeface="Times" pitchFamily="2" charset="0"/>
          </a:endParaRPr>
        </a:p>
      </dgm:t>
    </dgm:pt>
    <dgm:pt modelId="{3B5CC330-526D-4CD3-99F8-F7FA950F98F4}" type="parTrans" cxnId="{6C66DF2E-15B3-4094-8292-25FF519D6B4A}">
      <dgm:prSet/>
      <dgm:spPr/>
      <dgm:t>
        <a:bodyPr/>
        <a:lstStyle/>
        <a:p>
          <a:endParaRPr lang="en-US" sz="1600">
            <a:latin typeface="Times" pitchFamily="2" charset="0"/>
          </a:endParaRPr>
        </a:p>
      </dgm:t>
    </dgm:pt>
    <dgm:pt modelId="{7CBBB242-23CC-4AD9-A8FC-A7027F136BFC}" type="sibTrans" cxnId="{6C66DF2E-15B3-4094-8292-25FF519D6B4A}">
      <dgm:prSet/>
      <dgm:spPr/>
      <dgm:t>
        <a:bodyPr/>
        <a:lstStyle/>
        <a:p>
          <a:endParaRPr lang="en-US" sz="1600">
            <a:latin typeface="Times" pitchFamily="2" charset="0"/>
          </a:endParaRPr>
        </a:p>
      </dgm:t>
    </dgm:pt>
    <dgm:pt modelId="{C6BE00A8-0BC4-4440-9E22-7EC71C44D5F0}">
      <dgm:prSet custT="1"/>
      <dgm:spPr/>
      <dgm:t>
        <a:bodyPr/>
        <a:lstStyle/>
        <a:p>
          <a:r>
            <a:rPr lang="en-US" sz="2400" b="1" dirty="0">
              <a:solidFill>
                <a:srgbClr val="C00000"/>
              </a:solidFill>
              <a:latin typeface="Times" pitchFamily="2" charset="0"/>
            </a:rPr>
            <a:t>Follower</a:t>
          </a:r>
          <a:r>
            <a:rPr lang="en-US" sz="2400" b="1" dirty="0">
              <a:solidFill>
                <a:schemeClr val="tx1"/>
              </a:solidFill>
              <a:latin typeface="Times" pitchFamily="2" charset="0"/>
            </a:rPr>
            <a:t>: Unable but Willing</a:t>
          </a:r>
        </a:p>
      </dgm:t>
    </dgm:pt>
    <dgm:pt modelId="{42B384C3-9777-4DDB-A2FF-FCF87B5CD7D9}" type="parTrans" cxnId="{3D58C18C-DCB8-4E3B-B5E7-ECDB5FFA56F6}">
      <dgm:prSet/>
      <dgm:spPr/>
      <dgm:t>
        <a:bodyPr/>
        <a:lstStyle/>
        <a:p>
          <a:endParaRPr lang="en-US" sz="1600">
            <a:latin typeface="Times" pitchFamily="2" charset="0"/>
          </a:endParaRPr>
        </a:p>
      </dgm:t>
    </dgm:pt>
    <dgm:pt modelId="{C29114F0-D9CC-49BF-A4E7-AAC599DB17E7}" type="sibTrans" cxnId="{3D58C18C-DCB8-4E3B-B5E7-ECDB5FFA56F6}">
      <dgm:prSet/>
      <dgm:spPr/>
      <dgm:t>
        <a:bodyPr/>
        <a:lstStyle/>
        <a:p>
          <a:endParaRPr lang="en-US" sz="1600">
            <a:latin typeface="Times" pitchFamily="2" charset="0"/>
          </a:endParaRPr>
        </a:p>
      </dgm:t>
    </dgm:pt>
    <dgm:pt modelId="{0C3F2E38-10F8-43A6-A020-E87E1394CA31}">
      <dgm:prSet custT="1"/>
      <dgm:spPr/>
      <dgm:t>
        <a:bodyPr/>
        <a:lstStyle/>
        <a:p>
          <a:endParaRPr lang="en-US" sz="1600" dirty="0">
            <a:latin typeface="Times" pitchFamily="2" charset="0"/>
          </a:endParaRPr>
        </a:p>
      </dgm:t>
    </dgm:pt>
    <dgm:pt modelId="{E6E4CDC3-633C-464F-8A58-7FB1F4FFC84C}" type="parTrans" cxnId="{C31C44D7-4FD0-47C1-BB8E-B14D6E37516B}">
      <dgm:prSet/>
      <dgm:spPr/>
      <dgm:t>
        <a:bodyPr/>
        <a:lstStyle/>
        <a:p>
          <a:endParaRPr lang="en-US" sz="1600">
            <a:latin typeface="Times" pitchFamily="2" charset="0"/>
          </a:endParaRPr>
        </a:p>
      </dgm:t>
    </dgm:pt>
    <dgm:pt modelId="{23FC6602-74EF-4CD6-9508-32C61C535D5F}" type="sibTrans" cxnId="{C31C44D7-4FD0-47C1-BB8E-B14D6E37516B}">
      <dgm:prSet/>
      <dgm:spPr/>
      <dgm:t>
        <a:bodyPr/>
        <a:lstStyle/>
        <a:p>
          <a:endParaRPr lang="en-US" sz="1600">
            <a:latin typeface="Times" pitchFamily="2" charset="0"/>
          </a:endParaRPr>
        </a:p>
      </dgm:t>
    </dgm:pt>
    <dgm:pt modelId="{D4EF64AB-94AE-4031-A89C-1F0960AF7785}">
      <dgm:prSet custT="1"/>
      <dgm:spPr/>
      <dgm:t>
        <a:bodyPr/>
        <a:lstStyle/>
        <a:p>
          <a:r>
            <a:rPr lang="en-US" sz="2400" b="1" dirty="0">
              <a:solidFill>
                <a:srgbClr val="C00000"/>
              </a:solidFill>
              <a:latin typeface="Times" pitchFamily="2" charset="0"/>
            </a:rPr>
            <a:t>Follower</a:t>
          </a:r>
          <a:r>
            <a:rPr lang="en-US" sz="2400" b="1" dirty="0">
              <a:solidFill>
                <a:schemeClr val="tx1"/>
              </a:solidFill>
              <a:latin typeface="Times" pitchFamily="2" charset="0"/>
            </a:rPr>
            <a:t>: Able but Unwilling</a:t>
          </a:r>
        </a:p>
      </dgm:t>
    </dgm:pt>
    <dgm:pt modelId="{A35F08A6-1E17-4434-BEF4-69E67DCF7CCF}" type="parTrans" cxnId="{446C3662-8325-4B4A-9F15-5BB93DA2A779}">
      <dgm:prSet/>
      <dgm:spPr/>
      <dgm:t>
        <a:bodyPr/>
        <a:lstStyle/>
        <a:p>
          <a:endParaRPr lang="en-US" sz="1600">
            <a:latin typeface="Times" pitchFamily="2" charset="0"/>
          </a:endParaRPr>
        </a:p>
      </dgm:t>
    </dgm:pt>
    <dgm:pt modelId="{05C80B0F-5B97-40C5-9B8F-311FC57E7302}" type="sibTrans" cxnId="{446C3662-8325-4B4A-9F15-5BB93DA2A779}">
      <dgm:prSet/>
      <dgm:spPr/>
      <dgm:t>
        <a:bodyPr/>
        <a:lstStyle/>
        <a:p>
          <a:endParaRPr lang="en-US" sz="1600">
            <a:latin typeface="Times" pitchFamily="2" charset="0"/>
          </a:endParaRPr>
        </a:p>
      </dgm:t>
    </dgm:pt>
    <dgm:pt modelId="{3450C12F-8C82-4755-8487-D443A6E48838}">
      <dgm:prSet custT="1"/>
      <dgm:spPr/>
      <dgm:t>
        <a:bodyPr/>
        <a:lstStyle/>
        <a:p>
          <a:endParaRPr lang="en-US" sz="1600" b="1" dirty="0">
            <a:solidFill>
              <a:srgbClr val="0070C0"/>
            </a:solidFill>
            <a:latin typeface="Times" pitchFamily="2" charset="0"/>
          </a:endParaRPr>
        </a:p>
      </dgm:t>
    </dgm:pt>
    <dgm:pt modelId="{2FB2C583-5728-4212-B209-125BE87FAA2F}" type="parTrans" cxnId="{D3264140-C94D-4565-AE2F-E4B74FB753C8}">
      <dgm:prSet/>
      <dgm:spPr/>
      <dgm:t>
        <a:bodyPr/>
        <a:lstStyle/>
        <a:p>
          <a:endParaRPr lang="en-US" sz="1600">
            <a:latin typeface="Times" pitchFamily="2" charset="0"/>
          </a:endParaRPr>
        </a:p>
      </dgm:t>
    </dgm:pt>
    <dgm:pt modelId="{DCCCA742-AAE0-4499-9575-DDC02D3A72E6}" type="sibTrans" cxnId="{D3264140-C94D-4565-AE2F-E4B74FB753C8}">
      <dgm:prSet/>
      <dgm:spPr/>
      <dgm:t>
        <a:bodyPr/>
        <a:lstStyle/>
        <a:p>
          <a:endParaRPr lang="en-US" sz="1600">
            <a:latin typeface="Times" pitchFamily="2" charset="0"/>
          </a:endParaRPr>
        </a:p>
      </dgm:t>
    </dgm:pt>
    <dgm:pt modelId="{FF04168E-0721-4A47-AFC8-3A403C468917}">
      <dgm:prSet custT="1"/>
      <dgm:spPr/>
      <dgm:t>
        <a:bodyPr/>
        <a:lstStyle/>
        <a:p>
          <a:r>
            <a:rPr lang="en-US" sz="2400" b="1" dirty="0">
              <a:solidFill>
                <a:srgbClr val="C00000"/>
              </a:solidFill>
              <a:latin typeface="Times" pitchFamily="2" charset="0"/>
            </a:rPr>
            <a:t>Follower</a:t>
          </a:r>
          <a:r>
            <a:rPr lang="en-US" sz="2400" b="1" dirty="0">
              <a:solidFill>
                <a:schemeClr val="tx1"/>
              </a:solidFill>
              <a:latin typeface="Times" pitchFamily="2" charset="0"/>
            </a:rPr>
            <a:t>: Both Able and Willing</a:t>
          </a:r>
        </a:p>
      </dgm:t>
    </dgm:pt>
    <dgm:pt modelId="{67F7FD73-A30A-42C5-9D3D-BA3E6024DEB5}" type="parTrans" cxnId="{F8162ED0-2402-49FB-A6E3-5E7D914BB021}">
      <dgm:prSet/>
      <dgm:spPr/>
      <dgm:t>
        <a:bodyPr/>
        <a:lstStyle/>
        <a:p>
          <a:endParaRPr lang="en-US" sz="1600">
            <a:latin typeface="Times" pitchFamily="2" charset="0"/>
          </a:endParaRPr>
        </a:p>
      </dgm:t>
    </dgm:pt>
    <dgm:pt modelId="{7BB0B8D6-AE4E-4A48-8EF7-CEE8A202FA2E}" type="sibTrans" cxnId="{F8162ED0-2402-49FB-A6E3-5E7D914BB021}">
      <dgm:prSet/>
      <dgm:spPr/>
      <dgm:t>
        <a:bodyPr/>
        <a:lstStyle/>
        <a:p>
          <a:endParaRPr lang="en-US" sz="1600">
            <a:latin typeface="Times" pitchFamily="2" charset="0"/>
          </a:endParaRPr>
        </a:p>
      </dgm:t>
    </dgm:pt>
    <dgm:pt modelId="{3EF662B3-6AB9-48AF-8D0A-B12DAF4A0B75}">
      <dgm:prSet custT="1"/>
      <dgm:spPr/>
      <dgm:t>
        <a:bodyPr/>
        <a:lstStyle/>
        <a:p>
          <a:endParaRPr lang="en-US" sz="1600" b="1" dirty="0">
            <a:solidFill>
              <a:srgbClr val="00B050"/>
            </a:solidFill>
            <a:latin typeface="Times" pitchFamily="2" charset="0"/>
          </a:endParaRPr>
        </a:p>
      </dgm:t>
    </dgm:pt>
    <dgm:pt modelId="{E2984758-3937-4CFE-BBDD-2BEB8405EE15}" type="parTrans" cxnId="{F88574DA-DB53-4B20-9F9D-2195AF16211C}">
      <dgm:prSet/>
      <dgm:spPr/>
      <dgm:t>
        <a:bodyPr/>
        <a:lstStyle/>
        <a:p>
          <a:endParaRPr lang="en-US" sz="1600">
            <a:latin typeface="Times" pitchFamily="2" charset="0"/>
          </a:endParaRPr>
        </a:p>
      </dgm:t>
    </dgm:pt>
    <dgm:pt modelId="{4E3BE4FA-724F-42C8-A1CC-15A9E2324C69}" type="sibTrans" cxnId="{F88574DA-DB53-4B20-9F9D-2195AF16211C}">
      <dgm:prSet/>
      <dgm:spPr/>
      <dgm:t>
        <a:bodyPr/>
        <a:lstStyle/>
        <a:p>
          <a:endParaRPr lang="en-US" sz="1600">
            <a:latin typeface="Times" pitchFamily="2" charset="0"/>
          </a:endParaRPr>
        </a:p>
      </dgm:t>
    </dgm:pt>
    <dgm:pt modelId="{80BAD6A3-77A9-42C3-9C7F-7FE52C23582D}" type="pres">
      <dgm:prSet presAssocID="{6F0B4914-76BD-41F8-8715-3D6CF82EC64F}" presName="linear" presStyleCnt="0">
        <dgm:presLayoutVars>
          <dgm:dir/>
          <dgm:animLvl val="lvl"/>
          <dgm:resizeHandles val="exact"/>
        </dgm:presLayoutVars>
      </dgm:prSet>
      <dgm:spPr/>
    </dgm:pt>
    <dgm:pt modelId="{D4BA93EE-F3D2-4D71-8DDA-34939DFE323B}" type="pres">
      <dgm:prSet presAssocID="{32D76708-BE2B-48F3-BEDF-E9D6570D9719}" presName="parentLin" presStyleCnt="0"/>
      <dgm:spPr/>
    </dgm:pt>
    <dgm:pt modelId="{887E3A07-6D40-4DF7-9E2D-0D91B35B1961}" type="pres">
      <dgm:prSet presAssocID="{32D76708-BE2B-48F3-BEDF-E9D6570D9719}" presName="parentLeftMargin" presStyleLbl="node1" presStyleIdx="0" presStyleCnt="4"/>
      <dgm:spPr/>
    </dgm:pt>
    <dgm:pt modelId="{52BC3FA1-A70F-4EDE-B3D0-94552CEB292E}" type="pres">
      <dgm:prSet presAssocID="{32D76708-BE2B-48F3-BEDF-E9D6570D9719}" presName="parentText" presStyleLbl="node1" presStyleIdx="0" presStyleCnt="4">
        <dgm:presLayoutVars>
          <dgm:chMax val="0"/>
          <dgm:bulletEnabled val="1"/>
        </dgm:presLayoutVars>
      </dgm:prSet>
      <dgm:spPr/>
    </dgm:pt>
    <dgm:pt modelId="{6953DB15-817A-46EB-A9AC-3AB285FA28BF}" type="pres">
      <dgm:prSet presAssocID="{32D76708-BE2B-48F3-BEDF-E9D6570D9719}" presName="negativeSpace" presStyleCnt="0"/>
      <dgm:spPr/>
    </dgm:pt>
    <dgm:pt modelId="{4F19DD12-D081-490E-8B3C-FA00F998C350}" type="pres">
      <dgm:prSet presAssocID="{32D76708-BE2B-48F3-BEDF-E9D6570D9719}" presName="childText" presStyleLbl="conFgAcc1" presStyleIdx="0" presStyleCnt="4">
        <dgm:presLayoutVars>
          <dgm:bulletEnabled val="1"/>
        </dgm:presLayoutVars>
      </dgm:prSet>
      <dgm:spPr/>
    </dgm:pt>
    <dgm:pt modelId="{67702D12-88AD-4754-A5F7-F11DE2AD1A3C}" type="pres">
      <dgm:prSet presAssocID="{FD868225-6B50-4AC4-8DF8-1508C3197935}" presName="spaceBetweenRectangles" presStyleCnt="0"/>
      <dgm:spPr/>
    </dgm:pt>
    <dgm:pt modelId="{2107B824-E8E8-4A7B-872A-67F9F5A8C5EF}" type="pres">
      <dgm:prSet presAssocID="{C6BE00A8-0BC4-4440-9E22-7EC71C44D5F0}" presName="parentLin" presStyleCnt="0"/>
      <dgm:spPr/>
    </dgm:pt>
    <dgm:pt modelId="{472FC5BE-1D95-407A-9843-81B04445B908}" type="pres">
      <dgm:prSet presAssocID="{C6BE00A8-0BC4-4440-9E22-7EC71C44D5F0}" presName="parentLeftMargin" presStyleLbl="node1" presStyleIdx="0" presStyleCnt="4"/>
      <dgm:spPr/>
    </dgm:pt>
    <dgm:pt modelId="{BDAA0923-A43A-4170-AA91-A6DAF1D6BDC9}" type="pres">
      <dgm:prSet presAssocID="{C6BE00A8-0BC4-4440-9E22-7EC71C44D5F0}" presName="parentText" presStyleLbl="node1" presStyleIdx="1" presStyleCnt="4">
        <dgm:presLayoutVars>
          <dgm:chMax val="0"/>
          <dgm:bulletEnabled val="1"/>
        </dgm:presLayoutVars>
      </dgm:prSet>
      <dgm:spPr/>
    </dgm:pt>
    <dgm:pt modelId="{9D01793D-9E3F-42D5-B041-4761E1C03989}" type="pres">
      <dgm:prSet presAssocID="{C6BE00A8-0BC4-4440-9E22-7EC71C44D5F0}" presName="negativeSpace" presStyleCnt="0"/>
      <dgm:spPr/>
    </dgm:pt>
    <dgm:pt modelId="{018DAC50-5D12-49E6-9D91-F7D4FFA1E510}" type="pres">
      <dgm:prSet presAssocID="{C6BE00A8-0BC4-4440-9E22-7EC71C44D5F0}" presName="childText" presStyleLbl="conFgAcc1" presStyleIdx="1" presStyleCnt="4">
        <dgm:presLayoutVars>
          <dgm:bulletEnabled val="1"/>
        </dgm:presLayoutVars>
      </dgm:prSet>
      <dgm:spPr/>
    </dgm:pt>
    <dgm:pt modelId="{ED790972-6F76-4BBB-8E98-3B51165AA24B}" type="pres">
      <dgm:prSet presAssocID="{C29114F0-D9CC-49BF-A4E7-AAC599DB17E7}" presName="spaceBetweenRectangles" presStyleCnt="0"/>
      <dgm:spPr/>
    </dgm:pt>
    <dgm:pt modelId="{E10719E9-8725-4A12-BAE2-262BDA900E54}" type="pres">
      <dgm:prSet presAssocID="{D4EF64AB-94AE-4031-A89C-1F0960AF7785}" presName="parentLin" presStyleCnt="0"/>
      <dgm:spPr/>
    </dgm:pt>
    <dgm:pt modelId="{64154296-EFE4-4C5B-8A08-6C34DB198239}" type="pres">
      <dgm:prSet presAssocID="{D4EF64AB-94AE-4031-A89C-1F0960AF7785}" presName="parentLeftMargin" presStyleLbl="node1" presStyleIdx="1" presStyleCnt="4"/>
      <dgm:spPr/>
    </dgm:pt>
    <dgm:pt modelId="{048173EB-2F93-4465-8BDE-7E6DA4C2812F}" type="pres">
      <dgm:prSet presAssocID="{D4EF64AB-94AE-4031-A89C-1F0960AF7785}" presName="parentText" presStyleLbl="node1" presStyleIdx="2" presStyleCnt="4">
        <dgm:presLayoutVars>
          <dgm:chMax val="0"/>
          <dgm:bulletEnabled val="1"/>
        </dgm:presLayoutVars>
      </dgm:prSet>
      <dgm:spPr/>
    </dgm:pt>
    <dgm:pt modelId="{B545483F-7A4D-4AD2-887E-92C497E75743}" type="pres">
      <dgm:prSet presAssocID="{D4EF64AB-94AE-4031-A89C-1F0960AF7785}" presName="negativeSpace" presStyleCnt="0"/>
      <dgm:spPr/>
    </dgm:pt>
    <dgm:pt modelId="{B4185CE5-087C-4D10-B5B0-5308741DD756}" type="pres">
      <dgm:prSet presAssocID="{D4EF64AB-94AE-4031-A89C-1F0960AF7785}" presName="childText" presStyleLbl="conFgAcc1" presStyleIdx="2" presStyleCnt="4">
        <dgm:presLayoutVars>
          <dgm:bulletEnabled val="1"/>
        </dgm:presLayoutVars>
      </dgm:prSet>
      <dgm:spPr/>
    </dgm:pt>
    <dgm:pt modelId="{FD5033A1-6A8D-4A51-8736-3F0D7DBF47A8}" type="pres">
      <dgm:prSet presAssocID="{05C80B0F-5B97-40C5-9B8F-311FC57E7302}" presName="spaceBetweenRectangles" presStyleCnt="0"/>
      <dgm:spPr/>
    </dgm:pt>
    <dgm:pt modelId="{12B0581B-888B-4CFC-8D1A-31EF7C0456DB}" type="pres">
      <dgm:prSet presAssocID="{FF04168E-0721-4A47-AFC8-3A403C468917}" presName="parentLin" presStyleCnt="0"/>
      <dgm:spPr/>
    </dgm:pt>
    <dgm:pt modelId="{5C7D920E-7167-4E75-AFD0-1F718683110A}" type="pres">
      <dgm:prSet presAssocID="{FF04168E-0721-4A47-AFC8-3A403C468917}" presName="parentLeftMargin" presStyleLbl="node1" presStyleIdx="2" presStyleCnt="4"/>
      <dgm:spPr/>
    </dgm:pt>
    <dgm:pt modelId="{330E8143-A74F-47AF-B23E-8F96BE867A5A}" type="pres">
      <dgm:prSet presAssocID="{FF04168E-0721-4A47-AFC8-3A403C468917}" presName="parentText" presStyleLbl="node1" presStyleIdx="3" presStyleCnt="4">
        <dgm:presLayoutVars>
          <dgm:chMax val="0"/>
          <dgm:bulletEnabled val="1"/>
        </dgm:presLayoutVars>
      </dgm:prSet>
      <dgm:spPr/>
    </dgm:pt>
    <dgm:pt modelId="{BDCC5D48-F542-41A5-9034-8051230D3C3D}" type="pres">
      <dgm:prSet presAssocID="{FF04168E-0721-4A47-AFC8-3A403C468917}" presName="negativeSpace" presStyleCnt="0"/>
      <dgm:spPr/>
    </dgm:pt>
    <dgm:pt modelId="{2F767D5E-5E5A-41F0-82C7-D907ABCD82DE}" type="pres">
      <dgm:prSet presAssocID="{FF04168E-0721-4A47-AFC8-3A403C468917}" presName="childText" presStyleLbl="conFgAcc1" presStyleIdx="3" presStyleCnt="4">
        <dgm:presLayoutVars>
          <dgm:bulletEnabled val="1"/>
        </dgm:presLayoutVars>
      </dgm:prSet>
      <dgm:spPr/>
    </dgm:pt>
  </dgm:ptLst>
  <dgm:cxnLst>
    <dgm:cxn modelId="{33901C05-2A88-474D-9D40-E1FB897BC3BB}" type="presOf" srcId="{C6BE00A8-0BC4-4440-9E22-7EC71C44D5F0}" destId="{BDAA0923-A43A-4170-AA91-A6DAF1D6BDC9}" srcOrd="1" destOrd="0" presId="urn:microsoft.com/office/officeart/2005/8/layout/list1"/>
    <dgm:cxn modelId="{0E981921-91B4-4B14-B7F9-0A248E2AA4F1}" srcId="{6F0B4914-76BD-41F8-8715-3D6CF82EC64F}" destId="{32D76708-BE2B-48F3-BEDF-E9D6570D9719}" srcOrd="0" destOrd="0" parTransId="{2DE5CA0B-8E44-4A95-A6C6-0D9EDD7DC511}" sibTransId="{FD868225-6B50-4AC4-8DF8-1508C3197935}"/>
    <dgm:cxn modelId="{6C66DF2E-15B3-4094-8292-25FF519D6B4A}" srcId="{32D76708-BE2B-48F3-BEDF-E9D6570D9719}" destId="{C181FF1C-39A5-4EF8-AAFB-C8782A4FBA95}" srcOrd="0" destOrd="0" parTransId="{3B5CC330-526D-4CD3-99F8-F7FA950F98F4}" sibTransId="{7CBBB242-23CC-4AD9-A8FC-A7027F136BFC}"/>
    <dgm:cxn modelId="{D3264140-C94D-4565-AE2F-E4B74FB753C8}" srcId="{D4EF64AB-94AE-4031-A89C-1F0960AF7785}" destId="{3450C12F-8C82-4755-8487-D443A6E48838}" srcOrd="0" destOrd="0" parTransId="{2FB2C583-5728-4212-B209-125BE87FAA2F}" sibTransId="{DCCCA742-AAE0-4499-9575-DDC02D3A72E6}"/>
    <dgm:cxn modelId="{446C3662-8325-4B4A-9F15-5BB93DA2A779}" srcId="{6F0B4914-76BD-41F8-8715-3D6CF82EC64F}" destId="{D4EF64AB-94AE-4031-A89C-1F0960AF7785}" srcOrd="2" destOrd="0" parTransId="{A35F08A6-1E17-4434-BEF4-69E67DCF7CCF}" sibTransId="{05C80B0F-5B97-40C5-9B8F-311FC57E7302}"/>
    <dgm:cxn modelId="{CB5CC94A-ED8D-47A9-AD49-7858F8C2975E}" type="presOf" srcId="{3450C12F-8C82-4755-8487-D443A6E48838}" destId="{B4185CE5-087C-4D10-B5B0-5308741DD756}" srcOrd="0" destOrd="0" presId="urn:microsoft.com/office/officeart/2005/8/layout/list1"/>
    <dgm:cxn modelId="{EDD7B66C-B805-4869-9DF1-2F215F199234}" type="presOf" srcId="{32D76708-BE2B-48F3-BEDF-E9D6570D9719}" destId="{52BC3FA1-A70F-4EDE-B3D0-94552CEB292E}" srcOrd="1" destOrd="0" presId="urn:microsoft.com/office/officeart/2005/8/layout/list1"/>
    <dgm:cxn modelId="{969E3050-E18E-407A-8FD5-832FF850534A}" type="presOf" srcId="{D4EF64AB-94AE-4031-A89C-1F0960AF7785}" destId="{048173EB-2F93-4465-8BDE-7E6DA4C2812F}" srcOrd="1" destOrd="0" presId="urn:microsoft.com/office/officeart/2005/8/layout/list1"/>
    <dgm:cxn modelId="{D59DC075-20DB-4916-A6F1-FD194FE06CCB}" type="presOf" srcId="{FF04168E-0721-4A47-AFC8-3A403C468917}" destId="{5C7D920E-7167-4E75-AFD0-1F718683110A}" srcOrd="0" destOrd="0" presId="urn:microsoft.com/office/officeart/2005/8/layout/list1"/>
    <dgm:cxn modelId="{4CE71656-DAB9-4BBA-AC0F-1713FCA9EE4E}" type="presOf" srcId="{C6BE00A8-0BC4-4440-9E22-7EC71C44D5F0}" destId="{472FC5BE-1D95-407A-9843-81B04445B908}" srcOrd="0" destOrd="0" presId="urn:microsoft.com/office/officeart/2005/8/layout/list1"/>
    <dgm:cxn modelId="{1F945B85-4526-4C6A-8C44-EAFE91ED7A47}" type="presOf" srcId="{6F0B4914-76BD-41F8-8715-3D6CF82EC64F}" destId="{80BAD6A3-77A9-42C3-9C7F-7FE52C23582D}" srcOrd="0" destOrd="0" presId="urn:microsoft.com/office/officeart/2005/8/layout/list1"/>
    <dgm:cxn modelId="{3D58C18C-DCB8-4E3B-B5E7-ECDB5FFA56F6}" srcId="{6F0B4914-76BD-41F8-8715-3D6CF82EC64F}" destId="{C6BE00A8-0BC4-4440-9E22-7EC71C44D5F0}" srcOrd="1" destOrd="0" parTransId="{42B384C3-9777-4DDB-A2FF-FCF87B5CD7D9}" sibTransId="{C29114F0-D9CC-49BF-A4E7-AAC599DB17E7}"/>
    <dgm:cxn modelId="{6611C593-FA71-4687-A270-F9CA51C19B1B}" type="presOf" srcId="{3EF662B3-6AB9-48AF-8D0A-B12DAF4A0B75}" destId="{2F767D5E-5E5A-41F0-82C7-D907ABCD82DE}" srcOrd="0" destOrd="0" presId="urn:microsoft.com/office/officeart/2005/8/layout/list1"/>
    <dgm:cxn modelId="{222AF9A0-1941-49D2-9100-64A4BA4E0582}" type="presOf" srcId="{FF04168E-0721-4A47-AFC8-3A403C468917}" destId="{330E8143-A74F-47AF-B23E-8F96BE867A5A}" srcOrd="1" destOrd="0" presId="urn:microsoft.com/office/officeart/2005/8/layout/list1"/>
    <dgm:cxn modelId="{3E192BC1-9B14-4420-9D0D-78BE7ADE00DE}" type="presOf" srcId="{32D76708-BE2B-48F3-BEDF-E9D6570D9719}" destId="{887E3A07-6D40-4DF7-9E2D-0D91B35B1961}" srcOrd="0" destOrd="0" presId="urn:microsoft.com/office/officeart/2005/8/layout/list1"/>
    <dgm:cxn modelId="{DE92E5CF-557F-4D96-96B8-8ADB2E27C2B6}" type="presOf" srcId="{0C3F2E38-10F8-43A6-A020-E87E1394CA31}" destId="{018DAC50-5D12-49E6-9D91-F7D4FFA1E510}" srcOrd="0" destOrd="0" presId="urn:microsoft.com/office/officeart/2005/8/layout/list1"/>
    <dgm:cxn modelId="{F8162ED0-2402-49FB-A6E3-5E7D914BB021}" srcId="{6F0B4914-76BD-41F8-8715-3D6CF82EC64F}" destId="{FF04168E-0721-4A47-AFC8-3A403C468917}" srcOrd="3" destOrd="0" parTransId="{67F7FD73-A30A-42C5-9D3D-BA3E6024DEB5}" sibTransId="{7BB0B8D6-AE4E-4A48-8EF7-CEE8A202FA2E}"/>
    <dgm:cxn modelId="{C31C44D7-4FD0-47C1-BB8E-B14D6E37516B}" srcId="{C6BE00A8-0BC4-4440-9E22-7EC71C44D5F0}" destId="{0C3F2E38-10F8-43A6-A020-E87E1394CA31}" srcOrd="0" destOrd="0" parTransId="{E6E4CDC3-633C-464F-8A58-7FB1F4FFC84C}" sibTransId="{23FC6602-74EF-4CD6-9508-32C61C535D5F}"/>
    <dgm:cxn modelId="{F88574DA-DB53-4B20-9F9D-2195AF16211C}" srcId="{FF04168E-0721-4A47-AFC8-3A403C468917}" destId="{3EF662B3-6AB9-48AF-8D0A-B12DAF4A0B75}" srcOrd="0" destOrd="0" parTransId="{E2984758-3937-4CFE-BBDD-2BEB8405EE15}" sibTransId="{4E3BE4FA-724F-42C8-A1CC-15A9E2324C69}"/>
    <dgm:cxn modelId="{12EFCAE3-6272-4294-8127-D7BFC80B4174}" type="presOf" srcId="{D4EF64AB-94AE-4031-A89C-1F0960AF7785}" destId="{64154296-EFE4-4C5B-8A08-6C34DB198239}" srcOrd="0" destOrd="0" presId="urn:microsoft.com/office/officeart/2005/8/layout/list1"/>
    <dgm:cxn modelId="{8887C2E9-ED11-45ED-B7DF-13BEB32A9704}" type="presOf" srcId="{C181FF1C-39A5-4EF8-AAFB-C8782A4FBA95}" destId="{4F19DD12-D081-490E-8B3C-FA00F998C350}" srcOrd="0" destOrd="0" presId="urn:microsoft.com/office/officeart/2005/8/layout/list1"/>
    <dgm:cxn modelId="{E325D979-B8EF-4205-907E-F68F9B260E0E}" type="presParOf" srcId="{80BAD6A3-77A9-42C3-9C7F-7FE52C23582D}" destId="{D4BA93EE-F3D2-4D71-8DDA-34939DFE323B}" srcOrd="0" destOrd="0" presId="urn:microsoft.com/office/officeart/2005/8/layout/list1"/>
    <dgm:cxn modelId="{8E25CB54-652C-4223-8EFF-CACA3D500BBF}" type="presParOf" srcId="{D4BA93EE-F3D2-4D71-8DDA-34939DFE323B}" destId="{887E3A07-6D40-4DF7-9E2D-0D91B35B1961}" srcOrd="0" destOrd="0" presId="urn:microsoft.com/office/officeart/2005/8/layout/list1"/>
    <dgm:cxn modelId="{FE741E02-6090-4EAF-92AA-6959E9C042F7}" type="presParOf" srcId="{D4BA93EE-F3D2-4D71-8DDA-34939DFE323B}" destId="{52BC3FA1-A70F-4EDE-B3D0-94552CEB292E}" srcOrd="1" destOrd="0" presId="urn:microsoft.com/office/officeart/2005/8/layout/list1"/>
    <dgm:cxn modelId="{E56FC2B8-2919-478C-9F6B-DD4E7D03F84F}" type="presParOf" srcId="{80BAD6A3-77A9-42C3-9C7F-7FE52C23582D}" destId="{6953DB15-817A-46EB-A9AC-3AB285FA28BF}" srcOrd="1" destOrd="0" presId="urn:microsoft.com/office/officeart/2005/8/layout/list1"/>
    <dgm:cxn modelId="{2D9309D5-A748-4D11-9344-433975CC4E27}" type="presParOf" srcId="{80BAD6A3-77A9-42C3-9C7F-7FE52C23582D}" destId="{4F19DD12-D081-490E-8B3C-FA00F998C350}" srcOrd="2" destOrd="0" presId="urn:microsoft.com/office/officeart/2005/8/layout/list1"/>
    <dgm:cxn modelId="{9FC02238-D97B-4594-BF19-5B692E4BFC14}" type="presParOf" srcId="{80BAD6A3-77A9-42C3-9C7F-7FE52C23582D}" destId="{67702D12-88AD-4754-A5F7-F11DE2AD1A3C}" srcOrd="3" destOrd="0" presId="urn:microsoft.com/office/officeart/2005/8/layout/list1"/>
    <dgm:cxn modelId="{B490FD5A-6378-4935-8546-5C93E2CE708B}" type="presParOf" srcId="{80BAD6A3-77A9-42C3-9C7F-7FE52C23582D}" destId="{2107B824-E8E8-4A7B-872A-67F9F5A8C5EF}" srcOrd="4" destOrd="0" presId="urn:microsoft.com/office/officeart/2005/8/layout/list1"/>
    <dgm:cxn modelId="{64C08554-4B72-43B0-AA56-A6E4B1313BDB}" type="presParOf" srcId="{2107B824-E8E8-4A7B-872A-67F9F5A8C5EF}" destId="{472FC5BE-1D95-407A-9843-81B04445B908}" srcOrd="0" destOrd="0" presId="urn:microsoft.com/office/officeart/2005/8/layout/list1"/>
    <dgm:cxn modelId="{66AF7BFD-0B91-4C6F-AC39-51164F57AD60}" type="presParOf" srcId="{2107B824-E8E8-4A7B-872A-67F9F5A8C5EF}" destId="{BDAA0923-A43A-4170-AA91-A6DAF1D6BDC9}" srcOrd="1" destOrd="0" presId="urn:microsoft.com/office/officeart/2005/8/layout/list1"/>
    <dgm:cxn modelId="{A03FDB6B-57DE-41BE-8EF2-513C207587A3}" type="presParOf" srcId="{80BAD6A3-77A9-42C3-9C7F-7FE52C23582D}" destId="{9D01793D-9E3F-42D5-B041-4761E1C03989}" srcOrd="5" destOrd="0" presId="urn:microsoft.com/office/officeart/2005/8/layout/list1"/>
    <dgm:cxn modelId="{C987D3C8-F05B-456A-B4DF-5419781634F8}" type="presParOf" srcId="{80BAD6A3-77A9-42C3-9C7F-7FE52C23582D}" destId="{018DAC50-5D12-49E6-9D91-F7D4FFA1E510}" srcOrd="6" destOrd="0" presId="urn:microsoft.com/office/officeart/2005/8/layout/list1"/>
    <dgm:cxn modelId="{515D61E1-C798-4359-98EF-0C00FD2EF36C}" type="presParOf" srcId="{80BAD6A3-77A9-42C3-9C7F-7FE52C23582D}" destId="{ED790972-6F76-4BBB-8E98-3B51165AA24B}" srcOrd="7" destOrd="0" presId="urn:microsoft.com/office/officeart/2005/8/layout/list1"/>
    <dgm:cxn modelId="{39991B34-9773-43C0-B45E-ADB1C57CDE7D}" type="presParOf" srcId="{80BAD6A3-77A9-42C3-9C7F-7FE52C23582D}" destId="{E10719E9-8725-4A12-BAE2-262BDA900E54}" srcOrd="8" destOrd="0" presId="urn:microsoft.com/office/officeart/2005/8/layout/list1"/>
    <dgm:cxn modelId="{9A78DE1F-D371-470D-A777-46F839EEE33D}" type="presParOf" srcId="{E10719E9-8725-4A12-BAE2-262BDA900E54}" destId="{64154296-EFE4-4C5B-8A08-6C34DB198239}" srcOrd="0" destOrd="0" presId="urn:microsoft.com/office/officeart/2005/8/layout/list1"/>
    <dgm:cxn modelId="{2865D9C8-9919-4F0A-A7FC-D943FFCCD56F}" type="presParOf" srcId="{E10719E9-8725-4A12-BAE2-262BDA900E54}" destId="{048173EB-2F93-4465-8BDE-7E6DA4C2812F}" srcOrd="1" destOrd="0" presId="urn:microsoft.com/office/officeart/2005/8/layout/list1"/>
    <dgm:cxn modelId="{8F0A69F7-96C6-49AB-94F2-D9DC56EDAA59}" type="presParOf" srcId="{80BAD6A3-77A9-42C3-9C7F-7FE52C23582D}" destId="{B545483F-7A4D-4AD2-887E-92C497E75743}" srcOrd="9" destOrd="0" presId="urn:microsoft.com/office/officeart/2005/8/layout/list1"/>
    <dgm:cxn modelId="{A4658669-F3D8-4999-AD40-E2FF5549976E}" type="presParOf" srcId="{80BAD6A3-77A9-42C3-9C7F-7FE52C23582D}" destId="{B4185CE5-087C-4D10-B5B0-5308741DD756}" srcOrd="10" destOrd="0" presId="urn:microsoft.com/office/officeart/2005/8/layout/list1"/>
    <dgm:cxn modelId="{DC134064-F8B5-4E4B-B849-769C336ED061}" type="presParOf" srcId="{80BAD6A3-77A9-42C3-9C7F-7FE52C23582D}" destId="{FD5033A1-6A8D-4A51-8736-3F0D7DBF47A8}" srcOrd="11" destOrd="0" presId="urn:microsoft.com/office/officeart/2005/8/layout/list1"/>
    <dgm:cxn modelId="{759BC9C2-9C4D-4729-9D8F-256CC7455FB9}" type="presParOf" srcId="{80BAD6A3-77A9-42C3-9C7F-7FE52C23582D}" destId="{12B0581B-888B-4CFC-8D1A-31EF7C0456DB}" srcOrd="12" destOrd="0" presId="urn:microsoft.com/office/officeart/2005/8/layout/list1"/>
    <dgm:cxn modelId="{C821742B-B640-47E5-B63A-DFFA3922ED6D}" type="presParOf" srcId="{12B0581B-888B-4CFC-8D1A-31EF7C0456DB}" destId="{5C7D920E-7167-4E75-AFD0-1F718683110A}" srcOrd="0" destOrd="0" presId="urn:microsoft.com/office/officeart/2005/8/layout/list1"/>
    <dgm:cxn modelId="{EFBC95B7-9287-4365-8E9F-6C5C703B14E1}" type="presParOf" srcId="{12B0581B-888B-4CFC-8D1A-31EF7C0456DB}" destId="{330E8143-A74F-47AF-B23E-8F96BE867A5A}" srcOrd="1" destOrd="0" presId="urn:microsoft.com/office/officeart/2005/8/layout/list1"/>
    <dgm:cxn modelId="{567545E6-260B-453E-9358-6A0E889421DA}" type="presParOf" srcId="{80BAD6A3-77A9-42C3-9C7F-7FE52C23582D}" destId="{BDCC5D48-F542-41A5-9034-8051230D3C3D}" srcOrd="13" destOrd="0" presId="urn:microsoft.com/office/officeart/2005/8/layout/list1"/>
    <dgm:cxn modelId="{18504C42-E299-460B-BAA6-8794F4A1542B}" type="presParOf" srcId="{80BAD6A3-77A9-42C3-9C7F-7FE52C23582D}" destId="{2F767D5E-5E5A-41F0-82C7-D907ABCD82DE}"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0B4914-76BD-41F8-8715-3D6CF82EC64F}" type="doc">
      <dgm:prSet loTypeId="urn:microsoft.com/office/officeart/2005/8/layout/list1" loCatId="list" qsTypeId="urn:microsoft.com/office/officeart/2005/8/quickstyle/simple1" qsCatId="simple" csTypeId="urn:microsoft.com/office/officeart/2005/8/colors/accent4_2" csCatId="accent4" phldr="1"/>
      <dgm:spPr/>
      <dgm:t>
        <a:bodyPr/>
        <a:lstStyle/>
        <a:p>
          <a:endParaRPr lang="en-US"/>
        </a:p>
      </dgm:t>
    </dgm:pt>
    <dgm:pt modelId="{32D76708-BE2B-48F3-BEDF-E9D6570D9719}">
      <dgm:prSet custT="1"/>
      <dgm:spPr/>
      <dgm:t>
        <a:bodyPr/>
        <a:lstStyle/>
        <a:p>
          <a:r>
            <a:rPr lang="en-US" sz="2000" b="1" dirty="0">
              <a:solidFill>
                <a:schemeClr val="tx1"/>
              </a:solidFill>
              <a:latin typeface="Times" pitchFamily="2" charset="0"/>
            </a:rPr>
            <a:t>Follower: Unable and Unwilling</a:t>
          </a:r>
        </a:p>
      </dgm:t>
    </dgm:pt>
    <dgm:pt modelId="{2DE5CA0B-8E44-4A95-A6C6-0D9EDD7DC511}" type="parTrans" cxnId="{0E981921-91B4-4B14-B7F9-0A248E2AA4F1}">
      <dgm:prSet/>
      <dgm:spPr/>
      <dgm:t>
        <a:bodyPr/>
        <a:lstStyle/>
        <a:p>
          <a:endParaRPr lang="en-US" sz="2000">
            <a:latin typeface="Times" pitchFamily="2" charset="0"/>
          </a:endParaRPr>
        </a:p>
      </dgm:t>
    </dgm:pt>
    <dgm:pt modelId="{FD868225-6B50-4AC4-8DF8-1508C3197935}" type="sibTrans" cxnId="{0E981921-91B4-4B14-B7F9-0A248E2AA4F1}">
      <dgm:prSet/>
      <dgm:spPr/>
      <dgm:t>
        <a:bodyPr/>
        <a:lstStyle/>
        <a:p>
          <a:endParaRPr lang="en-US" sz="2000">
            <a:latin typeface="Times" pitchFamily="2" charset="0"/>
          </a:endParaRPr>
        </a:p>
      </dgm:t>
    </dgm:pt>
    <dgm:pt modelId="{C181FF1C-39A5-4EF8-AAFB-C8782A4FBA95}">
      <dgm:prSet custT="1"/>
      <dgm:spPr/>
      <dgm:t>
        <a:bodyPr/>
        <a:lstStyle/>
        <a:p>
          <a:r>
            <a:rPr lang="en-US" sz="1800" dirty="0">
              <a:latin typeface="Times" pitchFamily="2" charset="0"/>
            </a:rPr>
            <a:t>Leader: High Task – High Relationship. </a:t>
          </a:r>
          <a:r>
            <a:rPr lang="en-US" sz="2800" b="1" dirty="0">
              <a:solidFill>
                <a:srgbClr val="7030A0"/>
              </a:solidFill>
              <a:latin typeface="Times" pitchFamily="2" charset="0"/>
            </a:rPr>
            <a:t>(Coaching)</a:t>
          </a:r>
          <a:r>
            <a:rPr lang="en-US" sz="3200" dirty="0">
              <a:solidFill>
                <a:srgbClr val="7030A0"/>
              </a:solidFill>
              <a:latin typeface="Times" pitchFamily="2" charset="0"/>
            </a:rPr>
            <a:t> </a:t>
          </a:r>
          <a:endParaRPr lang="en-US" sz="2000" b="1" dirty="0">
            <a:solidFill>
              <a:srgbClr val="7030A0"/>
            </a:solidFill>
            <a:latin typeface="Times" pitchFamily="2" charset="0"/>
          </a:endParaRPr>
        </a:p>
      </dgm:t>
    </dgm:pt>
    <dgm:pt modelId="{3B5CC330-526D-4CD3-99F8-F7FA950F98F4}" type="parTrans" cxnId="{6C66DF2E-15B3-4094-8292-25FF519D6B4A}">
      <dgm:prSet/>
      <dgm:spPr/>
      <dgm:t>
        <a:bodyPr/>
        <a:lstStyle/>
        <a:p>
          <a:endParaRPr lang="en-US" sz="2000">
            <a:latin typeface="Times" pitchFamily="2" charset="0"/>
          </a:endParaRPr>
        </a:p>
      </dgm:t>
    </dgm:pt>
    <dgm:pt modelId="{7CBBB242-23CC-4AD9-A8FC-A7027F136BFC}" type="sibTrans" cxnId="{6C66DF2E-15B3-4094-8292-25FF519D6B4A}">
      <dgm:prSet/>
      <dgm:spPr/>
      <dgm:t>
        <a:bodyPr/>
        <a:lstStyle/>
        <a:p>
          <a:endParaRPr lang="en-US" sz="2000">
            <a:latin typeface="Times" pitchFamily="2" charset="0"/>
          </a:endParaRPr>
        </a:p>
      </dgm:t>
    </dgm:pt>
    <dgm:pt modelId="{C6BE00A8-0BC4-4440-9E22-7EC71C44D5F0}">
      <dgm:prSet custT="1"/>
      <dgm:spPr/>
      <dgm:t>
        <a:bodyPr/>
        <a:lstStyle/>
        <a:p>
          <a:r>
            <a:rPr lang="en-US" sz="2000" b="1" dirty="0">
              <a:solidFill>
                <a:schemeClr val="tx1"/>
              </a:solidFill>
              <a:latin typeface="Times" pitchFamily="2" charset="0"/>
            </a:rPr>
            <a:t>Follower: Unable but Willing</a:t>
          </a:r>
        </a:p>
      </dgm:t>
    </dgm:pt>
    <dgm:pt modelId="{42B384C3-9777-4DDB-A2FF-FCF87B5CD7D9}" type="parTrans" cxnId="{3D58C18C-DCB8-4E3B-B5E7-ECDB5FFA56F6}">
      <dgm:prSet/>
      <dgm:spPr/>
      <dgm:t>
        <a:bodyPr/>
        <a:lstStyle/>
        <a:p>
          <a:endParaRPr lang="en-US" sz="2000">
            <a:latin typeface="Times" pitchFamily="2" charset="0"/>
          </a:endParaRPr>
        </a:p>
      </dgm:t>
    </dgm:pt>
    <dgm:pt modelId="{C29114F0-D9CC-49BF-A4E7-AAC599DB17E7}" type="sibTrans" cxnId="{3D58C18C-DCB8-4E3B-B5E7-ECDB5FFA56F6}">
      <dgm:prSet/>
      <dgm:spPr/>
      <dgm:t>
        <a:bodyPr/>
        <a:lstStyle/>
        <a:p>
          <a:endParaRPr lang="en-US" sz="2000">
            <a:latin typeface="Times" pitchFamily="2" charset="0"/>
          </a:endParaRPr>
        </a:p>
      </dgm:t>
    </dgm:pt>
    <dgm:pt modelId="{0C3F2E38-10F8-43A6-A020-E87E1394CA31}">
      <dgm:prSet custT="1"/>
      <dgm:spPr/>
      <dgm:t>
        <a:bodyPr/>
        <a:lstStyle/>
        <a:p>
          <a:r>
            <a:rPr lang="en-US" sz="1800" dirty="0">
              <a:latin typeface="Times" pitchFamily="2" charset="0"/>
            </a:rPr>
            <a:t>Leader: High Task- Low Relationship. </a:t>
          </a:r>
          <a:r>
            <a:rPr lang="en-US" sz="2800" b="1" dirty="0">
              <a:solidFill>
                <a:srgbClr val="FF0000"/>
              </a:solidFill>
              <a:latin typeface="Times" pitchFamily="2" charset="0"/>
            </a:rPr>
            <a:t>(Directing)</a:t>
          </a:r>
          <a:endParaRPr lang="en-US" sz="1800" dirty="0">
            <a:latin typeface="Times" pitchFamily="2" charset="0"/>
          </a:endParaRPr>
        </a:p>
      </dgm:t>
    </dgm:pt>
    <dgm:pt modelId="{E6E4CDC3-633C-464F-8A58-7FB1F4FFC84C}" type="parTrans" cxnId="{C31C44D7-4FD0-47C1-BB8E-B14D6E37516B}">
      <dgm:prSet/>
      <dgm:spPr/>
      <dgm:t>
        <a:bodyPr/>
        <a:lstStyle/>
        <a:p>
          <a:endParaRPr lang="en-US" sz="2000">
            <a:latin typeface="Times" pitchFamily="2" charset="0"/>
          </a:endParaRPr>
        </a:p>
      </dgm:t>
    </dgm:pt>
    <dgm:pt modelId="{23FC6602-74EF-4CD6-9508-32C61C535D5F}" type="sibTrans" cxnId="{C31C44D7-4FD0-47C1-BB8E-B14D6E37516B}">
      <dgm:prSet/>
      <dgm:spPr/>
      <dgm:t>
        <a:bodyPr/>
        <a:lstStyle/>
        <a:p>
          <a:endParaRPr lang="en-US" sz="2000">
            <a:latin typeface="Times" pitchFamily="2" charset="0"/>
          </a:endParaRPr>
        </a:p>
      </dgm:t>
    </dgm:pt>
    <dgm:pt modelId="{D4EF64AB-94AE-4031-A89C-1F0960AF7785}">
      <dgm:prSet custT="1"/>
      <dgm:spPr/>
      <dgm:t>
        <a:bodyPr/>
        <a:lstStyle/>
        <a:p>
          <a:r>
            <a:rPr lang="en-US" sz="2000" b="1" dirty="0">
              <a:solidFill>
                <a:schemeClr val="tx1"/>
              </a:solidFill>
              <a:latin typeface="Times" pitchFamily="2" charset="0"/>
            </a:rPr>
            <a:t>Follower: Able but Unwilling</a:t>
          </a:r>
        </a:p>
      </dgm:t>
    </dgm:pt>
    <dgm:pt modelId="{A35F08A6-1E17-4434-BEF4-69E67DCF7CCF}" type="parTrans" cxnId="{446C3662-8325-4B4A-9F15-5BB93DA2A779}">
      <dgm:prSet/>
      <dgm:spPr/>
      <dgm:t>
        <a:bodyPr/>
        <a:lstStyle/>
        <a:p>
          <a:endParaRPr lang="en-US" sz="2000">
            <a:latin typeface="Times" pitchFamily="2" charset="0"/>
          </a:endParaRPr>
        </a:p>
      </dgm:t>
    </dgm:pt>
    <dgm:pt modelId="{05C80B0F-5B97-40C5-9B8F-311FC57E7302}" type="sibTrans" cxnId="{446C3662-8325-4B4A-9F15-5BB93DA2A779}">
      <dgm:prSet/>
      <dgm:spPr/>
      <dgm:t>
        <a:bodyPr/>
        <a:lstStyle/>
        <a:p>
          <a:endParaRPr lang="en-US" sz="2000">
            <a:latin typeface="Times" pitchFamily="2" charset="0"/>
          </a:endParaRPr>
        </a:p>
      </dgm:t>
    </dgm:pt>
    <dgm:pt modelId="{3450C12F-8C82-4755-8487-D443A6E48838}">
      <dgm:prSet custT="1"/>
      <dgm:spPr/>
      <dgm:t>
        <a:bodyPr/>
        <a:lstStyle/>
        <a:p>
          <a:r>
            <a:rPr lang="en-US" sz="1800" dirty="0">
              <a:latin typeface="Times" pitchFamily="2" charset="0"/>
            </a:rPr>
            <a:t>Leader: Low Task – High Relationship. </a:t>
          </a:r>
          <a:r>
            <a:rPr lang="en-US" sz="2800" b="1" dirty="0">
              <a:solidFill>
                <a:srgbClr val="0070C0"/>
              </a:solidFill>
              <a:latin typeface="Times" pitchFamily="2" charset="0"/>
            </a:rPr>
            <a:t>(Supporting)</a:t>
          </a:r>
          <a:endParaRPr lang="en-US" sz="1800" b="1" dirty="0">
            <a:solidFill>
              <a:srgbClr val="0070C0"/>
            </a:solidFill>
            <a:latin typeface="Times" pitchFamily="2" charset="0"/>
          </a:endParaRPr>
        </a:p>
      </dgm:t>
    </dgm:pt>
    <dgm:pt modelId="{2FB2C583-5728-4212-B209-125BE87FAA2F}" type="parTrans" cxnId="{D3264140-C94D-4565-AE2F-E4B74FB753C8}">
      <dgm:prSet/>
      <dgm:spPr/>
      <dgm:t>
        <a:bodyPr/>
        <a:lstStyle/>
        <a:p>
          <a:endParaRPr lang="en-US" sz="2000">
            <a:latin typeface="Times" pitchFamily="2" charset="0"/>
          </a:endParaRPr>
        </a:p>
      </dgm:t>
    </dgm:pt>
    <dgm:pt modelId="{DCCCA742-AAE0-4499-9575-DDC02D3A72E6}" type="sibTrans" cxnId="{D3264140-C94D-4565-AE2F-E4B74FB753C8}">
      <dgm:prSet/>
      <dgm:spPr/>
      <dgm:t>
        <a:bodyPr/>
        <a:lstStyle/>
        <a:p>
          <a:endParaRPr lang="en-US" sz="2000">
            <a:latin typeface="Times" pitchFamily="2" charset="0"/>
          </a:endParaRPr>
        </a:p>
      </dgm:t>
    </dgm:pt>
    <dgm:pt modelId="{FF04168E-0721-4A47-AFC8-3A403C468917}">
      <dgm:prSet custT="1"/>
      <dgm:spPr/>
      <dgm:t>
        <a:bodyPr/>
        <a:lstStyle/>
        <a:p>
          <a:r>
            <a:rPr lang="en-US" sz="2000" b="1" dirty="0">
              <a:solidFill>
                <a:schemeClr val="tx1"/>
              </a:solidFill>
              <a:latin typeface="Times" pitchFamily="2" charset="0"/>
            </a:rPr>
            <a:t>Follower: Both Able and Willing</a:t>
          </a:r>
        </a:p>
      </dgm:t>
    </dgm:pt>
    <dgm:pt modelId="{67F7FD73-A30A-42C5-9D3D-BA3E6024DEB5}" type="parTrans" cxnId="{F8162ED0-2402-49FB-A6E3-5E7D914BB021}">
      <dgm:prSet/>
      <dgm:spPr/>
      <dgm:t>
        <a:bodyPr/>
        <a:lstStyle/>
        <a:p>
          <a:endParaRPr lang="en-US" sz="2000">
            <a:latin typeface="Times" pitchFamily="2" charset="0"/>
          </a:endParaRPr>
        </a:p>
      </dgm:t>
    </dgm:pt>
    <dgm:pt modelId="{7BB0B8D6-AE4E-4A48-8EF7-CEE8A202FA2E}" type="sibTrans" cxnId="{F8162ED0-2402-49FB-A6E3-5E7D914BB021}">
      <dgm:prSet/>
      <dgm:spPr/>
      <dgm:t>
        <a:bodyPr/>
        <a:lstStyle/>
        <a:p>
          <a:endParaRPr lang="en-US" sz="2000">
            <a:latin typeface="Times" pitchFamily="2" charset="0"/>
          </a:endParaRPr>
        </a:p>
      </dgm:t>
    </dgm:pt>
    <dgm:pt modelId="{3EF662B3-6AB9-48AF-8D0A-B12DAF4A0B75}">
      <dgm:prSet custT="1"/>
      <dgm:spPr/>
      <dgm:t>
        <a:bodyPr/>
        <a:lstStyle/>
        <a:p>
          <a:r>
            <a:rPr lang="en-US" sz="1800" dirty="0">
              <a:latin typeface="Times" pitchFamily="2" charset="0"/>
            </a:rPr>
            <a:t>Leader: Low Task- Low Relationship. </a:t>
          </a:r>
          <a:r>
            <a:rPr lang="en-US" sz="2800" b="1" dirty="0">
              <a:solidFill>
                <a:srgbClr val="00B050"/>
              </a:solidFill>
              <a:latin typeface="Times" pitchFamily="2" charset="0"/>
            </a:rPr>
            <a:t>(Delegating)</a:t>
          </a:r>
          <a:endParaRPr lang="en-US" sz="1800" b="1" dirty="0">
            <a:solidFill>
              <a:srgbClr val="00B050"/>
            </a:solidFill>
            <a:latin typeface="Times" pitchFamily="2" charset="0"/>
          </a:endParaRPr>
        </a:p>
      </dgm:t>
    </dgm:pt>
    <dgm:pt modelId="{E2984758-3937-4CFE-BBDD-2BEB8405EE15}" type="parTrans" cxnId="{F88574DA-DB53-4B20-9F9D-2195AF16211C}">
      <dgm:prSet/>
      <dgm:spPr/>
      <dgm:t>
        <a:bodyPr/>
        <a:lstStyle/>
        <a:p>
          <a:endParaRPr lang="en-US" sz="2000">
            <a:latin typeface="Times" pitchFamily="2" charset="0"/>
          </a:endParaRPr>
        </a:p>
      </dgm:t>
    </dgm:pt>
    <dgm:pt modelId="{4E3BE4FA-724F-42C8-A1CC-15A9E2324C69}" type="sibTrans" cxnId="{F88574DA-DB53-4B20-9F9D-2195AF16211C}">
      <dgm:prSet/>
      <dgm:spPr/>
      <dgm:t>
        <a:bodyPr/>
        <a:lstStyle/>
        <a:p>
          <a:endParaRPr lang="en-US" sz="2000">
            <a:latin typeface="Times" pitchFamily="2" charset="0"/>
          </a:endParaRPr>
        </a:p>
      </dgm:t>
    </dgm:pt>
    <dgm:pt modelId="{80BAD6A3-77A9-42C3-9C7F-7FE52C23582D}" type="pres">
      <dgm:prSet presAssocID="{6F0B4914-76BD-41F8-8715-3D6CF82EC64F}" presName="linear" presStyleCnt="0">
        <dgm:presLayoutVars>
          <dgm:dir/>
          <dgm:animLvl val="lvl"/>
          <dgm:resizeHandles val="exact"/>
        </dgm:presLayoutVars>
      </dgm:prSet>
      <dgm:spPr/>
    </dgm:pt>
    <dgm:pt modelId="{D4BA93EE-F3D2-4D71-8DDA-34939DFE323B}" type="pres">
      <dgm:prSet presAssocID="{32D76708-BE2B-48F3-BEDF-E9D6570D9719}" presName="parentLin" presStyleCnt="0"/>
      <dgm:spPr/>
    </dgm:pt>
    <dgm:pt modelId="{887E3A07-6D40-4DF7-9E2D-0D91B35B1961}" type="pres">
      <dgm:prSet presAssocID="{32D76708-BE2B-48F3-BEDF-E9D6570D9719}" presName="parentLeftMargin" presStyleLbl="node1" presStyleIdx="0" presStyleCnt="4"/>
      <dgm:spPr/>
    </dgm:pt>
    <dgm:pt modelId="{52BC3FA1-A70F-4EDE-B3D0-94552CEB292E}" type="pres">
      <dgm:prSet presAssocID="{32D76708-BE2B-48F3-BEDF-E9D6570D9719}" presName="parentText" presStyleLbl="node1" presStyleIdx="0" presStyleCnt="4">
        <dgm:presLayoutVars>
          <dgm:chMax val="0"/>
          <dgm:bulletEnabled val="1"/>
        </dgm:presLayoutVars>
      </dgm:prSet>
      <dgm:spPr/>
    </dgm:pt>
    <dgm:pt modelId="{6953DB15-817A-46EB-A9AC-3AB285FA28BF}" type="pres">
      <dgm:prSet presAssocID="{32D76708-BE2B-48F3-BEDF-E9D6570D9719}" presName="negativeSpace" presStyleCnt="0"/>
      <dgm:spPr/>
    </dgm:pt>
    <dgm:pt modelId="{4F19DD12-D081-490E-8B3C-FA00F998C350}" type="pres">
      <dgm:prSet presAssocID="{32D76708-BE2B-48F3-BEDF-E9D6570D9719}" presName="childText" presStyleLbl="conFgAcc1" presStyleIdx="0" presStyleCnt="4">
        <dgm:presLayoutVars>
          <dgm:bulletEnabled val="1"/>
        </dgm:presLayoutVars>
      </dgm:prSet>
      <dgm:spPr/>
    </dgm:pt>
    <dgm:pt modelId="{67702D12-88AD-4754-A5F7-F11DE2AD1A3C}" type="pres">
      <dgm:prSet presAssocID="{FD868225-6B50-4AC4-8DF8-1508C3197935}" presName="spaceBetweenRectangles" presStyleCnt="0"/>
      <dgm:spPr/>
    </dgm:pt>
    <dgm:pt modelId="{2107B824-E8E8-4A7B-872A-67F9F5A8C5EF}" type="pres">
      <dgm:prSet presAssocID="{C6BE00A8-0BC4-4440-9E22-7EC71C44D5F0}" presName="parentLin" presStyleCnt="0"/>
      <dgm:spPr/>
    </dgm:pt>
    <dgm:pt modelId="{472FC5BE-1D95-407A-9843-81B04445B908}" type="pres">
      <dgm:prSet presAssocID="{C6BE00A8-0BC4-4440-9E22-7EC71C44D5F0}" presName="parentLeftMargin" presStyleLbl="node1" presStyleIdx="0" presStyleCnt="4"/>
      <dgm:spPr/>
    </dgm:pt>
    <dgm:pt modelId="{BDAA0923-A43A-4170-AA91-A6DAF1D6BDC9}" type="pres">
      <dgm:prSet presAssocID="{C6BE00A8-0BC4-4440-9E22-7EC71C44D5F0}" presName="parentText" presStyleLbl="node1" presStyleIdx="1" presStyleCnt="4">
        <dgm:presLayoutVars>
          <dgm:chMax val="0"/>
          <dgm:bulletEnabled val="1"/>
        </dgm:presLayoutVars>
      </dgm:prSet>
      <dgm:spPr/>
    </dgm:pt>
    <dgm:pt modelId="{9D01793D-9E3F-42D5-B041-4761E1C03989}" type="pres">
      <dgm:prSet presAssocID="{C6BE00A8-0BC4-4440-9E22-7EC71C44D5F0}" presName="negativeSpace" presStyleCnt="0"/>
      <dgm:spPr/>
    </dgm:pt>
    <dgm:pt modelId="{018DAC50-5D12-49E6-9D91-F7D4FFA1E510}" type="pres">
      <dgm:prSet presAssocID="{C6BE00A8-0BC4-4440-9E22-7EC71C44D5F0}" presName="childText" presStyleLbl="conFgAcc1" presStyleIdx="1" presStyleCnt="4">
        <dgm:presLayoutVars>
          <dgm:bulletEnabled val="1"/>
        </dgm:presLayoutVars>
      </dgm:prSet>
      <dgm:spPr/>
    </dgm:pt>
    <dgm:pt modelId="{ED790972-6F76-4BBB-8E98-3B51165AA24B}" type="pres">
      <dgm:prSet presAssocID="{C29114F0-D9CC-49BF-A4E7-AAC599DB17E7}" presName="spaceBetweenRectangles" presStyleCnt="0"/>
      <dgm:spPr/>
    </dgm:pt>
    <dgm:pt modelId="{E10719E9-8725-4A12-BAE2-262BDA900E54}" type="pres">
      <dgm:prSet presAssocID="{D4EF64AB-94AE-4031-A89C-1F0960AF7785}" presName="parentLin" presStyleCnt="0"/>
      <dgm:spPr/>
    </dgm:pt>
    <dgm:pt modelId="{64154296-EFE4-4C5B-8A08-6C34DB198239}" type="pres">
      <dgm:prSet presAssocID="{D4EF64AB-94AE-4031-A89C-1F0960AF7785}" presName="parentLeftMargin" presStyleLbl="node1" presStyleIdx="1" presStyleCnt="4"/>
      <dgm:spPr/>
    </dgm:pt>
    <dgm:pt modelId="{048173EB-2F93-4465-8BDE-7E6DA4C2812F}" type="pres">
      <dgm:prSet presAssocID="{D4EF64AB-94AE-4031-A89C-1F0960AF7785}" presName="parentText" presStyleLbl="node1" presStyleIdx="2" presStyleCnt="4">
        <dgm:presLayoutVars>
          <dgm:chMax val="0"/>
          <dgm:bulletEnabled val="1"/>
        </dgm:presLayoutVars>
      </dgm:prSet>
      <dgm:spPr/>
    </dgm:pt>
    <dgm:pt modelId="{B545483F-7A4D-4AD2-887E-92C497E75743}" type="pres">
      <dgm:prSet presAssocID="{D4EF64AB-94AE-4031-A89C-1F0960AF7785}" presName="negativeSpace" presStyleCnt="0"/>
      <dgm:spPr/>
    </dgm:pt>
    <dgm:pt modelId="{B4185CE5-087C-4D10-B5B0-5308741DD756}" type="pres">
      <dgm:prSet presAssocID="{D4EF64AB-94AE-4031-A89C-1F0960AF7785}" presName="childText" presStyleLbl="conFgAcc1" presStyleIdx="2" presStyleCnt="4">
        <dgm:presLayoutVars>
          <dgm:bulletEnabled val="1"/>
        </dgm:presLayoutVars>
      </dgm:prSet>
      <dgm:spPr/>
    </dgm:pt>
    <dgm:pt modelId="{FD5033A1-6A8D-4A51-8736-3F0D7DBF47A8}" type="pres">
      <dgm:prSet presAssocID="{05C80B0F-5B97-40C5-9B8F-311FC57E7302}" presName="spaceBetweenRectangles" presStyleCnt="0"/>
      <dgm:spPr/>
    </dgm:pt>
    <dgm:pt modelId="{12B0581B-888B-4CFC-8D1A-31EF7C0456DB}" type="pres">
      <dgm:prSet presAssocID="{FF04168E-0721-4A47-AFC8-3A403C468917}" presName="parentLin" presStyleCnt="0"/>
      <dgm:spPr/>
    </dgm:pt>
    <dgm:pt modelId="{5C7D920E-7167-4E75-AFD0-1F718683110A}" type="pres">
      <dgm:prSet presAssocID="{FF04168E-0721-4A47-AFC8-3A403C468917}" presName="parentLeftMargin" presStyleLbl="node1" presStyleIdx="2" presStyleCnt="4"/>
      <dgm:spPr/>
    </dgm:pt>
    <dgm:pt modelId="{330E8143-A74F-47AF-B23E-8F96BE867A5A}" type="pres">
      <dgm:prSet presAssocID="{FF04168E-0721-4A47-AFC8-3A403C468917}" presName="parentText" presStyleLbl="node1" presStyleIdx="3" presStyleCnt="4">
        <dgm:presLayoutVars>
          <dgm:chMax val="0"/>
          <dgm:bulletEnabled val="1"/>
        </dgm:presLayoutVars>
      </dgm:prSet>
      <dgm:spPr/>
    </dgm:pt>
    <dgm:pt modelId="{BDCC5D48-F542-41A5-9034-8051230D3C3D}" type="pres">
      <dgm:prSet presAssocID="{FF04168E-0721-4A47-AFC8-3A403C468917}" presName="negativeSpace" presStyleCnt="0"/>
      <dgm:spPr/>
    </dgm:pt>
    <dgm:pt modelId="{2F767D5E-5E5A-41F0-82C7-D907ABCD82DE}" type="pres">
      <dgm:prSet presAssocID="{FF04168E-0721-4A47-AFC8-3A403C468917}" presName="childText" presStyleLbl="conFgAcc1" presStyleIdx="3" presStyleCnt="4">
        <dgm:presLayoutVars>
          <dgm:bulletEnabled val="1"/>
        </dgm:presLayoutVars>
      </dgm:prSet>
      <dgm:spPr/>
    </dgm:pt>
  </dgm:ptLst>
  <dgm:cxnLst>
    <dgm:cxn modelId="{33901C05-2A88-474D-9D40-E1FB897BC3BB}" type="presOf" srcId="{C6BE00A8-0BC4-4440-9E22-7EC71C44D5F0}" destId="{BDAA0923-A43A-4170-AA91-A6DAF1D6BDC9}" srcOrd="1" destOrd="0" presId="urn:microsoft.com/office/officeart/2005/8/layout/list1"/>
    <dgm:cxn modelId="{0E981921-91B4-4B14-B7F9-0A248E2AA4F1}" srcId="{6F0B4914-76BD-41F8-8715-3D6CF82EC64F}" destId="{32D76708-BE2B-48F3-BEDF-E9D6570D9719}" srcOrd="0" destOrd="0" parTransId="{2DE5CA0B-8E44-4A95-A6C6-0D9EDD7DC511}" sibTransId="{FD868225-6B50-4AC4-8DF8-1508C3197935}"/>
    <dgm:cxn modelId="{6C66DF2E-15B3-4094-8292-25FF519D6B4A}" srcId="{32D76708-BE2B-48F3-BEDF-E9D6570D9719}" destId="{C181FF1C-39A5-4EF8-AAFB-C8782A4FBA95}" srcOrd="0" destOrd="0" parTransId="{3B5CC330-526D-4CD3-99F8-F7FA950F98F4}" sibTransId="{7CBBB242-23CC-4AD9-A8FC-A7027F136BFC}"/>
    <dgm:cxn modelId="{D3264140-C94D-4565-AE2F-E4B74FB753C8}" srcId="{D4EF64AB-94AE-4031-A89C-1F0960AF7785}" destId="{3450C12F-8C82-4755-8487-D443A6E48838}" srcOrd="0" destOrd="0" parTransId="{2FB2C583-5728-4212-B209-125BE87FAA2F}" sibTransId="{DCCCA742-AAE0-4499-9575-DDC02D3A72E6}"/>
    <dgm:cxn modelId="{446C3662-8325-4B4A-9F15-5BB93DA2A779}" srcId="{6F0B4914-76BD-41F8-8715-3D6CF82EC64F}" destId="{D4EF64AB-94AE-4031-A89C-1F0960AF7785}" srcOrd="2" destOrd="0" parTransId="{A35F08A6-1E17-4434-BEF4-69E67DCF7CCF}" sibTransId="{05C80B0F-5B97-40C5-9B8F-311FC57E7302}"/>
    <dgm:cxn modelId="{CB5CC94A-ED8D-47A9-AD49-7858F8C2975E}" type="presOf" srcId="{3450C12F-8C82-4755-8487-D443A6E48838}" destId="{B4185CE5-087C-4D10-B5B0-5308741DD756}" srcOrd="0" destOrd="0" presId="urn:microsoft.com/office/officeart/2005/8/layout/list1"/>
    <dgm:cxn modelId="{EDD7B66C-B805-4869-9DF1-2F215F199234}" type="presOf" srcId="{32D76708-BE2B-48F3-BEDF-E9D6570D9719}" destId="{52BC3FA1-A70F-4EDE-B3D0-94552CEB292E}" srcOrd="1" destOrd="0" presId="urn:microsoft.com/office/officeart/2005/8/layout/list1"/>
    <dgm:cxn modelId="{969E3050-E18E-407A-8FD5-832FF850534A}" type="presOf" srcId="{D4EF64AB-94AE-4031-A89C-1F0960AF7785}" destId="{048173EB-2F93-4465-8BDE-7E6DA4C2812F}" srcOrd="1" destOrd="0" presId="urn:microsoft.com/office/officeart/2005/8/layout/list1"/>
    <dgm:cxn modelId="{D59DC075-20DB-4916-A6F1-FD194FE06CCB}" type="presOf" srcId="{FF04168E-0721-4A47-AFC8-3A403C468917}" destId="{5C7D920E-7167-4E75-AFD0-1F718683110A}" srcOrd="0" destOrd="0" presId="urn:microsoft.com/office/officeart/2005/8/layout/list1"/>
    <dgm:cxn modelId="{4CE71656-DAB9-4BBA-AC0F-1713FCA9EE4E}" type="presOf" srcId="{C6BE00A8-0BC4-4440-9E22-7EC71C44D5F0}" destId="{472FC5BE-1D95-407A-9843-81B04445B908}" srcOrd="0" destOrd="0" presId="urn:microsoft.com/office/officeart/2005/8/layout/list1"/>
    <dgm:cxn modelId="{1F945B85-4526-4C6A-8C44-EAFE91ED7A47}" type="presOf" srcId="{6F0B4914-76BD-41F8-8715-3D6CF82EC64F}" destId="{80BAD6A3-77A9-42C3-9C7F-7FE52C23582D}" srcOrd="0" destOrd="0" presId="urn:microsoft.com/office/officeart/2005/8/layout/list1"/>
    <dgm:cxn modelId="{3D58C18C-DCB8-4E3B-B5E7-ECDB5FFA56F6}" srcId="{6F0B4914-76BD-41F8-8715-3D6CF82EC64F}" destId="{C6BE00A8-0BC4-4440-9E22-7EC71C44D5F0}" srcOrd="1" destOrd="0" parTransId="{42B384C3-9777-4DDB-A2FF-FCF87B5CD7D9}" sibTransId="{C29114F0-D9CC-49BF-A4E7-AAC599DB17E7}"/>
    <dgm:cxn modelId="{6611C593-FA71-4687-A270-F9CA51C19B1B}" type="presOf" srcId="{3EF662B3-6AB9-48AF-8D0A-B12DAF4A0B75}" destId="{2F767D5E-5E5A-41F0-82C7-D907ABCD82DE}" srcOrd="0" destOrd="0" presId="urn:microsoft.com/office/officeart/2005/8/layout/list1"/>
    <dgm:cxn modelId="{222AF9A0-1941-49D2-9100-64A4BA4E0582}" type="presOf" srcId="{FF04168E-0721-4A47-AFC8-3A403C468917}" destId="{330E8143-A74F-47AF-B23E-8F96BE867A5A}" srcOrd="1" destOrd="0" presId="urn:microsoft.com/office/officeart/2005/8/layout/list1"/>
    <dgm:cxn modelId="{3E192BC1-9B14-4420-9D0D-78BE7ADE00DE}" type="presOf" srcId="{32D76708-BE2B-48F3-BEDF-E9D6570D9719}" destId="{887E3A07-6D40-4DF7-9E2D-0D91B35B1961}" srcOrd="0" destOrd="0" presId="urn:microsoft.com/office/officeart/2005/8/layout/list1"/>
    <dgm:cxn modelId="{DE92E5CF-557F-4D96-96B8-8ADB2E27C2B6}" type="presOf" srcId="{0C3F2E38-10F8-43A6-A020-E87E1394CA31}" destId="{018DAC50-5D12-49E6-9D91-F7D4FFA1E510}" srcOrd="0" destOrd="0" presId="urn:microsoft.com/office/officeart/2005/8/layout/list1"/>
    <dgm:cxn modelId="{F8162ED0-2402-49FB-A6E3-5E7D914BB021}" srcId="{6F0B4914-76BD-41F8-8715-3D6CF82EC64F}" destId="{FF04168E-0721-4A47-AFC8-3A403C468917}" srcOrd="3" destOrd="0" parTransId="{67F7FD73-A30A-42C5-9D3D-BA3E6024DEB5}" sibTransId="{7BB0B8D6-AE4E-4A48-8EF7-CEE8A202FA2E}"/>
    <dgm:cxn modelId="{C31C44D7-4FD0-47C1-BB8E-B14D6E37516B}" srcId="{C6BE00A8-0BC4-4440-9E22-7EC71C44D5F0}" destId="{0C3F2E38-10F8-43A6-A020-E87E1394CA31}" srcOrd="0" destOrd="0" parTransId="{E6E4CDC3-633C-464F-8A58-7FB1F4FFC84C}" sibTransId="{23FC6602-74EF-4CD6-9508-32C61C535D5F}"/>
    <dgm:cxn modelId="{F88574DA-DB53-4B20-9F9D-2195AF16211C}" srcId="{FF04168E-0721-4A47-AFC8-3A403C468917}" destId="{3EF662B3-6AB9-48AF-8D0A-B12DAF4A0B75}" srcOrd="0" destOrd="0" parTransId="{E2984758-3937-4CFE-BBDD-2BEB8405EE15}" sibTransId="{4E3BE4FA-724F-42C8-A1CC-15A9E2324C69}"/>
    <dgm:cxn modelId="{12EFCAE3-6272-4294-8127-D7BFC80B4174}" type="presOf" srcId="{D4EF64AB-94AE-4031-A89C-1F0960AF7785}" destId="{64154296-EFE4-4C5B-8A08-6C34DB198239}" srcOrd="0" destOrd="0" presId="urn:microsoft.com/office/officeart/2005/8/layout/list1"/>
    <dgm:cxn modelId="{8887C2E9-ED11-45ED-B7DF-13BEB32A9704}" type="presOf" srcId="{C181FF1C-39A5-4EF8-AAFB-C8782A4FBA95}" destId="{4F19DD12-D081-490E-8B3C-FA00F998C350}" srcOrd="0" destOrd="0" presId="urn:microsoft.com/office/officeart/2005/8/layout/list1"/>
    <dgm:cxn modelId="{E325D979-B8EF-4205-907E-F68F9B260E0E}" type="presParOf" srcId="{80BAD6A3-77A9-42C3-9C7F-7FE52C23582D}" destId="{D4BA93EE-F3D2-4D71-8DDA-34939DFE323B}" srcOrd="0" destOrd="0" presId="urn:microsoft.com/office/officeart/2005/8/layout/list1"/>
    <dgm:cxn modelId="{8E25CB54-652C-4223-8EFF-CACA3D500BBF}" type="presParOf" srcId="{D4BA93EE-F3D2-4D71-8DDA-34939DFE323B}" destId="{887E3A07-6D40-4DF7-9E2D-0D91B35B1961}" srcOrd="0" destOrd="0" presId="urn:microsoft.com/office/officeart/2005/8/layout/list1"/>
    <dgm:cxn modelId="{FE741E02-6090-4EAF-92AA-6959E9C042F7}" type="presParOf" srcId="{D4BA93EE-F3D2-4D71-8DDA-34939DFE323B}" destId="{52BC3FA1-A70F-4EDE-B3D0-94552CEB292E}" srcOrd="1" destOrd="0" presId="urn:microsoft.com/office/officeart/2005/8/layout/list1"/>
    <dgm:cxn modelId="{E56FC2B8-2919-478C-9F6B-DD4E7D03F84F}" type="presParOf" srcId="{80BAD6A3-77A9-42C3-9C7F-7FE52C23582D}" destId="{6953DB15-817A-46EB-A9AC-3AB285FA28BF}" srcOrd="1" destOrd="0" presId="urn:microsoft.com/office/officeart/2005/8/layout/list1"/>
    <dgm:cxn modelId="{2D9309D5-A748-4D11-9344-433975CC4E27}" type="presParOf" srcId="{80BAD6A3-77A9-42C3-9C7F-7FE52C23582D}" destId="{4F19DD12-D081-490E-8B3C-FA00F998C350}" srcOrd="2" destOrd="0" presId="urn:microsoft.com/office/officeart/2005/8/layout/list1"/>
    <dgm:cxn modelId="{9FC02238-D97B-4594-BF19-5B692E4BFC14}" type="presParOf" srcId="{80BAD6A3-77A9-42C3-9C7F-7FE52C23582D}" destId="{67702D12-88AD-4754-A5F7-F11DE2AD1A3C}" srcOrd="3" destOrd="0" presId="urn:microsoft.com/office/officeart/2005/8/layout/list1"/>
    <dgm:cxn modelId="{B490FD5A-6378-4935-8546-5C93E2CE708B}" type="presParOf" srcId="{80BAD6A3-77A9-42C3-9C7F-7FE52C23582D}" destId="{2107B824-E8E8-4A7B-872A-67F9F5A8C5EF}" srcOrd="4" destOrd="0" presId="urn:microsoft.com/office/officeart/2005/8/layout/list1"/>
    <dgm:cxn modelId="{64C08554-4B72-43B0-AA56-A6E4B1313BDB}" type="presParOf" srcId="{2107B824-E8E8-4A7B-872A-67F9F5A8C5EF}" destId="{472FC5BE-1D95-407A-9843-81B04445B908}" srcOrd="0" destOrd="0" presId="urn:microsoft.com/office/officeart/2005/8/layout/list1"/>
    <dgm:cxn modelId="{66AF7BFD-0B91-4C6F-AC39-51164F57AD60}" type="presParOf" srcId="{2107B824-E8E8-4A7B-872A-67F9F5A8C5EF}" destId="{BDAA0923-A43A-4170-AA91-A6DAF1D6BDC9}" srcOrd="1" destOrd="0" presId="urn:microsoft.com/office/officeart/2005/8/layout/list1"/>
    <dgm:cxn modelId="{A03FDB6B-57DE-41BE-8EF2-513C207587A3}" type="presParOf" srcId="{80BAD6A3-77A9-42C3-9C7F-7FE52C23582D}" destId="{9D01793D-9E3F-42D5-B041-4761E1C03989}" srcOrd="5" destOrd="0" presId="urn:microsoft.com/office/officeart/2005/8/layout/list1"/>
    <dgm:cxn modelId="{C987D3C8-F05B-456A-B4DF-5419781634F8}" type="presParOf" srcId="{80BAD6A3-77A9-42C3-9C7F-7FE52C23582D}" destId="{018DAC50-5D12-49E6-9D91-F7D4FFA1E510}" srcOrd="6" destOrd="0" presId="urn:microsoft.com/office/officeart/2005/8/layout/list1"/>
    <dgm:cxn modelId="{515D61E1-C798-4359-98EF-0C00FD2EF36C}" type="presParOf" srcId="{80BAD6A3-77A9-42C3-9C7F-7FE52C23582D}" destId="{ED790972-6F76-4BBB-8E98-3B51165AA24B}" srcOrd="7" destOrd="0" presId="urn:microsoft.com/office/officeart/2005/8/layout/list1"/>
    <dgm:cxn modelId="{39991B34-9773-43C0-B45E-ADB1C57CDE7D}" type="presParOf" srcId="{80BAD6A3-77A9-42C3-9C7F-7FE52C23582D}" destId="{E10719E9-8725-4A12-BAE2-262BDA900E54}" srcOrd="8" destOrd="0" presId="urn:microsoft.com/office/officeart/2005/8/layout/list1"/>
    <dgm:cxn modelId="{9A78DE1F-D371-470D-A777-46F839EEE33D}" type="presParOf" srcId="{E10719E9-8725-4A12-BAE2-262BDA900E54}" destId="{64154296-EFE4-4C5B-8A08-6C34DB198239}" srcOrd="0" destOrd="0" presId="urn:microsoft.com/office/officeart/2005/8/layout/list1"/>
    <dgm:cxn modelId="{2865D9C8-9919-4F0A-A7FC-D943FFCCD56F}" type="presParOf" srcId="{E10719E9-8725-4A12-BAE2-262BDA900E54}" destId="{048173EB-2F93-4465-8BDE-7E6DA4C2812F}" srcOrd="1" destOrd="0" presId="urn:microsoft.com/office/officeart/2005/8/layout/list1"/>
    <dgm:cxn modelId="{8F0A69F7-96C6-49AB-94F2-D9DC56EDAA59}" type="presParOf" srcId="{80BAD6A3-77A9-42C3-9C7F-7FE52C23582D}" destId="{B545483F-7A4D-4AD2-887E-92C497E75743}" srcOrd="9" destOrd="0" presId="urn:microsoft.com/office/officeart/2005/8/layout/list1"/>
    <dgm:cxn modelId="{A4658669-F3D8-4999-AD40-E2FF5549976E}" type="presParOf" srcId="{80BAD6A3-77A9-42C3-9C7F-7FE52C23582D}" destId="{B4185CE5-087C-4D10-B5B0-5308741DD756}" srcOrd="10" destOrd="0" presId="urn:microsoft.com/office/officeart/2005/8/layout/list1"/>
    <dgm:cxn modelId="{DC134064-F8B5-4E4B-B849-769C336ED061}" type="presParOf" srcId="{80BAD6A3-77A9-42C3-9C7F-7FE52C23582D}" destId="{FD5033A1-6A8D-4A51-8736-3F0D7DBF47A8}" srcOrd="11" destOrd="0" presId="urn:microsoft.com/office/officeart/2005/8/layout/list1"/>
    <dgm:cxn modelId="{759BC9C2-9C4D-4729-9D8F-256CC7455FB9}" type="presParOf" srcId="{80BAD6A3-77A9-42C3-9C7F-7FE52C23582D}" destId="{12B0581B-888B-4CFC-8D1A-31EF7C0456DB}" srcOrd="12" destOrd="0" presId="urn:microsoft.com/office/officeart/2005/8/layout/list1"/>
    <dgm:cxn modelId="{C821742B-B640-47E5-B63A-DFFA3922ED6D}" type="presParOf" srcId="{12B0581B-888B-4CFC-8D1A-31EF7C0456DB}" destId="{5C7D920E-7167-4E75-AFD0-1F718683110A}" srcOrd="0" destOrd="0" presId="urn:microsoft.com/office/officeart/2005/8/layout/list1"/>
    <dgm:cxn modelId="{EFBC95B7-9287-4365-8E9F-6C5C703B14E1}" type="presParOf" srcId="{12B0581B-888B-4CFC-8D1A-31EF7C0456DB}" destId="{330E8143-A74F-47AF-B23E-8F96BE867A5A}" srcOrd="1" destOrd="0" presId="urn:microsoft.com/office/officeart/2005/8/layout/list1"/>
    <dgm:cxn modelId="{567545E6-260B-453E-9358-6A0E889421DA}" type="presParOf" srcId="{80BAD6A3-77A9-42C3-9C7F-7FE52C23582D}" destId="{BDCC5D48-F542-41A5-9034-8051230D3C3D}" srcOrd="13" destOrd="0" presId="urn:microsoft.com/office/officeart/2005/8/layout/list1"/>
    <dgm:cxn modelId="{18504C42-E299-460B-BAA6-8794F4A1542B}" type="presParOf" srcId="{80BAD6A3-77A9-42C3-9C7F-7FE52C23582D}" destId="{2F767D5E-5E5A-41F0-82C7-D907ABCD82DE}"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19DD12-D081-490E-8B3C-FA00F998C350}">
      <dsp:nvSpPr>
        <dsp:cNvPr id="0" name=""/>
        <dsp:cNvSpPr/>
      </dsp:nvSpPr>
      <dsp:spPr>
        <a:xfrm>
          <a:off x="0" y="556273"/>
          <a:ext cx="9347200" cy="9072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5447" tIns="749808" rIns="725447" bIns="113792" numCol="1" spcCol="1270" anchor="t" anchorCtr="0">
          <a:noAutofit/>
        </a:bodyPr>
        <a:lstStyle/>
        <a:p>
          <a:pPr marL="171450" lvl="1" indent="-171450" algn="l" defTabSz="711200">
            <a:lnSpc>
              <a:spcPct val="90000"/>
            </a:lnSpc>
            <a:spcBef>
              <a:spcPct val="0"/>
            </a:spcBef>
            <a:spcAft>
              <a:spcPct val="15000"/>
            </a:spcAft>
            <a:buChar char="•"/>
          </a:pPr>
          <a:endParaRPr lang="en-US" sz="1600" b="1" kern="1200" dirty="0">
            <a:solidFill>
              <a:srgbClr val="C00000"/>
            </a:solidFill>
            <a:latin typeface="Times" pitchFamily="2" charset="0"/>
          </a:endParaRPr>
        </a:p>
      </dsp:txBody>
      <dsp:txXfrm>
        <a:off x="0" y="556273"/>
        <a:ext cx="9347200" cy="907200"/>
      </dsp:txXfrm>
    </dsp:sp>
    <dsp:sp modelId="{52BC3FA1-A70F-4EDE-B3D0-94552CEB292E}">
      <dsp:nvSpPr>
        <dsp:cNvPr id="0" name=""/>
        <dsp:cNvSpPr/>
      </dsp:nvSpPr>
      <dsp:spPr>
        <a:xfrm>
          <a:off x="467360" y="24913"/>
          <a:ext cx="6543040" cy="10627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311" tIns="0" rIns="247311" bIns="0" numCol="1" spcCol="1270" anchor="ctr" anchorCtr="0">
          <a:noAutofit/>
        </a:bodyPr>
        <a:lstStyle/>
        <a:p>
          <a:pPr marL="0" lvl="0" indent="0" algn="l" defTabSz="1066800">
            <a:lnSpc>
              <a:spcPct val="90000"/>
            </a:lnSpc>
            <a:spcBef>
              <a:spcPct val="0"/>
            </a:spcBef>
            <a:spcAft>
              <a:spcPct val="35000"/>
            </a:spcAft>
            <a:buNone/>
          </a:pPr>
          <a:r>
            <a:rPr lang="en-US" sz="2400" b="1" kern="1200" dirty="0">
              <a:solidFill>
                <a:srgbClr val="C00000"/>
              </a:solidFill>
              <a:latin typeface="Times" pitchFamily="2" charset="0"/>
            </a:rPr>
            <a:t>Follower</a:t>
          </a:r>
          <a:r>
            <a:rPr lang="en-US" sz="2400" b="1" kern="1200" dirty="0">
              <a:solidFill>
                <a:schemeClr val="tx1"/>
              </a:solidFill>
              <a:latin typeface="Times" pitchFamily="2" charset="0"/>
            </a:rPr>
            <a:t>: Unable and Unwilling</a:t>
          </a:r>
        </a:p>
      </dsp:txBody>
      <dsp:txXfrm>
        <a:off x="519238" y="76791"/>
        <a:ext cx="6439284" cy="958964"/>
      </dsp:txXfrm>
    </dsp:sp>
    <dsp:sp modelId="{018DAC50-5D12-49E6-9D91-F7D4FFA1E510}">
      <dsp:nvSpPr>
        <dsp:cNvPr id="0" name=""/>
        <dsp:cNvSpPr/>
      </dsp:nvSpPr>
      <dsp:spPr>
        <a:xfrm>
          <a:off x="0" y="2189233"/>
          <a:ext cx="9347200" cy="9072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5447" tIns="749808" rIns="725447"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latin typeface="Times" pitchFamily="2" charset="0"/>
          </a:endParaRPr>
        </a:p>
      </dsp:txBody>
      <dsp:txXfrm>
        <a:off x="0" y="2189233"/>
        <a:ext cx="9347200" cy="907200"/>
      </dsp:txXfrm>
    </dsp:sp>
    <dsp:sp modelId="{BDAA0923-A43A-4170-AA91-A6DAF1D6BDC9}">
      <dsp:nvSpPr>
        <dsp:cNvPr id="0" name=""/>
        <dsp:cNvSpPr/>
      </dsp:nvSpPr>
      <dsp:spPr>
        <a:xfrm>
          <a:off x="467360" y="1657873"/>
          <a:ext cx="6543040" cy="10627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311" tIns="0" rIns="247311" bIns="0" numCol="1" spcCol="1270" anchor="ctr" anchorCtr="0">
          <a:noAutofit/>
        </a:bodyPr>
        <a:lstStyle/>
        <a:p>
          <a:pPr marL="0" lvl="0" indent="0" algn="l" defTabSz="1066800">
            <a:lnSpc>
              <a:spcPct val="90000"/>
            </a:lnSpc>
            <a:spcBef>
              <a:spcPct val="0"/>
            </a:spcBef>
            <a:spcAft>
              <a:spcPct val="35000"/>
            </a:spcAft>
            <a:buNone/>
          </a:pPr>
          <a:r>
            <a:rPr lang="en-US" sz="2400" b="1" kern="1200" dirty="0">
              <a:solidFill>
                <a:srgbClr val="C00000"/>
              </a:solidFill>
              <a:latin typeface="Times" pitchFamily="2" charset="0"/>
            </a:rPr>
            <a:t>Follower</a:t>
          </a:r>
          <a:r>
            <a:rPr lang="en-US" sz="2400" b="1" kern="1200" dirty="0">
              <a:solidFill>
                <a:schemeClr val="tx1"/>
              </a:solidFill>
              <a:latin typeface="Times" pitchFamily="2" charset="0"/>
            </a:rPr>
            <a:t>: Unable but Willing</a:t>
          </a:r>
        </a:p>
      </dsp:txBody>
      <dsp:txXfrm>
        <a:off x="519238" y="1709751"/>
        <a:ext cx="6439284" cy="958964"/>
      </dsp:txXfrm>
    </dsp:sp>
    <dsp:sp modelId="{B4185CE5-087C-4D10-B5B0-5308741DD756}">
      <dsp:nvSpPr>
        <dsp:cNvPr id="0" name=""/>
        <dsp:cNvSpPr/>
      </dsp:nvSpPr>
      <dsp:spPr>
        <a:xfrm>
          <a:off x="0" y="3822193"/>
          <a:ext cx="9347200" cy="9072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5447" tIns="749808" rIns="725447" bIns="113792" numCol="1" spcCol="1270" anchor="t" anchorCtr="0">
          <a:noAutofit/>
        </a:bodyPr>
        <a:lstStyle/>
        <a:p>
          <a:pPr marL="171450" lvl="1" indent="-171450" algn="l" defTabSz="711200">
            <a:lnSpc>
              <a:spcPct val="90000"/>
            </a:lnSpc>
            <a:spcBef>
              <a:spcPct val="0"/>
            </a:spcBef>
            <a:spcAft>
              <a:spcPct val="15000"/>
            </a:spcAft>
            <a:buChar char="•"/>
          </a:pPr>
          <a:endParaRPr lang="en-US" sz="1600" b="1" kern="1200" dirty="0">
            <a:solidFill>
              <a:srgbClr val="0070C0"/>
            </a:solidFill>
            <a:latin typeface="Times" pitchFamily="2" charset="0"/>
          </a:endParaRPr>
        </a:p>
      </dsp:txBody>
      <dsp:txXfrm>
        <a:off x="0" y="3822193"/>
        <a:ext cx="9347200" cy="907200"/>
      </dsp:txXfrm>
    </dsp:sp>
    <dsp:sp modelId="{048173EB-2F93-4465-8BDE-7E6DA4C2812F}">
      <dsp:nvSpPr>
        <dsp:cNvPr id="0" name=""/>
        <dsp:cNvSpPr/>
      </dsp:nvSpPr>
      <dsp:spPr>
        <a:xfrm>
          <a:off x="467360" y="3290834"/>
          <a:ext cx="6543040" cy="10627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311" tIns="0" rIns="247311" bIns="0" numCol="1" spcCol="1270" anchor="ctr" anchorCtr="0">
          <a:noAutofit/>
        </a:bodyPr>
        <a:lstStyle/>
        <a:p>
          <a:pPr marL="0" lvl="0" indent="0" algn="l" defTabSz="1066800">
            <a:lnSpc>
              <a:spcPct val="90000"/>
            </a:lnSpc>
            <a:spcBef>
              <a:spcPct val="0"/>
            </a:spcBef>
            <a:spcAft>
              <a:spcPct val="35000"/>
            </a:spcAft>
            <a:buNone/>
          </a:pPr>
          <a:r>
            <a:rPr lang="en-US" sz="2400" b="1" kern="1200" dirty="0">
              <a:solidFill>
                <a:srgbClr val="C00000"/>
              </a:solidFill>
              <a:latin typeface="Times" pitchFamily="2" charset="0"/>
            </a:rPr>
            <a:t>Follower</a:t>
          </a:r>
          <a:r>
            <a:rPr lang="en-US" sz="2400" b="1" kern="1200" dirty="0">
              <a:solidFill>
                <a:schemeClr val="tx1"/>
              </a:solidFill>
              <a:latin typeface="Times" pitchFamily="2" charset="0"/>
            </a:rPr>
            <a:t>: Able but Unwilling</a:t>
          </a:r>
        </a:p>
      </dsp:txBody>
      <dsp:txXfrm>
        <a:off x="519238" y="3342712"/>
        <a:ext cx="6439284" cy="958964"/>
      </dsp:txXfrm>
    </dsp:sp>
    <dsp:sp modelId="{2F767D5E-5E5A-41F0-82C7-D907ABCD82DE}">
      <dsp:nvSpPr>
        <dsp:cNvPr id="0" name=""/>
        <dsp:cNvSpPr/>
      </dsp:nvSpPr>
      <dsp:spPr>
        <a:xfrm>
          <a:off x="0" y="5455154"/>
          <a:ext cx="9347200" cy="9072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5447" tIns="749808" rIns="725447" bIns="113792" numCol="1" spcCol="1270" anchor="t" anchorCtr="0">
          <a:noAutofit/>
        </a:bodyPr>
        <a:lstStyle/>
        <a:p>
          <a:pPr marL="171450" lvl="1" indent="-171450" algn="l" defTabSz="711200">
            <a:lnSpc>
              <a:spcPct val="90000"/>
            </a:lnSpc>
            <a:spcBef>
              <a:spcPct val="0"/>
            </a:spcBef>
            <a:spcAft>
              <a:spcPct val="15000"/>
            </a:spcAft>
            <a:buChar char="•"/>
          </a:pPr>
          <a:endParaRPr lang="en-US" sz="1600" b="1" kern="1200" dirty="0">
            <a:solidFill>
              <a:srgbClr val="00B050"/>
            </a:solidFill>
            <a:latin typeface="Times" pitchFamily="2" charset="0"/>
          </a:endParaRPr>
        </a:p>
      </dsp:txBody>
      <dsp:txXfrm>
        <a:off x="0" y="5455154"/>
        <a:ext cx="9347200" cy="907200"/>
      </dsp:txXfrm>
    </dsp:sp>
    <dsp:sp modelId="{330E8143-A74F-47AF-B23E-8F96BE867A5A}">
      <dsp:nvSpPr>
        <dsp:cNvPr id="0" name=""/>
        <dsp:cNvSpPr/>
      </dsp:nvSpPr>
      <dsp:spPr>
        <a:xfrm>
          <a:off x="467360" y="4923793"/>
          <a:ext cx="6543040" cy="10627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311" tIns="0" rIns="247311" bIns="0" numCol="1" spcCol="1270" anchor="ctr" anchorCtr="0">
          <a:noAutofit/>
        </a:bodyPr>
        <a:lstStyle/>
        <a:p>
          <a:pPr marL="0" lvl="0" indent="0" algn="l" defTabSz="1066800">
            <a:lnSpc>
              <a:spcPct val="90000"/>
            </a:lnSpc>
            <a:spcBef>
              <a:spcPct val="0"/>
            </a:spcBef>
            <a:spcAft>
              <a:spcPct val="35000"/>
            </a:spcAft>
            <a:buNone/>
          </a:pPr>
          <a:r>
            <a:rPr lang="en-US" sz="2400" b="1" kern="1200" dirty="0">
              <a:solidFill>
                <a:srgbClr val="C00000"/>
              </a:solidFill>
              <a:latin typeface="Times" pitchFamily="2" charset="0"/>
            </a:rPr>
            <a:t>Follower</a:t>
          </a:r>
          <a:r>
            <a:rPr lang="en-US" sz="2400" b="1" kern="1200" dirty="0">
              <a:solidFill>
                <a:schemeClr val="tx1"/>
              </a:solidFill>
              <a:latin typeface="Times" pitchFamily="2" charset="0"/>
            </a:rPr>
            <a:t>: Both Able and Willing</a:t>
          </a:r>
        </a:p>
      </dsp:txBody>
      <dsp:txXfrm>
        <a:off x="519238" y="4975671"/>
        <a:ext cx="6439284" cy="958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19DD12-D081-490E-8B3C-FA00F998C350}">
      <dsp:nvSpPr>
        <dsp:cNvPr id="0" name=""/>
        <dsp:cNvSpPr/>
      </dsp:nvSpPr>
      <dsp:spPr>
        <a:xfrm>
          <a:off x="0" y="418270"/>
          <a:ext cx="9690099" cy="1126912"/>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52059" tIns="562356" rIns="75205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Times" pitchFamily="2" charset="0"/>
            </a:rPr>
            <a:t>Leader: High Task – High Relationship. </a:t>
          </a:r>
          <a:r>
            <a:rPr lang="en-US" sz="2800" b="1" kern="1200" dirty="0">
              <a:solidFill>
                <a:srgbClr val="7030A0"/>
              </a:solidFill>
              <a:latin typeface="Times" pitchFamily="2" charset="0"/>
            </a:rPr>
            <a:t>(Coaching)</a:t>
          </a:r>
          <a:r>
            <a:rPr lang="en-US" sz="3200" kern="1200" dirty="0">
              <a:solidFill>
                <a:srgbClr val="7030A0"/>
              </a:solidFill>
              <a:latin typeface="Times" pitchFamily="2" charset="0"/>
            </a:rPr>
            <a:t> </a:t>
          </a:r>
          <a:endParaRPr lang="en-US" sz="2000" b="1" kern="1200" dirty="0">
            <a:solidFill>
              <a:srgbClr val="7030A0"/>
            </a:solidFill>
            <a:latin typeface="Times" pitchFamily="2" charset="0"/>
          </a:endParaRPr>
        </a:p>
      </dsp:txBody>
      <dsp:txXfrm>
        <a:off x="0" y="418270"/>
        <a:ext cx="9690099" cy="1126912"/>
      </dsp:txXfrm>
    </dsp:sp>
    <dsp:sp modelId="{52BC3FA1-A70F-4EDE-B3D0-94552CEB292E}">
      <dsp:nvSpPr>
        <dsp:cNvPr id="0" name=""/>
        <dsp:cNvSpPr/>
      </dsp:nvSpPr>
      <dsp:spPr>
        <a:xfrm>
          <a:off x="484504" y="19750"/>
          <a:ext cx="6783069" cy="7970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384" tIns="0" rIns="256384" bIns="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latin typeface="Times" pitchFamily="2" charset="0"/>
            </a:rPr>
            <a:t>Follower: Unable and Unwilling</a:t>
          </a:r>
        </a:p>
      </dsp:txBody>
      <dsp:txXfrm>
        <a:off x="523412" y="58658"/>
        <a:ext cx="6705253" cy="719224"/>
      </dsp:txXfrm>
    </dsp:sp>
    <dsp:sp modelId="{018DAC50-5D12-49E6-9D91-F7D4FFA1E510}">
      <dsp:nvSpPr>
        <dsp:cNvPr id="0" name=""/>
        <dsp:cNvSpPr/>
      </dsp:nvSpPr>
      <dsp:spPr>
        <a:xfrm>
          <a:off x="0" y="2089502"/>
          <a:ext cx="9690099" cy="106312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52059" tIns="562356" rIns="75205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Times" pitchFamily="2" charset="0"/>
            </a:rPr>
            <a:t>Leader: High Task- Low Relationship. </a:t>
          </a:r>
          <a:r>
            <a:rPr lang="en-US" sz="2800" b="1" kern="1200" dirty="0">
              <a:solidFill>
                <a:srgbClr val="FF0000"/>
              </a:solidFill>
              <a:latin typeface="Times" pitchFamily="2" charset="0"/>
            </a:rPr>
            <a:t>(Directing)</a:t>
          </a:r>
          <a:endParaRPr lang="en-US" sz="1800" kern="1200" dirty="0">
            <a:latin typeface="Times" pitchFamily="2" charset="0"/>
          </a:endParaRPr>
        </a:p>
      </dsp:txBody>
      <dsp:txXfrm>
        <a:off x="0" y="2089502"/>
        <a:ext cx="9690099" cy="1063125"/>
      </dsp:txXfrm>
    </dsp:sp>
    <dsp:sp modelId="{BDAA0923-A43A-4170-AA91-A6DAF1D6BDC9}">
      <dsp:nvSpPr>
        <dsp:cNvPr id="0" name=""/>
        <dsp:cNvSpPr/>
      </dsp:nvSpPr>
      <dsp:spPr>
        <a:xfrm>
          <a:off x="484504" y="1690982"/>
          <a:ext cx="6783069" cy="7970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384" tIns="0" rIns="256384" bIns="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latin typeface="Times" pitchFamily="2" charset="0"/>
            </a:rPr>
            <a:t>Follower: Unable but Willing</a:t>
          </a:r>
        </a:p>
      </dsp:txBody>
      <dsp:txXfrm>
        <a:off x="523412" y="1729890"/>
        <a:ext cx="6705253" cy="719224"/>
      </dsp:txXfrm>
    </dsp:sp>
    <dsp:sp modelId="{B4185CE5-087C-4D10-B5B0-5308741DD756}">
      <dsp:nvSpPr>
        <dsp:cNvPr id="0" name=""/>
        <dsp:cNvSpPr/>
      </dsp:nvSpPr>
      <dsp:spPr>
        <a:xfrm>
          <a:off x="0" y="3696947"/>
          <a:ext cx="9690099" cy="106312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52059" tIns="562356" rIns="75205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Times" pitchFamily="2" charset="0"/>
            </a:rPr>
            <a:t>Leader: Low Task – High Relationship. </a:t>
          </a:r>
          <a:r>
            <a:rPr lang="en-US" sz="2800" b="1" kern="1200" dirty="0">
              <a:solidFill>
                <a:srgbClr val="0070C0"/>
              </a:solidFill>
              <a:latin typeface="Times" pitchFamily="2" charset="0"/>
            </a:rPr>
            <a:t>(Supporting)</a:t>
          </a:r>
          <a:endParaRPr lang="en-US" sz="1800" b="1" kern="1200" dirty="0">
            <a:solidFill>
              <a:srgbClr val="0070C0"/>
            </a:solidFill>
            <a:latin typeface="Times" pitchFamily="2" charset="0"/>
          </a:endParaRPr>
        </a:p>
      </dsp:txBody>
      <dsp:txXfrm>
        <a:off x="0" y="3696947"/>
        <a:ext cx="9690099" cy="1063125"/>
      </dsp:txXfrm>
    </dsp:sp>
    <dsp:sp modelId="{048173EB-2F93-4465-8BDE-7E6DA4C2812F}">
      <dsp:nvSpPr>
        <dsp:cNvPr id="0" name=""/>
        <dsp:cNvSpPr/>
      </dsp:nvSpPr>
      <dsp:spPr>
        <a:xfrm>
          <a:off x="484504" y="3298427"/>
          <a:ext cx="6783069" cy="7970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384" tIns="0" rIns="256384" bIns="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latin typeface="Times" pitchFamily="2" charset="0"/>
            </a:rPr>
            <a:t>Follower: Able but Unwilling</a:t>
          </a:r>
        </a:p>
      </dsp:txBody>
      <dsp:txXfrm>
        <a:off x="523412" y="3337335"/>
        <a:ext cx="6705253" cy="719224"/>
      </dsp:txXfrm>
    </dsp:sp>
    <dsp:sp modelId="{2F767D5E-5E5A-41F0-82C7-D907ABCD82DE}">
      <dsp:nvSpPr>
        <dsp:cNvPr id="0" name=""/>
        <dsp:cNvSpPr/>
      </dsp:nvSpPr>
      <dsp:spPr>
        <a:xfrm>
          <a:off x="0" y="5304392"/>
          <a:ext cx="9690099" cy="106312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52059" tIns="562356" rIns="75205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Times" pitchFamily="2" charset="0"/>
            </a:rPr>
            <a:t>Leader: Low Task- Low Relationship. </a:t>
          </a:r>
          <a:r>
            <a:rPr lang="en-US" sz="2800" b="1" kern="1200" dirty="0">
              <a:solidFill>
                <a:srgbClr val="00B050"/>
              </a:solidFill>
              <a:latin typeface="Times" pitchFamily="2" charset="0"/>
            </a:rPr>
            <a:t>(Delegating)</a:t>
          </a:r>
          <a:endParaRPr lang="en-US" sz="1800" b="1" kern="1200" dirty="0">
            <a:solidFill>
              <a:srgbClr val="00B050"/>
            </a:solidFill>
            <a:latin typeface="Times" pitchFamily="2" charset="0"/>
          </a:endParaRPr>
        </a:p>
      </dsp:txBody>
      <dsp:txXfrm>
        <a:off x="0" y="5304392"/>
        <a:ext cx="9690099" cy="1063125"/>
      </dsp:txXfrm>
    </dsp:sp>
    <dsp:sp modelId="{330E8143-A74F-47AF-B23E-8F96BE867A5A}">
      <dsp:nvSpPr>
        <dsp:cNvPr id="0" name=""/>
        <dsp:cNvSpPr/>
      </dsp:nvSpPr>
      <dsp:spPr>
        <a:xfrm>
          <a:off x="484504" y="4905872"/>
          <a:ext cx="6783069" cy="7970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384" tIns="0" rIns="256384" bIns="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latin typeface="Times" pitchFamily="2" charset="0"/>
            </a:rPr>
            <a:t>Follower: Both Able and Willing</a:t>
          </a:r>
        </a:p>
      </dsp:txBody>
      <dsp:txXfrm>
        <a:off x="523412" y="4944780"/>
        <a:ext cx="6705253"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21B3CF-88DF-47E1-B8E8-A549732B20EF}" type="datetimeFigureOut">
              <a:rPr lang="en-US" smtClean="0"/>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5D7663-356D-4CF3-8F59-7DB7DD818CE1}" type="slidenum">
              <a:rPr lang="en-US" smtClean="0"/>
              <a:t>‹#›</a:t>
            </a:fld>
            <a:endParaRPr lang="en-US"/>
          </a:p>
        </p:txBody>
      </p:sp>
    </p:spTree>
    <p:extLst>
      <p:ext uri="{BB962C8B-B14F-4D97-AF65-F5344CB8AC3E}">
        <p14:creationId xmlns:p14="http://schemas.microsoft.com/office/powerpoint/2010/main" val="796662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businessballs.com/improving-workplace-performance/mcgregors-xy-theory-of-management/"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Innate traits are characteristics or qualities that are believed to be inherent and naturally occurring within an individual. </a:t>
            </a:r>
          </a:p>
          <a:p>
            <a:r>
              <a:rPr lang="en-GB" dirty="0"/>
              <a:t>These traits are often considered to be part of a person's genetic makeup and are typically present from birth or develop naturally over time without the influence of external factors.</a:t>
            </a:r>
          </a:p>
          <a:p>
            <a:r>
              <a:rPr lang="en-GB" dirty="0"/>
              <a:t> </a:t>
            </a:r>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6</a:t>
            </a:fld>
            <a:endParaRPr lang="en-US"/>
          </a:p>
        </p:txBody>
      </p:sp>
    </p:spTree>
    <p:extLst>
      <p:ext uri="{BB962C8B-B14F-4D97-AF65-F5344CB8AC3E}">
        <p14:creationId xmlns:p14="http://schemas.microsoft.com/office/powerpoint/2010/main" val="192055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9</a:t>
            </a:fld>
            <a:endParaRPr lang="en-US"/>
          </a:p>
        </p:txBody>
      </p:sp>
    </p:spTree>
    <p:extLst>
      <p:ext uri="{BB962C8B-B14F-4D97-AF65-F5344CB8AC3E}">
        <p14:creationId xmlns:p14="http://schemas.microsoft.com/office/powerpoint/2010/main" val="2846751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Innate traits are characteristics or qualities that are believed to be inherent and naturally occurring within an individual. </a:t>
            </a:r>
          </a:p>
          <a:p>
            <a:r>
              <a:rPr lang="en-GB" dirty="0"/>
              <a:t>These traits are often considered to be part of a person's genetic makeup and are typically present from birth or develop naturally over time without the influence of external factors.</a:t>
            </a:r>
          </a:p>
          <a:p>
            <a:r>
              <a:rPr lang="en-GB" dirty="0"/>
              <a:t> </a:t>
            </a:r>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11</a:t>
            </a:fld>
            <a:endParaRPr lang="en-US"/>
          </a:p>
        </p:txBody>
      </p:sp>
    </p:spTree>
    <p:extLst>
      <p:ext uri="{BB962C8B-B14F-4D97-AF65-F5344CB8AC3E}">
        <p14:creationId xmlns:p14="http://schemas.microsoft.com/office/powerpoint/2010/main" val="4031623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u="sng" dirty="0"/>
              <a:t>Task-Oriented</a:t>
            </a:r>
          </a:p>
          <a:p>
            <a:r>
              <a:rPr lang="en-GB" b="1" dirty="0"/>
              <a:t>Planning:</a:t>
            </a:r>
            <a:r>
              <a:rPr lang="en-GB" dirty="0"/>
              <a:t> Setting objectives, developing strategies, and organizing tasks.</a:t>
            </a:r>
          </a:p>
          <a:p>
            <a:r>
              <a:rPr lang="en-GB" b="1" dirty="0"/>
              <a:t>Organizing:</a:t>
            </a:r>
            <a:r>
              <a:rPr lang="en-GB" dirty="0"/>
              <a:t> Allocating resources, assigning roles, and coordinating activities.</a:t>
            </a:r>
          </a:p>
          <a:p>
            <a:r>
              <a:rPr lang="en-GB" b="1" dirty="0"/>
              <a:t>Monitoring:</a:t>
            </a:r>
            <a:r>
              <a:rPr lang="en-GB" dirty="0"/>
              <a:t> Tracking progress, evaluating performance, and making adjustments as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u="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u="sng" dirty="0"/>
              <a:t>People-Oriented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Supporting:</a:t>
            </a:r>
            <a:r>
              <a:rPr lang="en-GB" dirty="0"/>
              <a:t> Providing encouragement, resources, and assistance to 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Developing:</a:t>
            </a:r>
            <a:r>
              <a:rPr lang="en-GB" dirty="0"/>
              <a:t> Offering training, mentoring, and opportunities for growth.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Recognizing:</a:t>
            </a:r>
            <a:r>
              <a:rPr lang="en-GB" dirty="0"/>
              <a:t> Acknowledging and rewarding contributions and achievements.</a:t>
            </a:r>
            <a:endParaRPr lang="en-GB" b="1" u="sng" dirty="0"/>
          </a:p>
          <a:p>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12</a:t>
            </a:fld>
            <a:endParaRPr lang="en-US"/>
          </a:p>
        </p:txBody>
      </p:sp>
    </p:spTree>
    <p:extLst>
      <p:ext uri="{BB962C8B-B14F-4D97-AF65-F5344CB8AC3E}">
        <p14:creationId xmlns:p14="http://schemas.microsoft.com/office/powerpoint/2010/main" val="3343008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b="1" u="sng" dirty="0"/>
              <a:t>Leadership Grid</a:t>
            </a:r>
          </a:p>
          <a:p>
            <a:r>
              <a:rPr lang="en-GB" b="0" i="0" dirty="0">
                <a:solidFill>
                  <a:srgbClr val="202124"/>
                </a:solidFill>
                <a:effectLst/>
                <a:latin typeface="Google Sans"/>
              </a:rPr>
              <a:t>Previously known as the Managerial Grid, the Leadership Grid is based on two </a:t>
            </a:r>
            <a:r>
              <a:rPr lang="en-GB" b="0" i="0" dirty="0" err="1">
                <a:solidFill>
                  <a:srgbClr val="202124"/>
                </a:solidFill>
                <a:effectLst/>
                <a:latin typeface="Google Sans"/>
              </a:rPr>
              <a:t>behavioral</a:t>
            </a:r>
            <a:r>
              <a:rPr lang="en-GB" b="0" i="0" dirty="0">
                <a:solidFill>
                  <a:srgbClr val="202124"/>
                </a:solidFill>
                <a:effectLst/>
                <a:latin typeface="Google Sans"/>
              </a:rPr>
              <a:t> dimensions: </a:t>
            </a:r>
            <a:r>
              <a:rPr lang="en-GB" b="0" i="0" dirty="0">
                <a:solidFill>
                  <a:srgbClr val="040C28"/>
                </a:solidFill>
                <a:effectLst/>
                <a:latin typeface="Google Sans"/>
              </a:rPr>
              <a:t>concern for production, which is plotted on the X-axis on a scale from one to nine points; and concern for people, which is plotted on a similar scale along the Y-axis</a:t>
            </a:r>
            <a:r>
              <a:rPr lang="en-GB" b="0" i="0" dirty="0">
                <a:solidFill>
                  <a:srgbClr val="202124"/>
                </a:solidFill>
                <a:effectLst/>
                <a:latin typeface="Google Sans"/>
              </a:rPr>
              <a:t>.</a:t>
            </a:r>
          </a:p>
          <a:p>
            <a:endParaRPr lang="en-GB" b="0" i="0" dirty="0">
              <a:solidFill>
                <a:srgbClr val="202124"/>
              </a:solidFill>
              <a:effectLst/>
              <a:latin typeface="Google Sans"/>
            </a:endParaRPr>
          </a:p>
          <a:p>
            <a:pPr algn="l"/>
            <a:r>
              <a:rPr lang="en-GB" b="0" i="0" u="sng" dirty="0">
                <a:solidFill>
                  <a:srgbClr val="21252A"/>
                </a:solidFill>
                <a:effectLst/>
                <a:latin typeface="Raleway" pitchFamily="2" charset="77"/>
              </a:rPr>
              <a:t>Blake and Mouton depicted their model as a grid with two axes:</a:t>
            </a:r>
            <a:endParaRPr lang="en-GB" b="0" i="0" dirty="0">
              <a:solidFill>
                <a:srgbClr val="21252A"/>
              </a:solidFill>
              <a:effectLst/>
              <a:latin typeface="Raleway" pitchFamily="2" charset="77"/>
            </a:endParaRPr>
          </a:p>
          <a:p>
            <a:pPr algn="l">
              <a:buFont typeface="+mj-lt"/>
              <a:buAutoNum type="arabicPeriod"/>
            </a:pPr>
            <a:r>
              <a:rPr lang="en-GB" b="1" i="0" dirty="0">
                <a:solidFill>
                  <a:srgbClr val="21252A"/>
                </a:solidFill>
                <a:effectLst/>
                <a:latin typeface="Raleway" pitchFamily="2" charset="77"/>
              </a:rPr>
              <a:t>Concern for People</a:t>
            </a:r>
          </a:p>
          <a:p>
            <a:pPr algn="l">
              <a:buFont typeface="+mj-lt"/>
              <a:buAutoNum type="arabicPeriod"/>
            </a:pPr>
            <a:r>
              <a:rPr lang="en-GB" b="1" i="0" dirty="0">
                <a:solidFill>
                  <a:srgbClr val="21252A"/>
                </a:solidFill>
                <a:effectLst/>
                <a:latin typeface="Raleway" pitchFamily="2" charset="77"/>
              </a:rPr>
              <a:t>Concern for Production</a:t>
            </a:r>
          </a:p>
          <a:p>
            <a:pPr algn="l"/>
            <a:r>
              <a:rPr lang="en-GB" b="0" i="1" dirty="0">
                <a:solidFill>
                  <a:srgbClr val="21252A"/>
                </a:solidFill>
                <a:effectLst/>
                <a:latin typeface="Raleway" pitchFamily="2" charset="77"/>
              </a:rPr>
              <a:t>Note: 'Concern for Production' might be replaced with 'Concern for Task/Results'.</a:t>
            </a:r>
            <a:endParaRPr lang="en-GB" b="0" i="0" dirty="0">
              <a:solidFill>
                <a:srgbClr val="21252A"/>
              </a:solidFill>
              <a:effectLst/>
              <a:latin typeface="Raleway" pitchFamily="2" charset="77"/>
            </a:endParaRPr>
          </a:p>
          <a:p>
            <a:pPr algn="l"/>
            <a:r>
              <a:rPr lang="en-GB" b="0" i="0" dirty="0">
                <a:solidFill>
                  <a:srgbClr val="21252A"/>
                </a:solidFill>
                <a:effectLst/>
                <a:latin typeface="Raleway" pitchFamily="2" charset="77"/>
              </a:rPr>
              <a:t>The Blake and Mouton Managerial Grid identified</a:t>
            </a:r>
            <a:r>
              <a:rPr lang="en-GB" b="1" i="0" dirty="0">
                <a:solidFill>
                  <a:srgbClr val="21252A"/>
                </a:solidFill>
                <a:effectLst/>
                <a:latin typeface="Raleway" pitchFamily="2" charset="77"/>
              </a:rPr>
              <a:t> five kinds of leadership behaviour</a:t>
            </a:r>
            <a:r>
              <a:rPr lang="en-GB" b="0" i="0" dirty="0">
                <a:solidFill>
                  <a:srgbClr val="21252A"/>
                </a:solidFill>
                <a:effectLst/>
                <a:latin typeface="Raleway" pitchFamily="2" charset="77"/>
              </a:rPr>
              <a:t>, of which they suggested that the </a:t>
            </a:r>
            <a:r>
              <a:rPr lang="en-GB" b="1" i="0" dirty="0">
                <a:solidFill>
                  <a:srgbClr val="21252A"/>
                </a:solidFill>
                <a:effectLst/>
                <a:latin typeface="Raleway" pitchFamily="2" charset="77"/>
              </a:rPr>
              <a:t>Team Style is the ideal.</a:t>
            </a:r>
            <a:endParaRPr lang="en-GB" b="0" i="0" dirty="0">
              <a:solidFill>
                <a:srgbClr val="21252A"/>
              </a:solidFill>
              <a:effectLst/>
              <a:latin typeface="Raleway" pitchFamily="2" charset="77"/>
            </a:endParaRPr>
          </a:p>
          <a:p>
            <a:endParaRPr lang="en-GB" b="0" i="0" dirty="0">
              <a:solidFill>
                <a:srgbClr val="202124"/>
              </a:solidFill>
              <a:effectLst/>
              <a:latin typeface="Google Sans"/>
            </a:endParaRPr>
          </a:p>
          <a:p>
            <a:pPr algn="l"/>
            <a:r>
              <a:rPr lang="en-GB" b="1" i="0" dirty="0">
                <a:solidFill>
                  <a:srgbClr val="343A40"/>
                </a:solidFill>
                <a:effectLst/>
                <a:latin typeface="Raleway" pitchFamily="2" charset="77"/>
              </a:rPr>
              <a:t>Country Club Style</a:t>
            </a:r>
          </a:p>
          <a:p>
            <a:pPr algn="l">
              <a:buFont typeface="Arial" panose="020B0604020202020204" pitchFamily="34" charset="0"/>
              <a:buChar char="•"/>
            </a:pPr>
            <a:r>
              <a:rPr lang="en-GB" b="1" i="0" dirty="0">
                <a:solidFill>
                  <a:srgbClr val="21252A"/>
                </a:solidFill>
                <a:effectLst/>
                <a:latin typeface="Raleway" pitchFamily="2" charset="77"/>
              </a:rPr>
              <a:t>High People - Low Task</a:t>
            </a:r>
            <a:r>
              <a:rPr lang="en-GB" b="0" i="0" dirty="0">
                <a:solidFill>
                  <a:srgbClr val="21252A"/>
                </a:solidFill>
                <a:effectLst/>
                <a:latin typeface="Raleway" pitchFamily="2" charset="77"/>
              </a:rPr>
              <a:t> - Here the leader has a high concern for and usually involvement with people, but a low concern for the task. </a:t>
            </a:r>
          </a:p>
          <a:p>
            <a:pPr algn="l">
              <a:buFont typeface="Arial" panose="020B0604020202020204" pitchFamily="34" charset="0"/>
              <a:buChar char="•"/>
            </a:pPr>
            <a:r>
              <a:rPr lang="en-GB" b="0" i="0" dirty="0">
                <a:solidFill>
                  <a:srgbClr val="21252A"/>
                </a:solidFill>
                <a:effectLst/>
                <a:latin typeface="Raleway" pitchFamily="2" charset="77"/>
              </a:rPr>
              <a:t>There is usually an overly friendly relationship between the leader and the led group. </a:t>
            </a:r>
          </a:p>
          <a:p>
            <a:pPr algn="l">
              <a:buFont typeface="Arial" panose="020B0604020202020204" pitchFamily="34" charset="0"/>
              <a:buChar char="•"/>
            </a:pPr>
            <a:r>
              <a:rPr lang="en-GB" b="0" i="0" dirty="0">
                <a:solidFill>
                  <a:srgbClr val="21252A"/>
                </a:solidFill>
                <a:effectLst/>
                <a:latin typeface="Raleway" pitchFamily="2" charset="77"/>
              </a:rPr>
              <a:t>So although leaders like this appear to care about their people and want to create a comfortable and friendly environment, this style is often not good for creating producing results. People feel good and happy, but the task lacks priority. </a:t>
            </a:r>
          </a:p>
          <a:p>
            <a:pPr algn="l">
              <a:buFont typeface="Arial" panose="020B0604020202020204" pitchFamily="34" charset="0"/>
              <a:buChar char="•"/>
            </a:pPr>
            <a:r>
              <a:rPr lang="en-GB" b="0" i="0" dirty="0">
                <a:solidFill>
                  <a:srgbClr val="21252A"/>
                </a:solidFill>
                <a:effectLst/>
                <a:latin typeface="Raleway" pitchFamily="2" charset="77"/>
              </a:rPr>
              <a:t>Ironically, the group suffers ultimately because they fail to achieve. </a:t>
            </a:r>
          </a:p>
          <a:p>
            <a:pPr algn="l">
              <a:buFont typeface="Arial" panose="020B0604020202020204" pitchFamily="34" charset="0"/>
              <a:buChar char="•"/>
            </a:pPr>
            <a:r>
              <a:rPr lang="en-GB" b="0" i="0" dirty="0">
                <a:solidFill>
                  <a:srgbClr val="21252A"/>
                </a:solidFill>
                <a:effectLst/>
                <a:latin typeface="Raleway" pitchFamily="2" charset="77"/>
              </a:rPr>
              <a:t>The style is common among leaders who are afraid of upsetting people, and/or who fear rejection and being disliked.</a:t>
            </a:r>
          </a:p>
          <a:p>
            <a:pPr algn="l">
              <a:buFont typeface="Arial" panose="020B0604020202020204" pitchFamily="34" charset="0"/>
              <a:buNone/>
            </a:pPr>
            <a:endParaRPr lang="en-GB" b="0" i="0" dirty="0">
              <a:solidFill>
                <a:srgbClr val="21252A"/>
              </a:solidFill>
              <a:effectLst/>
              <a:latin typeface="Raleway" pitchFamily="2" charset="77"/>
            </a:endParaRPr>
          </a:p>
          <a:p>
            <a:pPr algn="l"/>
            <a:r>
              <a:rPr lang="en-GB" b="1" i="0" dirty="0">
                <a:solidFill>
                  <a:srgbClr val="343A40"/>
                </a:solidFill>
                <a:effectLst/>
                <a:latin typeface="Raleway" pitchFamily="2" charset="77"/>
              </a:rPr>
              <a:t>Impoverished Style</a:t>
            </a:r>
          </a:p>
          <a:p>
            <a:pPr algn="l">
              <a:buFont typeface="Arial" panose="020B0604020202020204" pitchFamily="34" charset="0"/>
              <a:buChar char="•"/>
            </a:pPr>
            <a:r>
              <a:rPr lang="en-GB" b="1" i="0" dirty="0">
                <a:solidFill>
                  <a:srgbClr val="21252A"/>
                </a:solidFill>
                <a:effectLst/>
                <a:latin typeface="Raleway" pitchFamily="2" charset="77"/>
              </a:rPr>
              <a:t>Low People - </a:t>
            </a:r>
            <a:r>
              <a:rPr lang="en-GB" b="1" i="0" dirty="0" err="1">
                <a:solidFill>
                  <a:srgbClr val="21252A"/>
                </a:solidFill>
                <a:effectLst/>
                <a:latin typeface="Raleway" pitchFamily="2" charset="77"/>
              </a:rPr>
              <a:t>LowTask</a:t>
            </a:r>
            <a:r>
              <a:rPr lang="en-GB" b="1" i="0" dirty="0">
                <a:solidFill>
                  <a:srgbClr val="21252A"/>
                </a:solidFill>
                <a:effectLst/>
                <a:latin typeface="Raleway" pitchFamily="2" charset="77"/>
              </a:rPr>
              <a:t> - </a:t>
            </a:r>
            <a:r>
              <a:rPr lang="en-GB" b="0" i="0" dirty="0">
                <a:solidFill>
                  <a:srgbClr val="21252A"/>
                </a:solidFill>
                <a:effectLst/>
                <a:latin typeface="Raleway" pitchFamily="2" charset="77"/>
              </a:rPr>
              <a:t>Here the leader has both a low concern for people and a low concern for the task. </a:t>
            </a:r>
          </a:p>
          <a:p>
            <a:pPr algn="l">
              <a:buFont typeface="Arial" panose="020B0604020202020204" pitchFamily="34" charset="0"/>
              <a:buChar char="•"/>
            </a:pPr>
            <a:r>
              <a:rPr lang="en-GB" b="0" i="0" dirty="0">
                <a:solidFill>
                  <a:srgbClr val="21252A"/>
                </a:solidFill>
                <a:effectLst/>
                <a:latin typeface="Raleway" pitchFamily="2" charset="77"/>
              </a:rPr>
              <a:t>You may ask who would adopt this approach because it is obviously doomed to fail. The answer typically is 'leaders' who care mainly about themselves and are afraid of making mistakes. </a:t>
            </a:r>
          </a:p>
          <a:p>
            <a:pPr algn="l">
              <a:buFont typeface="Arial" panose="020B0604020202020204" pitchFamily="34" charset="0"/>
              <a:buChar char="•"/>
            </a:pPr>
            <a:r>
              <a:rPr lang="en-GB" b="0" i="0" dirty="0">
                <a:solidFill>
                  <a:srgbClr val="21252A"/>
                </a:solidFill>
                <a:effectLst/>
                <a:latin typeface="Raleway" pitchFamily="2" charset="77"/>
              </a:rPr>
              <a:t>Not surprisingly, Blake and Mouton said this is the </a:t>
            </a:r>
            <a:r>
              <a:rPr lang="en-GB" b="1" i="0" dirty="0">
                <a:solidFill>
                  <a:srgbClr val="21252A"/>
                </a:solidFill>
                <a:effectLst/>
                <a:latin typeface="Raleway" pitchFamily="2" charset="77"/>
              </a:rPr>
              <a:t>least effective approach to leadership.</a:t>
            </a:r>
          </a:p>
          <a:p>
            <a:pPr algn="l">
              <a:buFont typeface="Arial" panose="020B0604020202020204" pitchFamily="34" charset="0"/>
              <a:buNone/>
            </a:pPr>
            <a:endParaRPr lang="en-GB" b="0" i="0" dirty="0">
              <a:solidFill>
                <a:srgbClr val="21252A"/>
              </a:solidFill>
              <a:effectLst/>
              <a:latin typeface="Raleway" pitchFamily="2" charset="77"/>
            </a:endParaRPr>
          </a:p>
          <a:p>
            <a:pPr algn="l"/>
            <a:r>
              <a:rPr lang="en-GB" b="1" i="0" dirty="0">
                <a:solidFill>
                  <a:srgbClr val="343A40"/>
                </a:solidFill>
                <a:effectLst/>
                <a:latin typeface="Raleway" pitchFamily="2" charset="77"/>
              </a:rPr>
              <a:t>Middle of the Road Style</a:t>
            </a:r>
          </a:p>
          <a:p>
            <a:pPr algn="l">
              <a:buFont typeface="Arial" panose="020B0604020202020204" pitchFamily="34" charset="0"/>
              <a:buChar char="•"/>
            </a:pPr>
            <a:r>
              <a:rPr lang="en-GB" b="1" i="0" dirty="0">
                <a:solidFill>
                  <a:srgbClr val="21252A"/>
                </a:solidFill>
                <a:effectLst/>
                <a:latin typeface="Raleway" pitchFamily="2" charset="77"/>
              </a:rPr>
              <a:t>Mid People - Mid Task - </a:t>
            </a:r>
            <a:r>
              <a:rPr lang="en-GB" b="0" i="0" dirty="0">
                <a:solidFill>
                  <a:srgbClr val="21252A"/>
                </a:solidFill>
                <a:effectLst/>
                <a:latin typeface="Raleway" pitchFamily="2" charset="77"/>
              </a:rPr>
              <a:t>This is essentially an ineffectual compromise. There is some concern for the task and equally, some concern for people, but we might also say there is not enough of either. </a:t>
            </a:r>
          </a:p>
          <a:p>
            <a:pPr algn="l">
              <a:buFont typeface="Arial" panose="020B0604020202020204" pitchFamily="34" charset="0"/>
              <a:buChar char="•"/>
            </a:pPr>
            <a:r>
              <a:rPr lang="en-GB" b="0" i="0" dirty="0">
                <a:solidFill>
                  <a:srgbClr val="21252A"/>
                </a:solidFill>
                <a:effectLst/>
                <a:latin typeface="Raleway" pitchFamily="2" charset="77"/>
              </a:rPr>
              <a:t>Leaders adopting this behavioural approach try to address the needs of the task and their followers to some extent, but do so without conviction, skill or insight and therefore reduce their effectiveness. </a:t>
            </a:r>
          </a:p>
          <a:p>
            <a:pPr algn="l">
              <a:buFont typeface="Arial" panose="020B0604020202020204" pitchFamily="34" charset="0"/>
              <a:buChar char="•"/>
            </a:pPr>
            <a:r>
              <a:rPr lang="en-GB" b="0" i="0" dirty="0">
                <a:solidFill>
                  <a:srgbClr val="21252A"/>
                </a:solidFill>
                <a:effectLst/>
                <a:latin typeface="Raleway" pitchFamily="2" charset="77"/>
              </a:rPr>
              <a:t>Leadership generally requires a good degree of natural authority and decisiveness, so a style which lacks these aspects has much room for improvement.</a:t>
            </a:r>
          </a:p>
          <a:p>
            <a:pPr algn="l">
              <a:buFont typeface="Arial" panose="020B0604020202020204" pitchFamily="34" charset="0"/>
              <a:buNone/>
            </a:pPr>
            <a:endParaRPr lang="en-GB" b="0" i="0" dirty="0">
              <a:solidFill>
                <a:srgbClr val="21252A"/>
              </a:solidFill>
              <a:effectLst/>
              <a:latin typeface="Raleway" pitchFamily="2" charset="77"/>
            </a:endParaRPr>
          </a:p>
          <a:p>
            <a:pPr algn="l"/>
            <a:r>
              <a:rPr lang="en-GB" b="1" i="0" dirty="0">
                <a:solidFill>
                  <a:srgbClr val="343A40"/>
                </a:solidFill>
                <a:effectLst/>
                <a:latin typeface="Raleway" pitchFamily="2" charset="77"/>
              </a:rPr>
              <a:t>Produce-or-Perish Style</a:t>
            </a:r>
          </a:p>
          <a:p>
            <a:pPr algn="l">
              <a:buFont typeface="Arial" panose="020B0604020202020204" pitchFamily="34" charset="0"/>
              <a:buChar char="•"/>
            </a:pPr>
            <a:r>
              <a:rPr lang="en-GB" b="1" i="0" dirty="0">
                <a:solidFill>
                  <a:srgbClr val="21252A"/>
                </a:solidFill>
                <a:effectLst/>
                <a:latin typeface="Raleway" pitchFamily="2" charset="77"/>
              </a:rPr>
              <a:t>Low People - High Task - </a:t>
            </a:r>
            <a:r>
              <a:rPr lang="en-GB" b="0" i="0" dirty="0">
                <a:solidFill>
                  <a:srgbClr val="21252A"/>
                </a:solidFill>
                <a:effectLst/>
                <a:latin typeface="Raleway" pitchFamily="2" charset="77"/>
              </a:rPr>
              <a:t>Here we see a high focus on the task with little or no concern for people. This style is often referred to as autocratic. </a:t>
            </a:r>
          </a:p>
          <a:p>
            <a:pPr algn="l">
              <a:buFont typeface="Arial" panose="020B0604020202020204" pitchFamily="34" charset="0"/>
              <a:buChar char="•"/>
            </a:pPr>
            <a:r>
              <a:rPr lang="en-GB" b="0" i="0" dirty="0">
                <a:solidFill>
                  <a:srgbClr val="21252A"/>
                </a:solidFill>
                <a:effectLst/>
                <a:latin typeface="Raleway" pitchFamily="2" charset="77"/>
              </a:rPr>
              <a:t>Leaders using this style seek to control and dominate others.</a:t>
            </a:r>
          </a:p>
          <a:p>
            <a:pPr algn="l">
              <a:buFont typeface="Arial" panose="020B0604020202020204" pitchFamily="34" charset="0"/>
              <a:buChar char="•"/>
            </a:pPr>
            <a:r>
              <a:rPr lang="en-GB" b="0" i="0" dirty="0">
                <a:solidFill>
                  <a:srgbClr val="21252A"/>
                </a:solidFill>
                <a:effectLst/>
                <a:latin typeface="Raleway" pitchFamily="2" charset="77"/>
              </a:rPr>
              <a:t>A leader like this will commonly take the view that staff should be grateful to be employed and paid a salary. </a:t>
            </a:r>
          </a:p>
          <a:p>
            <a:pPr algn="l">
              <a:buFont typeface="Arial" panose="020B0604020202020204" pitchFamily="34" charset="0"/>
              <a:buChar char="•"/>
            </a:pPr>
            <a:r>
              <a:rPr lang="en-GB" b="0" i="0" dirty="0">
                <a:solidFill>
                  <a:srgbClr val="21252A"/>
                </a:solidFill>
                <a:effectLst/>
                <a:latin typeface="Raleway" pitchFamily="2" charset="77"/>
              </a:rPr>
              <a:t>Motivation is often attempted through a threat of punishment, such as being sacked. </a:t>
            </a:r>
          </a:p>
          <a:p>
            <a:pPr algn="l">
              <a:buFont typeface="Arial" panose="020B0604020202020204" pitchFamily="34" charset="0"/>
              <a:buChar char="•"/>
            </a:pPr>
            <a:r>
              <a:rPr lang="en-GB" b="0" i="0" dirty="0">
                <a:solidFill>
                  <a:srgbClr val="21252A"/>
                </a:solidFill>
                <a:effectLst/>
                <a:latin typeface="Raleway" pitchFamily="2" charset="77"/>
              </a:rPr>
              <a:t>This is a dictatorial style. In extreme cases, it would be rightly regarded as ruthless.</a:t>
            </a:r>
          </a:p>
          <a:p>
            <a:pPr algn="l">
              <a:buFont typeface="Arial" panose="020B0604020202020204" pitchFamily="34" charset="0"/>
              <a:buChar char="•"/>
            </a:pPr>
            <a:r>
              <a:rPr lang="en-GB" b="0" i="0" dirty="0">
                <a:solidFill>
                  <a:srgbClr val="21252A"/>
                </a:solidFill>
                <a:effectLst/>
                <a:latin typeface="Raleway" pitchFamily="2" charset="77"/>
              </a:rPr>
              <a:t>Sadly, it can be effective in the short term and interestingly, where a group is failing to react suitably to a serious crisis then it may actually be a viable style for a short period, but the approach is not sustainable, especially where followers have the option to walk away.</a:t>
            </a:r>
          </a:p>
          <a:p>
            <a:pPr algn="l"/>
            <a:r>
              <a:rPr lang="en-GB" b="0" i="0" dirty="0">
                <a:solidFill>
                  <a:srgbClr val="21252A"/>
                </a:solidFill>
                <a:effectLst/>
                <a:latin typeface="Raleway" pitchFamily="2" charset="77"/>
              </a:rPr>
              <a:t>This</a:t>
            </a:r>
            <a:r>
              <a:rPr lang="en-GB" b="1" i="0" dirty="0">
                <a:solidFill>
                  <a:srgbClr val="21252A"/>
                </a:solidFill>
                <a:effectLst/>
                <a:latin typeface="Raleway" pitchFamily="2" charset="77"/>
              </a:rPr>
              <a:t> reflects Theory X </a:t>
            </a:r>
            <a:r>
              <a:rPr lang="en-GB" b="0" i="0" dirty="0">
                <a:solidFill>
                  <a:srgbClr val="21252A"/>
                </a:solidFill>
                <a:effectLst/>
                <a:latin typeface="Raleway" pitchFamily="2" charset="77"/>
              </a:rPr>
              <a:t>in</a:t>
            </a:r>
            <a:r>
              <a:rPr lang="en-GB" b="1" i="0" dirty="0">
                <a:solidFill>
                  <a:srgbClr val="21252A"/>
                </a:solidFill>
                <a:effectLst/>
                <a:latin typeface="Raleway" pitchFamily="2" charset="77"/>
              </a:rPr>
              <a:t> </a:t>
            </a:r>
            <a:r>
              <a:rPr lang="en-GB" b="0" i="0" u="none" strike="noStrike" dirty="0">
                <a:solidFill>
                  <a:srgbClr val="5050FF"/>
                </a:solidFill>
                <a:effectLst/>
                <a:latin typeface="Raleway" pitchFamily="2" charset="77"/>
                <a:hlinkClick r:id="rId3"/>
              </a:rPr>
              <a:t>Douglas McGregor's X-Y Theory </a:t>
            </a:r>
            <a:r>
              <a:rPr lang="en-GB" b="0" i="0" dirty="0">
                <a:solidFill>
                  <a:srgbClr val="21252A"/>
                </a:solidFill>
                <a:effectLst/>
                <a:latin typeface="Raleway" pitchFamily="2" charset="77"/>
              </a:rPr>
              <a:t>- with the leader often operating under the assumption that individuals are naturally lacking in motivation, and require an external stimulus to inspire productivity. </a:t>
            </a:r>
          </a:p>
          <a:p>
            <a:pPr algn="l"/>
            <a:endParaRPr lang="en-GB" b="0" i="0" dirty="0">
              <a:solidFill>
                <a:srgbClr val="21252A"/>
              </a:solidFill>
              <a:effectLst/>
              <a:latin typeface="Raleway" pitchFamily="2" charset="77"/>
            </a:endParaRPr>
          </a:p>
          <a:p>
            <a:pPr algn="l"/>
            <a:r>
              <a:rPr lang="en-GB" b="1" i="0" dirty="0">
                <a:solidFill>
                  <a:srgbClr val="343A40"/>
                </a:solidFill>
                <a:effectLst/>
                <a:latin typeface="Raleway" pitchFamily="2" charset="77"/>
              </a:rPr>
              <a:t>Team Style</a:t>
            </a:r>
          </a:p>
          <a:p>
            <a:pPr algn="l">
              <a:buFont typeface="Arial" panose="020B0604020202020204" pitchFamily="34" charset="0"/>
              <a:buChar char="•"/>
            </a:pPr>
            <a:r>
              <a:rPr lang="en-GB" b="1" i="0" dirty="0">
                <a:solidFill>
                  <a:srgbClr val="21252A"/>
                </a:solidFill>
                <a:effectLst/>
                <a:latin typeface="Raleway" pitchFamily="2" charset="77"/>
              </a:rPr>
              <a:t>High People - High Task - </a:t>
            </a:r>
            <a:r>
              <a:rPr lang="en-GB" b="0" i="0" dirty="0">
                <a:solidFill>
                  <a:srgbClr val="21252A"/>
                </a:solidFill>
                <a:effectLst/>
                <a:latin typeface="Raleway" pitchFamily="2" charset="77"/>
              </a:rPr>
              <a:t>This style combines a high concern for and involvement in the group with a strong well-organised and communicated focus on achieving the task. Blake and Mouton saw this as</a:t>
            </a:r>
            <a:r>
              <a:rPr lang="en-GB" b="1" i="0" dirty="0">
                <a:solidFill>
                  <a:srgbClr val="21252A"/>
                </a:solidFill>
                <a:effectLst/>
                <a:latin typeface="Raleway" pitchFamily="2" charset="77"/>
              </a:rPr>
              <a:t> the ideal behavioural approach. </a:t>
            </a:r>
            <a:endParaRPr lang="en-GB" b="0" i="0" dirty="0">
              <a:solidFill>
                <a:srgbClr val="21252A"/>
              </a:solidFill>
              <a:effectLst/>
              <a:latin typeface="Raleway" pitchFamily="2" charset="77"/>
            </a:endParaRPr>
          </a:p>
          <a:p>
            <a:pPr algn="l">
              <a:buFont typeface="Arial" panose="020B0604020202020204" pitchFamily="34" charset="0"/>
              <a:buChar char="•"/>
            </a:pPr>
            <a:r>
              <a:rPr lang="en-GB" b="0" i="0" dirty="0">
                <a:solidFill>
                  <a:srgbClr val="21252A"/>
                </a:solidFill>
                <a:effectLst/>
                <a:latin typeface="Raleway" pitchFamily="2" charset="77"/>
              </a:rPr>
              <a:t>Leaders who behave like this manage to blend concern for both people and organisational aims by using a </a:t>
            </a:r>
            <a:r>
              <a:rPr lang="en-GB" b="1" i="0" dirty="0">
                <a:solidFill>
                  <a:srgbClr val="21252A"/>
                </a:solidFill>
                <a:effectLst/>
                <a:latin typeface="Raleway" pitchFamily="2" charset="77"/>
              </a:rPr>
              <a:t>collaborative teamwork approach</a:t>
            </a:r>
            <a:r>
              <a:rPr lang="en-GB" b="0" i="0" dirty="0">
                <a:solidFill>
                  <a:srgbClr val="21252A"/>
                </a:solidFill>
                <a:effectLst/>
                <a:latin typeface="Raleway" pitchFamily="2" charset="77"/>
              </a:rPr>
              <a:t>, and plenty of consultation enabling the development of a shared (not imposed) motivation to achieve the organisation's goals. </a:t>
            </a:r>
          </a:p>
          <a:p>
            <a:pPr algn="l">
              <a:buFont typeface="Arial" panose="020B0604020202020204" pitchFamily="34" charset="0"/>
              <a:buChar char="•"/>
            </a:pPr>
            <a:r>
              <a:rPr lang="en-GB" b="0" i="0" dirty="0">
                <a:solidFill>
                  <a:srgbClr val="21252A"/>
                </a:solidFill>
                <a:effectLst/>
                <a:latin typeface="Raleway" pitchFamily="2" charset="77"/>
              </a:rPr>
              <a:t>This style normally requires that followers/the group are suitably mature and skilled for a high level of involvement. The style is difficult to use and may be inadvisable when leading inexperienced people to produce challenging and vital results in a new or strange area.</a:t>
            </a:r>
          </a:p>
          <a:p>
            <a:pPr algn="l"/>
            <a:r>
              <a:rPr lang="en-GB" b="0" i="0" dirty="0">
                <a:solidFill>
                  <a:srgbClr val="21252A"/>
                </a:solidFill>
                <a:effectLst/>
                <a:latin typeface="Raleway" pitchFamily="2" charset="77"/>
              </a:rPr>
              <a:t>This </a:t>
            </a:r>
            <a:r>
              <a:rPr lang="en-GB" b="1" i="0" dirty="0">
                <a:solidFill>
                  <a:srgbClr val="21252A"/>
                </a:solidFill>
                <a:effectLst/>
                <a:latin typeface="Raleway" pitchFamily="2" charset="77"/>
              </a:rPr>
              <a:t>reflects Theory Y </a:t>
            </a:r>
            <a:r>
              <a:rPr lang="en-GB" b="0" i="0" dirty="0">
                <a:solidFill>
                  <a:srgbClr val="21252A"/>
                </a:solidFill>
                <a:effectLst/>
                <a:latin typeface="Raleway" pitchFamily="2" charset="77"/>
              </a:rPr>
              <a:t>in </a:t>
            </a:r>
            <a:r>
              <a:rPr lang="en-GB" b="0" i="0" u="none" strike="noStrike" dirty="0">
                <a:solidFill>
                  <a:srgbClr val="5050FF"/>
                </a:solidFill>
                <a:effectLst/>
                <a:latin typeface="Raleway" pitchFamily="2" charset="77"/>
                <a:hlinkClick r:id="rId3"/>
              </a:rPr>
              <a:t>Douglas McGregor's X-Y Theory </a:t>
            </a:r>
            <a:r>
              <a:rPr lang="en-GB" b="0" i="0" dirty="0">
                <a:solidFill>
                  <a:srgbClr val="21252A"/>
                </a:solidFill>
                <a:effectLst/>
                <a:latin typeface="Raleway" pitchFamily="2" charset="77"/>
              </a:rPr>
              <a:t>- with the leader often operating under the assumption that individuals are naturally self-motivated and happy to work so long as they are led well and provided with enough freedom to do so.</a:t>
            </a:r>
            <a:br>
              <a:rPr lang="en-GB" b="0" i="0" dirty="0">
                <a:solidFill>
                  <a:srgbClr val="21252A"/>
                </a:solidFill>
                <a:effectLst/>
                <a:latin typeface="Raleway" pitchFamily="2" charset="77"/>
              </a:rPr>
            </a:br>
            <a:endParaRPr lang="en-GB" b="0" i="0" dirty="0">
              <a:solidFill>
                <a:srgbClr val="21252A"/>
              </a:solidFill>
              <a:effectLst/>
              <a:latin typeface="Raleway" pitchFamily="2" charset="77"/>
            </a:endParaRPr>
          </a:p>
          <a:p>
            <a:pPr algn="l">
              <a:buFont typeface="Arial" panose="020B0604020202020204" pitchFamily="34" charset="0"/>
              <a:buChar char="•"/>
            </a:pPr>
            <a:r>
              <a:rPr lang="en-GB" b="0" i="0" dirty="0">
                <a:solidFill>
                  <a:srgbClr val="21252A"/>
                </a:solidFill>
                <a:effectLst/>
                <a:latin typeface="Raleway" pitchFamily="2" charset="77"/>
              </a:rPr>
              <a:t>Blake and Mouton noted that Team Style was preferable in an ideal world.</a:t>
            </a:r>
          </a:p>
          <a:p>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16</a:t>
            </a:fld>
            <a:endParaRPr lang="en-US"/>
          </a:p>
        </p:txBody>
      </p:sp>
    </p:spTree>
    <p:extLst>
      <p:ext uri="{BB962C8B-B14F-4D97-AF65-F5344CB8AC3E}">
        <p14:creationId xmlns:p14="http://schemas.microsoft.com/office/powerpoint/2010/main" val="339045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Innate traits are characteristics or qualities that are believed to be inherent and naturally occurring within an individual. </a:t>
            </a:r>
          </a:p>
          <a:p>
            <a:r>
              <a:rPr lang="en-GB" dirty="0"/>
              <a:t>These traits are often considered to be part of a person's genetic makeup and are typically present from birth or develop naturally over time without the influence of external factors.</a:t>
            </a:r>
          </a:p>
          <a:p>
            <a:r>
              <a:rPr lang="en-GB" dirty="0"/>
              <a:t> </a:t>
            </a:r>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19</a:t>
            </a:fld>
            <a:endParaRPr lang="en-US"/>
          </a:p>
        </p:txBody>
      </p:sp>
    </p:spTree>
    <p:extLst>
      <p:ext uri="{BB962C8B-B14F-4D97-AF65-F5344CB8AC3E}">
        <p14:creationId xmlns:p14="http://schemas.microsoft.com/office/powerpoint/2010/main" val="3398267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latin typeface="Times" pitchFamily="2" charset="0"/>
              </a:rPr>
              <a:t>Example:</a:t>
            </a:r>
            <a:r>
              <a:rPr lang="en-GB" dirty="0">
                <a:latin typeface="Times" pitchFamily="2" charset="0"/>
              </a:rPr>
              <a:t> A task-oriented leader might be more effective in highly structured situations with clear tasks and strong authority, whereas a relationship-oriented leader might excel in less structured environments with strong leader-member relations.</a:t>
            </a:r>
            <a:endParaRPr lang="en-LK" dirty="0">
              <a:latin typeface="Times" pitchFamily="2" charset="0"/>
            </a:endParaRPr>
          </a:p>
          <a:p>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21</a:t>
            </a:fld>
            <a:endParaRPr lang="en-US"/>
          </a:p>
        </p:txBody>
      </p:sp>
    </p:spTree>
    <p:extLst>
      <p:ext uri="{BB962C8B-B14F-4D97-AF65-F5344CB8AC3E}">
        <p14:creationId xmlns:p14="http://schemas.microsoft.com/office/powerpoint/2010/main" val="3610492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26</a:t>
            </a:fld>
            <a:endParaRPr lang="en-US"/>
          </a:p>
        </p:txBody>
      </p:sp>
    </p:spTree>
    <p:extLst>
      <p:ext uri="{BB962C8B-B14F-4D97-AF65-F5344CB8AC3E}">
        <p14:creationId xmlns:p14="http://schemas.microsoft.com/office/powerpoint/2010/main" val="127205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K" dirty="0"/>
          </a:p>
        </p:txBody>
      </p:sp>
      <p:sp>
        <p:nvSpPr>
          <p:cNvPr id="4" name="Slide Number Placeholder 3"/>
          <p:cNvSpPr>
            <a:spLocks noGrp="1"/>
          </p:cNvSpPr>
          <p:nvPr>
            <p:ph type="sldNum" sz="quarter" idx="5"/>
          </p:nvPr>
        </p:nvSpPr>
        <p:spPr/>
        <p:txBody>
          <a:bodyPr/>
          <a:lstStyle/>
          <a:p>
            <a:fld id="{A05D7663-356D-4CF3-8F59-7DB7DD818CE1}" type="slidenum">
              <a:rPr lang="en-US" smtClean="0"/>
              <a:t>27</a:t>
            </a:fld>
            <a:endParaRPr lang="en-US"/>
          </a:p>
        </p:txBody>
      </p:sp>
    </p:spTree>
    <p:extLst>
      <p:ext uri="{BB962C8B-B14F-4D97-AF65-F5344CB8AC3E}">
        <p14:creationId xmlns:p14="http://schemas.microsoft.com/office/powerpoint/2010/main" val="337608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E4BAF-C6C9-B2E7-5996-769ED24410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9EDF6E-81DB-9A5E-0CB2-D53F8E4ACA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803A1C-5460-179E-63B3-3E724E6CA019}"/>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5" name="Footer Placeholder 4">
            <a:extLst>
              <a:ext uri="{FF2B5EF4-FFF2-40B4-BE49-F238E27FC236}">
                <a16:creationId xmlns:a16="http://schemas.microsoft.com/office/drawing/2014/main" id="{347ED213-3394-09DA-9A9B-1E98B48C9C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A3005-7FE0-28EE-9722-79A5E8C84ED9}"/>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730417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9A8C9-E157-09DA-B9E9-C4591B27B3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660480-CEDC-8603-C2F6-2AEE2DC472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7BBCE1-BC37-0FE8-E047-422183A7C13E}"/>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5" name="Footer Placeholder 4">
            <a:extLst>
              <a:ext uri="{FF2B5EF4-FFF2-40B4-BE49-F238E27FC236}">
                <a16:creationId xmlns:a16="http://schemas.microsoft.com/office/drawing/2014/main" id="{0F28E192-86DE-916B-332D-C5B8A61BB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3EAF7-2BFC-FA87-9045-4E64E8E5799E}"/>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551555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1AA6C-A568-0EC8-F762-0E3C9573EA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76BB2B-85E3-E3F0-CBD0-02611ABC08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3F2D6F-5D6D-4F06-566E-9509CC8E1140}"/>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5" name="Footer Placeholder 4">
            <a:extLst>
              <a:ext uri="{FF2B5EF4-FFF2-40B4-BE49-F238E27FC236}">
                <a16:creationId xmlns:a16="http://schemas.microsoft.com/office/drawing/2014/main" id="{D28A941E-910D-AE24-E1DF-06BE31B510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AEA07-58C8-2CFF-7D4A-4AB3DA844A62}"/>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11888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AB689-4234-7892-A51A-183FA24F8D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BF170D-B928-BEE8-4BC3-E861ABD8F2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1FCE31-59A3-2583-E047-45F4FC919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BB1D7A-340E-8339-2A92-C5FB5FB8E0A0}"/>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6" name="Footer Placeholder 5">
            <a:extLst>
              <a:ext uri="{FF2B5EF4-FFF2-40B4-BE49-F238E27FC236}">
                <a16:creationId xmlns:a16="http://schemas.microsoft.com/office/drawing/2014/main" id="{3373FA32-B4F6-9E67-DD23-70C7A318A5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C365CB-4EE7-E4E6-E759-BA70991D0451}"/>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3141764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64F7A-FFE8-0E73-DBFB-FAF5966D42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8B7E32-738F-9B1D-19A2-91D73C4DB8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C5BFDC-8E6A-EF10-DDA8-1FF9FDD7E1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7986C4-9B42-DA05-B77E-065200C5DB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A5A3CE-DD03-2DD1-BDDC-EBC997EB1C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979161-9A62-0F23-E404-53807D6494B8}"/>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8" name="Footer Placeholder 7">
            <a:extLst>
              <a:ext uri="{FF2B5EF4-FFF2-40B4-BE49-F238E27FC236}">
                <a16:creationId xmlns:a16="http://schemas.microsoft.com/office/drawing/2014/main" id="{7D69E249-B2DE-EC2E-0B52-DB48432724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1E4F7D-0191-EC19-C5D6-C5B8598B136A}"/>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2871194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CC226-0269-BF06-3F8B-987FED299A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3C2564-D2F9-490B-93E3-032B46ED80DE}"/>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4" name="Footer Placeholder 3">
            <a:extLst>
              <a:ext uri="{FF2B5EF4-FFF2-40B4-BE49-F238E27FC236}">
                <a16:creationId xmlns:a16="http://schemas.microsoft.com/office/drawing/2014/main" id="{977AE97A-1E14-2497-CF54-8C1F677B25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286B11-C04B-8020-8211-BF030C8EB770}"/>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957282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295A1C-6235-9BF4-C99D-8F1B6176567B}"/>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3" name="Footer Placeholder 2">
            <a:extLst>
              <a:ext uri="{FF2B5EF4-FFF2-40B4-BE49-F238E27FC236}">
                <a16:creationId xmlns:a16="http://schemas.microsoft.com/office/drawing/2014/main" id="{4AFC73B7-24D7-8B0A-5DBC-8DC1C21F14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DFCFE3-F59D-0551-4D64-113B9606B119}"/>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515021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6182A-6B65-A652-AE59-0ADA8B3440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25C877-138B-D14F-E8A9-7AFCC2986E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35C5FF-CE5F-FED6-96F0-ECECC3622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FA5E1D-0962-D828-859D-8E886F4F6BAC}"/>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6" name="Footer Placeholder 5">
            <a:extLst>
              <a:ext uri="{FF2B5EF4-FFF2-40B4-BE49-F238E27FC236}">
                <a16:creationId xmlns:a16="http://schemas.microsoft.com/office/drawing/2014/main" id="{F2313B07-B8DA-0600-126F-1FACB56FB8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FBD936-91A2-B472-8074-D9080727C9F0}"/>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2559467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22F75-AC05-97B1-67B5-1D151DD2A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B463F8-96D6-43BB-7814-75AB679352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978FD6-0E0C-837D-AEDD-294694AAD4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75BA9A-0564-9EC1-AF47-BDFF8D43CAA7}"/>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6" name="Footer Placeholder 5">
            <a:extLst>
              <a:ext uri="{FF2B5EF4-FFF2-40B4-BE49-F238E27FC236}">
                <a16:creationId xmlns:a16="http://schemas.microsoft.com/office/drawing/2014/main" id="{85E25010-11F8-2580-EE7B-A8332DD97D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502378-BE43-FAFC-37E0-BE8F535A8FB0}"/>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2660954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A268-6EBF-6CA1-308E-6AA1A5FAF8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7BF6DB-B85A-F96B-C35D-E263B48FFD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00AC20-6350-196D-156B-036E0CBE3FA0}"/>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5" name="Footer Placeholder 4">
            <a:extLst>
              <a:ext uri="{FF2B5EF4-FFF2-40B4-BE49-F238E27FC236}">
                <a16:creationId xmlns:a16="http://schemas.microsoft.com/office/drawing/2014/main" id="{6D06076D-567D-7E89-02EE-90AC4607F0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26D5C7-41D1-DECB-264E-14503F5BF4F7}"/>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3057515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293893-E947-1AB7-E69E-9565A8695B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0A4927-1744-94E5-E8BD-3B89CD2CAE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AD6C6-2DF9-BECF-CCF2-16DCD89BEA82}"/>
              </a:ext>
            </a:extLst>
          </p:cNvPr>
          <p:cNvSpPr>
            <a:spLocks noGrp="1"/>
          </p:cNvSpPr>
          <p:nvPr>
            <p:ph type="dt" sz="half" idx="10"/>
          </p:nvPr>
        </p:nvSpPr>
        <p:spPr/>
        <p:txBody>
          <a:bodyPr/>
          <a:lstStyle/>
          <a:p>
            <a:fld id="{FA148A97-2A3E-4752-A7CC-921793E995AA}" type="datetimeFigureOut">
              <a:rPr lang="en-US" smtClean="0"/>
              <a:t>3/11/2026</a:t>
            </a:fld>
            <a:endParaRPr lang="en-US"/>
          </a:p>
        </p:txBody>
      </p:sp>
      <p:sp>
        <p:nvSpPr>
          <p:cNvPr id="5" name="Footer Placeholder 4">
            <a:extLst>
              <a:ext uri="{FF2B5EF4-FFF2-40B4-BE49-F238E27FC236}">
                <a16:creationId xmlns:a16="http://schemas.microsoft.com/office/drawing/2014/main" id="{ECA3DA01-70A2-C2D0-BBC2-1841051F26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C6AD99-BB6A-6B03-E08D-6CD9AD41DD1C}"/>
              </a:ext>
            </a:extLst>
          </p:cNvPr>
          <p:cNvSpPr>
            <a:spLocks noGrp="1"/>
          </p:cNvSpPr>
          <p:nvPr>
            <p:ph type="sldNum" sz="quarter" idx="12"/>
          </p:nvPr>
        </p:nvSpPr>
        <p:spPr/>
        <p:txBody>
          <a:bodyPr/>
          <a:lstStyle/>
          <a:p>
            <a:fld id="{077DFF25-2199-45DB-B0FB-1863E1886EE4}" type="slidenum">
              <a:rPr lang="en-US" smtClean="0"/>
              <a:t>‹#›</a:t>
            </a:fld>
            <a:endParaRPr lang="en-US"/>
          </a:p>
        </p:txBody>
      </p:sp>
    </p:spTree>
    <p:extLst>
      <p:ext uri="{BB962C8B-B14F-4D97-AF65-F5344CB8AC3E}">
        <p14:creationId xmlns:p14="http://schemas.microsoft.com/office/powerpoint/2010/main" val="1140623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6D7C49-9B1E-CFC8-3F55-AD90E97360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5D23D3-5F3D-4DB2-C351-D59D4BAF15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7FC8C7-7052-09DA-0723-1D56E57486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148A97-2A3E-4752-A7CC-921793E995AA}" type="datetimeFigureOut">
              <a:rPr lang="en-US" smtClean="0"/>
              <a:t>3/11/2026</a:t>
            </a:fld>
            <a:endParaRPr lang="en-US"/>
          </a:p>
        </p:txBody>
      </p:sp>
      <p:sp>
        <p:nvSpPr>
          <p:cNvPr id="5" name="Footer Placeholder 4">
            <a:extLst>
              <a:ext uri="{FF2B5EF4-FFF2-40B4-BE49-F238E27FC236}">
                <a16:creationId xmlns:a16="http://schemas.microsoft.com/office/drawing/2014/main" id="{DA4C0BF4-9B59-5842-582D-D0FB36A572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E7B8BF-6CB6-E9AB-597E-5E2BE2A08B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7DFF25-2199-45DB-B0FB-1863E1886EE4}" type="slidenum">
              <a:rPr lang="en-US" smtClean="0"/>
              <a:t>‹#›</a:t>
            </a:fld>
            <a:endParaRPr lang="en-US"/>
          </a:p>
        </p:txBody>
      </p:sp>
    </p:spTree>
    <p:extLst>
      <p:ext uri="{BB962C8B-B14F-4D97-AF65-F5344CB8AC3E}">
        <p14:creationId xmlns:p14="http://schemas.microsoft.com/office/powerpoint/2010/main" val="596286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6.jpeg"/></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29,174,932 Innovator Vector Images | Depositphotos">
            <a:extLst>
              <a:ext uri="{FF2B5EF4-FFF2-40B4-BE49-F238E27FC236}">
                <a16:creationId xmlns:a16="http://schemas.microsoft.com/office/drawing/2014/main" id="{4AD5CB4B-F298-BEAB-1162-73DCBEF5D6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2" t="7345" r="282" b="-709"/>
          <a:stretch/>
        </p:blipFill>
        <p:spPr bwMode="auto">
          <a:xfrm>
            <a:off x="2760133" y="1083733"/>
            <a:ext cx="6603999" cy="535357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C736E81-757E-C61A-B5EB-3235A3814596}"/>
              </a:ext>
            </a:extLst>
          </p:cNvPr>
          <p:cNvSpPr>
            <a:spLocks noGrp="1"/>
          </p:cNvSpPr>
          <p:nvPr>
            <p:ph type="ctrTitle"/>
          </p:nvPr>
        </p:nvSpPr>
        <p:spPr>
          <a:xfrm>
            <a:off x="0" y="63611"/>
            <a:ext cx="12191999" cy="825584"/>
          </a:xfrm>
          <a:solidFill>
            <a:schemeClr val="accent4">
              <a:lumMod val="50000"/>
            </a:schemeClr>
          </a:solidFill>
        </p:spPr>
        <p:txBody>
          <a:bodyPr>
            <a:noAutofit/>
          </a:bodyPr>
          <a:lstStyle/>
          <a:p>
            <a:r>
              <a:rPr lang="en-LK" sz="4400" b="1" dirty="0">
                <a:solidFill>
                  <a:schemeClr val="bg1">
                    <a:lumMod val="95000"/>
                  </a:schemeClr>
                </a:solidFill>
                <a:latin typeface="Times" pitchFamily="2" charset="0"/>
              </a:rPr>
              <a:t>Leadership Theories</a:t>
            </a:r>
          </a:p>
        </p:txBody>
      </p:sp>
      <p:sp>
        <p:nvSpPr>
          <p:cNvPr id="3" name="Subtitle 2">
            <a:extLst>
              <a:ext uri="{FF2B5EF4-FFF2-40B4-BE49-F238E27FC236}">
                <a16:creationId xmlns:a16="http://schemas.microsoft.com/office/drawing/2014/main" id="{FEA1FF7B-9FCF-E4EA-7294-03525745A4A5}"/>
              </a:ext>
            </a:extLst>
          </p:cNvPr>
          <p:cNvSpPr>
            <a:spLocks noGrp="1"/>
          </p:cNvSpPr>
          <p:nvPr>
            <p:ph type="subTitle" idx="1"/>
          </p:nvPr>
        </p:nvSpPr>
        <p:spPr>
          <a:xfrm>
            <a:off x="0" y="6240210"/>
            <a:ext cx="12192000" cy="588045"/>
          </a:xfrm>
          <a:noFill/>
        </p:spPr>
        <p:txBody>
          <a:bodyPr>
            <a:normAutofit/>
          </a:bodyPr>
          <a:lstStyle/>
          <a:p>
            <a:pPr>
              <a:lnSpc>
                <a:spcPct val="100000"/>
              </a:lnSpc>
            </a:pPr>
            <a:r>
              <a:rPr lang="en-LK" sz="1800" b="1" dirty="0">
                <a:latin typeface="Times" pitchFamily="2" charset="0"/>
              </a:rPr>
              <a:t>Ms. </a:t>
            </a:r>
            <a:r>
              <a:rPr lang="en-US" sz="1800" b="1" dirty="0">
                <a:latin typeface="Times" pitchFamily="2" charset="0"/>
              </a:rPr>
              <a:t>Sandali Ehalapitiya</a:t>
            </a:r>
            <a:r>
              <a:rPr lang="en-LK" sz="1800" b="1" dirty="0">
                <a:latin typeface="Times" pitchFamily="2" charset="0"/>
              </a:rPr>
              <a:t>| </a:t>
            </a:r>
            <a:r>
              <a:rPr lang="en-US" sz="1800" b="1" dirty="0">
                <a:latin typeface="Times" pitchFamily="2" charset="0"/>
              </a:rPr>
              <a:t>Assistant</a:t>
            </a:r>
            <a:r>
              <a:rPr lang="en-LK" sz="1800" b="1" dirty="0">
                <a:latin typeface="Times" pitchFamily="2" charset="0"/>
              </a:rPr>
              <a:t>Lecturer | SLIIT Business School</a:t>
            </a:r>
          </a:p>
        </p:txBody>
      </p:sp>
    </p:spTree>
    <p:extLst>
      <p:ext uri="{BB962C8B-B14F-4D97-AF65-F5344CB8AC3E}">
        <p14:creationId xmlns:p14="http://schemas.microsoft.com/office/powerpoint/2010/main" val="3554736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age 2 | Learning objectives Vectors &amp; Illustrations for Free Download |  Freepik">
            <a:extLst>
              <a:ext uri="{FF2B5EF4-FFF2-40B4-BE49-F238E27FC236}">
                <a16:creationId xmlns:a16="http://schemas.microsoft.com/office/drawing/2014/main" id="{88B01A71-6652-BF24-E70F-BD8FDB32B5C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542" t="2059" r="16773" b="7918"/>
          <a:stretch/>
        </p:blipFill>
        <p:spPr bwMode="auto">
          <a:xfrm>
            <a:off x="7804113" y="1825625"/>
            <a:ext cx="4269353" cy="50323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239857B-5046-07BE-A47F-45E184C18D9F}"/>
              </a:ext>
            </a:extLst>
          </p:cNvPr>
          <p:cNvSpPr>
            <a:spLocks noGrp="1"/>
          </p:cNvSpPr>
          <p:nvPr>
            <p:ph type="title"/>
          </p:nvPr>
        </p:nvSpPr>
        <p:spPr/>
        <p:txBody>
          <a:bodyPr/>
          <a:lstStyle/>
          <a:p>
            <a:r>
              <a:rPr lang="en-LK" b="1" dirty="0">
                <a:latin typeface="Times" pitchFamily="2" charset="0"/>
              </a:rPr>
              <a:t>Learning Outcomes</a:t>
            </a:r>
          </a:p>
        </p:txBody>
      </p:sp>
      <p:sp>
        <p:nvSpPr>
          <p:cNvPr id="3" name="Content Placeholder 2">
            <a:extLst>
              <a:ext uri="{FF2B5EF4-FFF2-40B4-BE49-F238E27FC236}">
                <a16:creationId xmlns:a16="http://schemas.microsoft.com/office/drawing/2014/main" id="{1A0C1EC6-2C44-FF07-00F1-90BA0B88655B}"/>
              </a:ext>
            </a:extLst>
          </p:cNvPr>
          <p:cNvSpPr>
            <a:spLocks noGrp="1"/>
          </p:cNvSpPr>
          <p:nvPr>
            <p:ph idx="1"/>
          </p:nvPr>
        </p:nvSpPr>
        <p:spPr/>
        <p:txBody>
          <a:bodyPr>
            <a:normAutofit/>
          </a:bodyPr>
          <a:lstStyle/>
          <a:p>
            <a:pPr marL="0" indent="0">
              <a:lnSpc>
                <a:spcPct val="150000"/>
              </a:lnSpc>
              <a:buNone/>
            </a:pPr>
            <a:r>
              <a:rPr lang="en-GB" sz="2400" b="1" dirty="0">
                <a:latin typeface="Times" pitchFamily="2" charset="0"/>
              </a:rPr>
              <a:t>At the end of this lesson students should be able to;</a:t>
            </a:r>
          </a:p>
          <a:p>
            <a:pPr>
              <a:lnSpc>
                <a:spcPct val="150000"/>
              </a:lnSpc>
            </a:pPr>
            <a:r>
              <a:rPr lang="en-GB" sz="2400" dirty="0">
                <a:latin typeface="Times" pitchFamily="2" charset="0"/>
              </a:rPr>
              <a:t>Identify major leadership theories.</a:t>
            </a:r>
          </a:p>
          <a:p>
            <a:pPr>
              <a:lnSpc>
                <a:spcPct val="150000"/>
              </a:lnSpc>
            </a:pPr>
            <a:r>
              <a:rPr lang="en-GB" sz="2400" dirty="0">
                <a:latin typeface="Times" pitchFamily="2" charset="0"/>
              </a:rPr>
              <a:t>Explain the trait theory of leadership.</a:t>
            </a:r>
          </a:p>
          <a:p>
            <a:pPr>
              <a:lnSpc>
                <a:spcPct val="150000"/>
              </a:lnSpc>
            </a:pPr>
            <a:r>
              <a:rPr lang="en-GB" sz="2400" dirty="0">
                <a:latin typeface="Times" pitchFamily="2" charset="0"/>
              </a:rPr>
              <a:t>Explain the behavioural theory of leadership.</a:t>
            </a:r>
          </a:p>
          <a:p>
            <a:pPr>
              <a:lnSpc>
                <a:spcPct val="150000"/>
              </a:lnSpc>
            </a:pPr>
            <a:r>
              <a:rPr lang="en-GB" sz="2400" dirty="0">
                <a:latin typeface="Times" pitchFamily="2" charset="0"/>
              </a:rPr>
              <a:t>Explain the contingency theory of leadership.</a:t>
            </a:r>
          </a:p>
          <a:p>
            <a:pPr>
              <a:lnSpc>
                <a:spcPct val="150000"/>
              </a:lnSpc>
            </a:pPr>
            <a:endParaRPr lang="en-GB" sz="2400" dirty="0">
              <a:latin typeface="Times" pitchFamily="2" charset="0"/>
            </a:endParaRPr>
          </a:p>
        </p:txBody>
      </p:sp>
    </p:spTree>
    <p:extLst>
      <p:ext uri="{BB962C8B-B14F-4D97-AF65-F5344CB8AC3E}">
        <p14:creationId xmlns:p14="http://schemas.microsoft.com/office/powerpoint/2010/main" val="1100556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155A4-5274-F534-FF2B-16DF45B81559}"/>
              </a:ext>
            </a:extLst>
          </p:cNvPr>
          <p:cNvSpPr>
            <a:spLocks noGrp="1"/>
          </p:cNvSpPr>
          <p:nvPr>
            <p:ph type="title"/>
          </p:nvPr>
        </p:nvSpPr>
        <p:spPr>
          <a:xfrm>
            <a:off x="1473200" y="354012"/>
            <a:ext cx="2882900" cy="866775"/>
          </a:xfrm>
        </p:spPr>
        <p:txBody>
          <a:bodyPr/>
          <a:lstStyle/>
          <a:p>
            <a:pPr algn="ctr"/>
            <a:r>
              <a:rPr lang="en-LK" b="1" dirty="0">
                <a:latin typeface="Times" pitchFamily="2" charset="0"/>
              </a:rPr>
              <a:t>Contents</a:t>
            </a:r>
          </a:p>
        </p:txBody>
      </p:sp>
      <p:sp>
        <p:nvSpPr>
          <p:cNvPr id="3" name="Content Placeholder 2">
            <a:extLst>
              <a:ext uri="{FF2B5EF4-FFF2-40B4-BE49-F238E27FC236}">
                <a16:creationId xmlns:a16="http://schemas.microsoft.com/office/drawing/2014/main" id="{BD96C4B2-5469-F094-2EC4-9F84339DB081}"/>
              </a:ext>
            </a:extLst>
          </p:cNvPr>
          <p:cNvSpPr>
            <a:spLocks noGrp="1"/>
          </p:cNvSpPr>
          <p:nvPr>
            <p:ph idx="1"/>
          </p:nvPr>
        </p:nvSpPr>
        <p:spPr>
          <a:xfrm>
            <a:off x="6756402" y="1610783"/>
            <a:ext cx="4927600" cy="4400550"/>
          </a:xfrm>
        </p:spPr>
        <p:txBody>
          <a:bodyPr>
            <a:normAutofit/>
          </a:bodyPr>
          <a:lstStyle/>
          <a:p>
            <a:pPr>
              <a:lnSpc>
                <a:spcPct val="150000"/>
              </a:lnSpc>
            </a:pPr>
            <a:r>
              <a:rPr lang="en-LK" sz="3200" b="1" dirty="0">
                <a:latin typeface="Times" pitchFamily="2" charset="0"/>
              </a:rPr>
              <a:t>Leadership Theories</a:t>
            </a:r>
          </a:p>
          <a:p>
            <a:pPr lvl="1">
              <a:lnSpc>
                <a:spcPct val="200000"/>
              </a:lnSpc>
            </a:pPr>
            <a:r>
              <a:rPr lang="en-LK" sz="2800" i="1" dirty="0">
                <a:latin typeface="Times" pitchFamily="2" charset="0"/>
              </a:rPr>
              <a:t>Trait Theory</a:t>
            </a:r>
          </a:p>
          <a:p>
            <a:pPr lvl="1">
              <a:lnSpc>
                <a:spcPct val="200000"/>
              </a:lnSpc>
            </a:pPr>
            <a:r>
              <a:rPr lang="en-LK" sz="2800" i="1" dirty="0">
                <a:latin typeface="Times" pitchFamily="2" charset="0"/>
              </a:rPr>
              <a:t>Behavioural Theory</a:t>
            </a:r>
          </a:p>
          <a:p>
            <a:pPr lvl="1">
              <a:lnSpc>
                <a:spcPct val="200000"/>
              </a:lnSpc>
            </a:pPr>
            <a:r>
              <a:rPr lang="en-LK" sz="2800" i="1" dirty="0">
                <a:latin typeface="Times" pitchFamily="2" charset="0"/>
              </a:rPr>
              <a:t>Contingency Theory</a:t>
            </a:r>
          </a:p>
          <a:p>
            <a:pPr marL="457200" lvl="1" indent="0">
              <a:lnSpc>
                <a:spcPct val="100000"/>
              </a:lnSpc>
              <a:buNone/>
            </a:pPr>
            <a:endParaRPr lang="en-LK" sz="2800" dirty="0">
              <a:latin typeface="Times" pitchFamily="2" charset="0"/>
            </a:endParaRPr>
          </a:p>
        </p:txBody>
      </p:sp>
      <p:pic>
        <p:nvPicPr>
          <p:cNvPr id="2050" name="Picture 2" descr="8,611,908 Table of contents Vector Images | Depositphotos">
            <a:extLst>
              <a:ext uri="{FF2B5EF4-FFF2-40B4-BE49-F238E27FC236}">
                <a16:creationId xmlns:a16="http://schemas.microsoft.com/office/drawing/2014/main" id="{12A45CF1-3BDF-5152-3ACC-51464A5E0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66" y="1220787"/>
            <a:ext cx="4792133" cy="4792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4465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EA535-EB85-3A61-F994-73405574EE8B}"/>
              </a:ext>
            </a:extLst>
          </p:cNvPr>
          <p:cNvSpPr>
            <a:spLocks noGrp="1"/>
          </p:cNvSpPr>
          <p:nvPr>
            <p:ph type="title"/>
          </p:nvPr>
        </p:nvSpPr>
        <p:spPr/>
        <p:txBody>
          <a:bodyPr/>
          <a:lstStyle/>
          <a:p>
            <a:r>
              <a:rPr lang="en-LK" b="1" dirty="0">
                <a:latin typeface="Times" pitchFamily="2" charset="0"/>
              </a:rPr>
              <a:t>Leadership Theories</a:t>
            </a:r>
          </a:p>
        </p:txBody>
      </p:sp>
      <p:sp>
        <p:nvSpPr>
          <p:cNvPr id="3" name="Content Placeholder 2">
            <a:extLst>
              <a:ext uri="{FF2B5EF4-FFF2-40B4-BE49-F238E27FC236}">
                <a16:creationId xmlns:a16="http://schemas.microsoft.com/office/drawing/2014/main" id="{74B9DBC0-93BE-C334-CAEB-02A62D8BA9D9}"/>
              </a:ext>
            </a:extLst>
          </p:cNvPr>
          <p:cNvSpPr>
            <a:spLocks noGrp="1"/>
          </p:cNvSpPr>
          <p:nvPr>
            <p:ph idx="1"/>
          </p:nvPr>
        </p:nvSpPr>
        <p:spPr>
          <a:xfrm>
            <a:off x="838200" y="1690688"/>
            <a:ext cx="6968067" cy="4971521"/>
          </a:xfrm>
        </p:spPr>
        <p:txBody>
          <a:bodyPr>
            <a:normAutofit/>
          </a:bodyPr>
          <a:lstStyle/>
          <a:p>
            <a:pPr algn="just">
              <a:lnSpc>
                <a:spcPct val="100000"/>
              </a:lnSpc>
            </a:pPr>
            <a:r>
              <a:rPr lang="en-GB" sz="2000" dirty="0">
                <a:latin typeface="Times" pitchFamily="2" charset="0"/>
              </a:rPr>
              <a:t>Leadership theories are frameworks that </a:t>
            </a:r>
            <a:r>
              <a:rPr lang="en-GB" sz="2000" b="1" i="1" dirty="0">
                <a:latin typeface="Times" pitchFamily="2" charset="0"/>
              </a:rPr>
              <a:t>explain how and why certain individuals become effective leaders. </a:t>
            </a:r>
          </a:p>
          <a:p>
            <a:pPr algn="just">
              <a:lnSpc>
                <a:spcPct val="100000"/>
              </a:lnSpc>
            </a:pPr>
            <a:endParaRPr lang="en-GB" sz="1000" dirty="0">
              <a:latin typeface="Times" pitchFamily="2" charset="0"/>
            </a:endParaRPr>
          </a:p>
          <a:p>
            <a:pPr algn="just">
              <a:lnSpc>
                <a:spcPct val="100000"/>
              </a:lnSpc>
            </a:pPr>
            <a:r>
              <a:rPr lang="en-GB" sz="2000" dirty="0">
                <a:latin typeface="Times" pitchFamily="2" charset="0"/>
              </a:rPr>
              <a:t>These theories provide insights into different aspects that contribute to successful leadership.</a:t>
            </a:r>
            <a:endParaRPr lang="en-LK" sz="2000" dirty="0">
              <a:latin typeface="Times" pitchFamily="2" charset="0"/>
            </a:endParaRPr>
          </a:p>
          <a:p>
            <a:pPr marL="914400" lvl="1" indent="-457200" algn="just">
              <a:lnSpc>
                <a:spcPct val="100000"/>
              </a:lnSpc>
              <a:buFont typeface="+mj-lt"/>
              <a:buAutoNum type="arabicPeriod"/>
            </a:pPr>
            <a:r>
              <a:rPr lang="en-LK" sz="1800" b="1" i="1" dirty="0">
                <a:latin typeface="Times" pitchFamily="2" charset="0"/>
              </a:rPr>
              <a:t>Trait Theory of Leadership</a:t>
            </a:r>
          </a:p>
          <a:p>
            <a:pPr marL="914400" lvl="1" indent="-457200" algn="just">
              <a:lnSpc>
                <a:spcPct val="100000"/>
              </a:lnSpc>
              <a:buFont typeface="+mj-lt"/>
              <a:buAutoNum type="arabicPeriod"/>
            </a:pPr>
            <a:r>
              <a:rPr lang="en-LK" sz="1800" b="1" i="1" dirty="0">
                <a:latin typeface="Times" pitchFamily="2" charset="0"/>
              </a:rPr>
              <a:t>Behavioral Theory of Leadership</a:t>
            </a:r>
          </a:p>
          <a:p>
            <a:pPr marL="914400" lvl="1" indent="-457200" algn="just">
              <a:lnSpc>
                <a:spcPct val="100000"/>
              </a:lnSpc>
              <a:buFont typeface="+mj-lt"/>
              <a:buAutoNum type="arabicPeriod"/>
            </a:pPr>
            <a:r>
              <a:rPr lang="en-LK" sz="1800" b="1" i="1" dirty="0">
                <a:latin typeface="Times" pitchFamily="2" charset="0"/>
              </a:rPr>
              <a:t>Contingency Theory of Leadership</a:t>
            </a:r>
          </a:p>
          <a:p>
            <a:pPr algn="just">
              <a:lnSpc>
                <a:spcPct val="100000"/>
              </a:lnSpc>
            </a:pPr>
            <a:endParaRPr lang="en-LK" dirty="0">
              <a:latin typeface="Times" pitchFamily="2" charset="0"/>
            </a:endParaRPr>
          </a:p>
        </p:txBody>
      </p:sp>
      <p:pic>
        <p:nvPicPr>
          <p:cNvPr id="1026" name="Picture 2" descr="How Your Leadership Will Impact on Company Development - CEO Monthly">
            <a:extLst>
              <a:ext uri="{FF2B5EF4-FFF2-40B4-BE49-F238E27FC236}">
                <a16:creationId xmlns:a16="http://schemas.microsoft.com/office/drawing/2014/main" id="{B62F9EBA-50B9-FF72-0B24-573D5F61F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3409" y="3602736"/>
            <a:ext cx="5122924" cy="2890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30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dissolv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remium Vector | Team profile card with character icon illustration">
            <a:extLst>
              <a:ext uri="{FF2B5EF4-FFF2-40B4-BE49-F238E27FC236}">
                <a16:creationId xmlns:a16="http://schemas.microsoft.com/office/drawing/2014/main" id="{BF96FA59-F654-21EF-8F32-5278CE9B64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569" t="13001" r="15249" b="13722"/>
          <a:stretch/>
        </p:blipFill>
        <p:spPr bwMode="auto">
          <a:xfrm>
            <a:off x="2957512" y="1785009"/>
            <a:ext cx="5872163" cy="472823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FC4268C-B9DB-A28F-8C06-39AE91CE214C}"/>
              </a:ext>
            </a:extLst>
          </p:cNvPr>
          <p:cNvSpPr>
            <a:spLocks noGrp="1"/>
          </p:cNvSpPr>
          <p:nvPr>
            <p:ph type="title"/>
          </p:nvPr>
        </p:nvSpPr>
        <p:spPr>
          <a:xfrm>
            <a:off x="838200" y="-29504"/>
            <a:ext cx="10515600" cy="1590675"/>
          </a:xfrm>
        </p:spPr>
        <p:txBody>
          <a:bodyPr/>
          <a:lstStyle/>
          <a:p>
            <a:pPr algn="ctr"/>
            <a:r>
              <a:rPr lang="en-LK" sz="5400" b="1" dirty="0">
                <a:solidFill>
                  <a:srgbClr val="0070C0"/>
                </a:solidFill>
                <a:latin typeface="Times" pitchFamily="2" charset="0"/>
              </a:rPr>
              <a:t>T01: </a:t>
            </a:r>
            <a:r>
              <a:rPr lang="en-LK" sz="5400" b="1" dirty="0">
                <a:solidFill>
                  <a:srgbClr val="57122D"/>
                </a:solidFill>
                <a:latin typeface="Times" pitchFamily="2" charset="0"/>
              </a:rPr>
              <a:t>Trait Theory of Leadership</a:t>
            </a:r>
          </a:p>
        </p:txBody>
      </p:sp>
    </p:spTree>
    <p:extLst>
      <p:ext uri="{BB962C8B-B14F-4D97-AF65-F5344CB8AC3E}">
        <p14:creationId xmlns:p14="http://schemas.microsoft.com/office/powerpoint/2010/main" val="618790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CFF00-A0DB-9A7E-6088-27772D16A8EF}"/>
              </a:ext>
            </a:extLst>
          </p:cNvPr>
          <p:cNvSpPr>
            <a:spLocks noGrp="1"/>
          </p:cNvSpPr>
          <p:nvPr>
            <p:ph type="title"/>
          </p:nvPr>
        </p:nvSpPr>
        <p:spPr>
          <a:xfrm>
            <a:off x="609601" y="411163"/>
            <a:ext cx="10515600" cy="1120775"/>
          </a:xfrm>
        </p:spPr>
        <p:txBody>
          <a:bodyPr>
            <a:normAutofit/>
          </a:bodyPr>
          <a:lstStyle/>
          <a:p>
            <a:r>
              <a:rPr lang="en-LK" sz="4000" b="1" dirty="0">
                <a:latin typeface="Times" pitchFamily="2" charset="0"/>
              </a:rPr>
              <a:t>Trait Theory of Leadership</a:t>
            </a:r>
          </a:p>
        </p:txBody>
      </p:sp>
      <p:sp>
        <p:nvSpPr>
          <p:cNvPr id="3" name="Content Placeholder 2">
            <a:extLst>
              <a:ext uri="{FF2B5EF4-FFF2-40B4-BE49-F238E27FC236}">
                <a16:creationId xmlns:a16="http://schemas.microsoft.com/office/drawing/2014/main" id="{BCDD7720-D31A-7EA0-A760-927B91B823B9}"/>
              </a:ext>
            </a:extLst>
          </p:cNvPr>
          <p:cNvSpPr>
            <a:spLocks noGrp="1"/>
          </p:cNvSpPr>
          <p:nvPr>
            <p:ph idx="1"/>
          </p:nvPr>
        </p:nvSpPr>
        <p:spPr>
          <a:xfrm>
            <a:off x="609601" y="1739119"/>
            <a:ext cx="6362700" cy="4906645"/>
          </a:xfrm>
        </p:spPr>
        <p:txBody>
          <a:bodyPr>
            <a:normAutofit/>
          </a:bodyPr>
          <a:lstStyle/>
          <a:p>
            <a:pPr algn="just">
              <a:lnSpc>
                <a:spcPct val="100000"/>
              </a:lnSpc>
            </a:pPr>
            <a:r>
              <a:rPr lang="en-GB" sz="2000" dirty="0">
                <a:latin typeface="Times" pitchFamily="2" charset="0"/>
              </a:rPr>
              <a:t>The Trait Theory of Leadership states that effective leaders </a:t>
            </a:r>
            <a:r>
              <a:rPr lang="en-GB" sz="2000" b="1" i="1" dirty="0">
                <a:latin typeface="Times" pitchFamily="2" charset="0"/>
              </a:rPr>
              <a:t>possess a set of innate traits</a:t>
            </a:r>
            <a:r>
              <a:rPr lang="en-GB" sz="2000" dirty="0">
                <a:latin typeface="Times" pitchFamily="2" charset="0"/>
              </a:rPr>
              <a:t> that distinguish them from non-leaders. </a:t>
            </a:r>
          </a:p>
          <a:p>
            <a:pPr algn="just">
              <a:lnSpc>
                <a:spcPct val="170000"/>
              </a:lnSpc>
            </a:pPr>
            <a:endParaRPr lang="en-GB" sz="2000" dirty="0">
              <a:latin typeface="Times" pitchFamily="2" charset="0"/>
            </a:endParaRPr>
          </a:p>
          <a:p>
            <a:pPr algn="just">
              <a:lnSpc>
                <a:spcPct val="100000"/>
              </a:lnSpc>
            </a:pPr>
            <a:r>
              <a:rPr lang="en-GB" sz="2000" dirty="0">
                <a:latin typeface="Times" pitchFamily="2" charset="0"/>
              </a:rPr>
              <a:t>These traits are believed to be </a:t>
            </a:r>
            <a:r>
              <a:rPr lang="en-GB" sz="2000" b="1" i="1" dirty="0">
                <a:latin typeface="Times" pitchFamily="2" charset="0"/>
              </a:rPr>
              <a:t>inherent qualities or characteristics</a:t>
            </a:r>
            <a:r>
              <a:rPr lang="en-GB" sz="2000" dirty="0">
                <a:latin typeface="Times" pitchFamily="2" charset="0"/>
              </a:rPr>
              <a:t> that naturally lead individuals to leadership roles.</a:t>
            </a:r>
          </a:p>
          <a:p>
            <a:pPr marL="0" indent="0" algn="just">
              <a:lnSpc>
                <a:spcPct val="170000"/>
              </a:lnSpc>
              <a:buNone/>
            </a:pPr>
            <a:endParaRPr lang="en-GB" sz="2000" dirty="0">
              <a:latin typeface="Times" pitchFamily="2" charset="0"/>
            </a:endParaRPr>
          </a:p>
          <a:p>
            <a:pPr algn="just">
              <a:lnSpc>
                <a:spcPct val="100000"/>
              </a:lnSpc>
            </a:pPr>
            <a:r>
              <a:rPr lang="en-GB" altLang="en-US" sz="2000" dirty="0">
                <a:effectLst/>
                <a:latin typeface="Times" pitchFamily="2" charset="0"/>
              </a:rPr>
              <a:t>Accordingly, this theory suggests that </a:t>
            </a:r>
            <a:r>
              <a:rPr lang="en-GB" altLang="en-US" sz="2000" b="1" i="1" dirty="0">
                <a:effectLst/>
                <a:latin typeface="Times" pitchFamily="2" charset="0"/>
              </a:rPr>
              <a:t>leaders are distinguishably identified </a:t>
            </a:r>
            <a:r>
              <a:rPr lang="en-GB" altLang="en-US" sz="2000" dirty="0">
                <a:effectLst/>
                <a:latin typeface="Times" pitchFamily="2" charset="0"/>
              </a:rPr>
              <a:t>from non-leaders </a:t>
            </a:r>
            <a:r>
              <a:rPr lang="en-GB" altLang="en-US" sz="2000" b="1" i="1" dirty="0">
                <a:effectLst/>
                <a:latin typeface="Times" pitchFamily="2" charset="0"/>
              </a:rPr>
              <a:t>based on the unique characteristics</a:t>
            </a:r>
            <a:r>
              <a:rPr lang="en-GB" altLang="en-US" sz="2000" dirty="0">
                <a:effectLst/>
                <a:latin typeface="Times" pitchFamily="2" charset="0"/>
              </a:rPr>
              <a:t> they denote</a:t>
            </a:r>
            <a:endParaRPr lang="en-LK" sz="2000" dirty="0"/>
          </a:p>
        </p:txBody>
      </p:sp>
      <p:pic>
        <p:nvPicPr>
          <p:cNvPr id="8194" name="Picture 2" descr="Leadership Traits">
            <a:extLst>
              <a:ext uri="{FF2B5EF4-FFF2-40B4-BE49-F238E27FC236}">
                <a16:creationId xmlns:a16="http://schemas.microsoft.com/office/drawing/2014/main" id="{4CD49DC7-A07B-2A06-B8E5-00546D467D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521" t="14791" r="11979" b="5325"/>
          <a:stretch/>
        </p:blipFill>
        <p:spPr bwMode="auto">
          <a:xfrm>
            <a:off x="7372350" y="1600200"/>
            <a:ext cx="4591050" cy="4286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520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15FD-980B-2889-4D46-A69BE0C3D168}"/>
              </a:ext>
            </a:extLst>
          </p:cNvPr>
          <p:cNvSpPr>
            <a:spLocks noGrp="1"/>
          </p:cNvSpPr>
          <p:nvPr>
            <p:ph type="title"/>
          </p:nvPr>
        </p:nvSpPr>
        <p:spPr>
          <a:xfrm>
            <a:off x="407963" y="154745"/>
            <a:ext cx="10515600" cy="812165"/>
          </a:xfrm>
        </p:spPr>
        <p:txBody>
          <a:bodyPr>
            <a:normAutofit/>
          </a:bodyPr>
          <a:lstStyle/>
          <a:p>
            <a:r>
              <a:rPr lang="en-LK" sz="4000" b="1" dirty="0">
                <a:latin typeface="Times" pitchFamily="2" charset="0"/>
              </a:rPr>
              <a:t>Examples of Key Traits</a:t>
            </a:r>
          </a:p>
        </p:txBody>
      </p:sp>
      <p:sp>
        <p:nvSpPr>
          <p:cNvPr id="3" name="Content Placeholder 2">
            <a:extLst>
              <a:ext uri="{FF2B5EF4-FFF2-40B4-BE49-F238E27FC236}">
                <a16:creationId xmlns:a16="http://schemas.microsoft.com/office/drawing/2014/main" id="{2026448B-E9AA-56FB-0DAD-A8F5865BAC91}"/>
              </a:ext>
            </a:extLst>
          </p:cNvPr>
          <p:cNvSpPr>
            <a:spLocks noGrp="1"/>
          </p:cNvSpPr>
          <p:nvPr>
            <p:ph idx="1"/>
          </p:nvPr>
        </p:nvSpPr>
        <p:spPr>
          <a:xfrm>
            <a:off x="3257549" y="1362172"/>
            <a:ext cx="8030014" cy="5341083"/>
          </a:xfrm>
        </p:spPr>
        <p:txBody>
          <a:bodyPr>
            <a:noAutofit/>
          </a:bodyPr>
          <a:lstStyle/>
          <a:p>
            <a:pPr marL="0" indent="0" algn="just">
              <a:lnSpc>
                <a:spcPct val="110000"/>
              </a:lnSpc>
              <a:buNone/>
            </a:pPr>
            <a:r>
              <a:rPr lang="en-GB" sz="2000" b="1" dirty="0">
                <a:solidFill>
                  <a:srgbClr val="C00000"/>
                </a:solidFill>
                <a:latin typeface="Times" pitchFamily="2" charset="0"/>
              </a:rPr>
              <a:t>Intelligence:</a:t>
            </a:r>
            <a:r>
              <a:rPr lang="en-GB" sz="2000" dirty="0">
                <a:solidFill>
                  <a:srgbClr val="C00000"/>
                </a:solidFill>
                <a:latin typeface="Times" pitchFamily="2" charset="0"/>
              </a:rPr>
              <a:t> </a:t>
            </a:r>
          </a:p>
          <a:p>
            <a:pPr algn="just">
              <a:lnSpc>
                <a:spcPct val="110000"/>
              </a:lnSpc>
            </a:pPr>
            <a:r>
              <a:rPr lang="en-GB" sz="1800" dirty="0">
                <a:latin typeface="Times" pitchFamily="2" charset="0"/>
              </a:rPr>
              <a:t>Leaders often exhibit high levels of intelligence, which enables them to </a:t>
            </a:r>
            <a:r>
              <a:rPr lang="en-GB" sz="1800" b="1" i="1" dirty="0" err="1">
                <a:latin typeface="Times" pitchFamily="2" charset="0"/>
              </a:rPr>
              <a:t>analyze</a:t>
            </a:r>
            <a:r>
              <a:rPr lang="en-GB" sz="1800" b="1" i="1" dirty="0">
                <a:latin typeface="Times" pitchFamily="2" charset="0"/>
              </a:rPr>
              <a:t> situations, make sound decisions, and solve problems </a:t>
            </a:r>
            <a:r>
              <a:rPr lang="en-GB" sz="1800" dirty="0">
                <a:latin typeface="Times" pitchFamily="2" charset="0"/>
              </a:rPr>
              <a:t>effectively.</a:t>
            </a:r>
          </a:p>
          <a:p>
            <a:pPr algn="just">
              <a:lnSpc>
                <a:spcPct val="110000"/>
              </a:lnSpc>
            </a:pPr>
            <a:endParaRPr lang="en-GB" sz="1000" dirty="0">
              <a:latin typeface="Times" pitchFamily="2" charset="0"/>
            </a:endParaRPr>
          </a:p>
          <a:p>
            <a:pPr algn="just">
              <a:lnSpc>
                <a:spcPct val="110000"/>
              </a:lnSpc>
            </a:pPr>
            <a:endParaRPr lang="en-GB" sz="1000" dirty="0">
              <a:latin typeface="Times" pitchFamily="2" charset="0"/>
            </a:endParaRPr>
          </a:p>
          <a:p>
            <a:pPr marL="0" indent="0" algn="just">
              <a:lnSpc>
                <a:spcPct val="110000"/>
              </a:lnSpc>
              <a:buNone/>
            </a:pPr>
            <a:r>
              <a:rPr lang="en-GB" sz="2000" b="1" dirty="0">
                <a:solidFill>
                  <a:srgbClr val="C00000"/>
                </a:solidFill>
                <a:latin typeface="Times" pitchFamily="2" charset="0"/>
              </a:rPr>
              <a:t>Self-confidence: </a:t>
            </a:r>
          </a:p>
          <a:p>
            <a:pPr algn="just">
              <a:lnSpc>
                <a:spcPct val="110000"/>
              </a:lnSpc>
            </a:pPr>
            <a:r>
              <a:rPr lang="en-GB" sz="1800" dirty="0">
                <a:latin typeface="Times" pitchFamily="2" charset="0"/>
              </a:rPr>
              <a:t>This trait allows leaders to </a:t>
            </a:r>
            <a:r>
              <a:rPr lang="en-GB" sz="1800" b="1" i="1" dirty="0">
                <a:latin typeface="Times" pitchFamily="2" charset="0"/>
              </a:rPr>
              <a:t>remain assured in their abilities and decisions</a:t>
            </a:r>
            <a:r>
              <a:rPr lang="en-GB" sz="1800" dirty="0">
                <a:latin typeface="Times" pitchFamily="2" charset="0"/>
              </a:rPr>
              <a:t>, inspiring confidence in their followers.</a:t>
            </a:r>
          </a:p>
          <a:p>
            <a:pPr algn="just">
              <a:lnSpc>
                <a:spcPct val="110000"/>
              </a:lnSpc>
            </a:pPr>
            <a:endParaRPr lang="en-GB" sz="1000" dirty="0">
              <a:latin typeface="Times" pitchFamily="2" charset="0"/>
            </a:endParaRPr>
          </a:p>
          <a:p>
            <a:pPr algn="just">
              <a:lnSpc>
                <a:spcPct val="110000"/>
              </a:lnSpc>
            </a:pPr>
            <a:endParaRPr lang="en-GB" sz="1000" dirty="0">
              <a:latin typeface="Times" pitchFamily="2" charset="0"/>
            </a:endParaRPr>
          </a:p>
          <a:p>
            <a:pPr marL="0" indent="0" algn="just">
              <a:lnSpc>
                <a:spcPct val="110000"/>
              </a:lnSpc>
              <a:buNone/>
            </a:pPr>
            <a:r>
              <a:rPr lang="en-GB" sz="2000" b="1" dirty="0">
                <a:solidFill>
                  <a:srgbClr val="C00000"/>
                </a:solidFill>
                <a:latin typeface="Times" pitchFamily="2" charset="0"/>
              </a:rPr>
              <a:t>Determination: </a:t>
            </a:r>
          </a:p>
          <a:p>
            <a:pPr algn="just">
              <a:lnSpc>
                <a:spcPct val="110000"/>
              </a:lnSpc>
            </a:pPr>
            <a:r>
              <a:rPr lang="en-GB" sz="1800" dirty="0">
                <a:latin typeface="Times" pitchFamily="2" charset="0"/>
              </a:rPr>
              <a:t>Determined leaders </a:t>
            </a:r>
            <a:r>
              <a:rPr lang="en-GB" sz="1800" b="1" i="1" dirty="0">
                <a:latin typeface="Times" pitchFamily="2" charset="0"/>
              </a:rPr>
              <a:t>exhibit strong willpower and persistence</a:t>
            </a:r>
            <a:r>
              <a:rPr lang="en-GB" sz="1800" dirty="0">
                <a:latin typeface="Times" pitchFamily="2" charset="0"/>
              </a:rPr>
              <a:t>, driving them to achieve their goals despite obstacles.</a:t>
            </a:r>
          </a:p>
        </p:txBody>
      </p:sp>
      <p:pic>
        <p:nvPicPr>
          <p:cNvPr id="9218" name="Picture 2" descr="Artificial Intelligence Technology Vector, Artificial Intelligence Icon,  Artificial Intelligence Design, Technology Icon PNG and Vector with  Transparent Background for Free Download">
            <a:extLst>
              <a:ext uri="{FF2B5EF4-FFF2-40B4-BE49-F238E27FC236}">
                <a16:creationId xmlns:a16="http://schemas.microsoft.com/office/drawing/2014/main" id="{4F3103E2-CCA2-6035-4DCD-9CD14CEC6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437" y="1176300"/>
            <a:ext cx="1739473" cy="1416881"/>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Self-confidence icon simple element from soft Vector Image">
            <a:extLst>
              <a:ext uri="{FF2B5EF4-FFF2-40B4-BE49-F238E27FC236}">
                <a16:creationId xmlns:a16="http://schemas.microsoft.com/office/drawing/2014/main" id="{BE500B14-7529-D2CA-521D-A632BBBAE2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200" t="17083" r="23825" b="26250"/>
          <a:stretch/>
        </p:blipFill>
        <p:spPr bwMode="auto">
          <a:xfrm>
            <a:off x="1035879" y="3180088"/>
            <a:ext cx="1375007" cy="1416880"/>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Determination Royalty Free Vector Image - VectorStock">
            <a:extLst>
              <a:ext uri="{FF2B5EF4-FFF2-40B4-BE49-F238E27FC236}">
                <a16:creationId xmlns:a16="http://schemas.microsoft.com/office/drawing/2014/main" id="{F031D7E0-4888-E361-C25A-8764F961A79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650" t="14100" r="16625" b="22916"/>
          <a:stretch/>
        </p:blipFill>
        <p:spPr bwMode="auto">
          <a:xfrm>
            <a:off x="1090759" y="5044713"/>
            <a:ext cx="1243565" cy="12490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257AD47-793C-F6B1-D9B3-8BFD7412F692}"/>
              </a:ext>
            </a:extLst>
          </p:cNvPr>
          <p:cNvSpPr txBox="1"/>
          <p:nvPr/>
        </p:nvSpPr>
        <p:spPr>
          <a:xfrm>
            <a:off x="10589287" y="169333"/>
            <a:ext cx="1382579" cy="369332"/>
          </a:xfrm>
          <a:prstGeom prst="rect">
            <a:avLst/>
          </a:prstGeom>
          <a:noFill/>
        </p:spPr>
        <p:txBody>
          <a:bodyPr wrap="square" rtlCol="0">
            <a:spAutoFit/>
          </a:bodyPr>
          <a:lstStyle/>
          <a:p>
            <a:pPr algn="ctr"/>
            <a:r>
              <a:rPr lang="en-LK" dirty="0">
                <a:solidFill>
                  <a:srgbClr val="FF0000"/>
                </a:solidFill>
                <a:latin typeface="Bradley Hand" pitchFamily="2" charset="77"/>
              </a:rPr>
              <a:t>Take Notes</a:t>
            </a:r>
          </a:p>
        </p:txBody>
      </p:sp>
      <p:pic>
        <p:nvPicPr>
          <p:cNvPr id="5" name="Picture 2" descr="101 Brain Teasers For Adults (with Answers) Parade:, 43% OFF">
            <a:extLst>
              <a:ext uri="{FF2B5EF4-FFF2-40B4-BE49-F238E27FC236}">
                <a16:creationId xmlns:a16="http://schemas.microsoft.com/office/drawing/2014/main" id="{D0B2A048-CE0D-77FB-78C6-C74FB8A001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0947901" y="468638"/>
            <a:ext cx="679324" cy="9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52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blinds(horizontal)">
                                      <p:cBhvr>
                                        <p:cTn id="1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26448B-E9AA-56FB-0DAD-A8F5865BAC91}"/>
              </a:ext>
            </a:extLst>
          </p:cNvPr>
          <p:cNvSpPr>
            <a:spLocks noGrp="1"/>
          </p:cNvSpPr>
          <p:nvPr>
            <p:ph idx="1"/>
          </p:nvPr>
        </p:nvSpPr>
        <p:spPr>
          <a:xfrm>
            <a:off x="506729" y="1579977"/>
            <a:ext cx="7765733" cy="5143183"/>
          </a:xfrm>
        </p:spPr>
        <p:txBody>
          <a:bodyPr>
            <a:normAutofit/>
          </a:bodyPr>
          <a:lstStyle/>
          <a:p>
            <a:pPr marL="0" indent="0" algn="just">
              <a:lnSpc>
                <a:spcPct val="110000"/>
              </a:lnSpc>
              <a:buNone/>
            </a:pPr>
            <a:r>
              <a:rPr lang="en-GB" sz="2000" b="1" dirty="0">
                <a:solidFill>
                  <a:srgbClr val="C00000"/>
                </a:solidFill>
                <a:latin typeface="Times" pitchFamily="2" charset="0"/>
              </a:rPr>
              <a:t>Integrity:</a:t>
            </a:r>
            <a:r>
              <a:rPr lang="en-GB" sz="2000" dirty="0">
                <a:solidFill>
                  <a:srgbClr val="C00000"/>
                </a:solidFill>
                <a:latin typeface="Times" pitchFamily="2" charset="0"/>
              </a:rPr>
              <a:t> </a:t>
            </a:r>
          </a:p>
          <a:p>
            <a:pPr algn="just">
              <a:lnSpc>
                <a:spcPct val="110000"/>
              </a:lnSpc>
            </a:pPr>
            <a:r>
              <a:rPr lang="en-GB" sz="1800" dirty="0">
                <a:latin typeface="Times" pitchFamily="2" charset="0"/>
              </a:rPr>
              <a:t>Integrity in leaders ensures they </a:t>
            </a:r>
            <a:r>
              <a:rPr lang="en-GB" sz="1800" b="1" i="1" dirty="0">
                <a:latin typeface="Times" pitchFamily="2" charset="0"/>
              </a:rPr>
              <a:t>adhere to strong moral and ethical principles</a:t>
            </a:r>
            <a:r>
              <a:rPr lang="en-GB" sz="1800" dirty="0">
                <a:latin typeface="Times" pitchFamily="2" charset="0"/>
              </a:rPr>
              <a:t>, earning the trust and respect of their followers.</a:t>
            </a:r>
          </a:p>
          <a:p>
            <a:pPr marL="0" indent="0" algn="just">
              <a:lnSpc>
                <a:spcPct val="110000"/>
              </a:lnSpc>
              <a:buNone/>
            </a:pPr>
            <a:endParaRPr lang="en-GB" sz="2000" dirty="0">
              <a:latin typeface="Times" pitchFamily="2" charset="0"/>
            </a:endParaRPr>
          </a:p>
          <a:p>
            <a:pPr marL="0" indent="0" algn="just">
              <a:lnSpc>
                <a:spcPct val="110000"/>
              </a:lnSpc>
              <a:buNone/>
            </a:pPr>
            <a:endParaRPr lang="en-GB" sz="1000" dirty="0">
              <a:latin typeface="Times" pitchFamily="2" charset="0"/>
            </a:endParaRPr>
          </a:p>
          <a:p>
            <a:pPr marL="0" indent="0" algn="just">
              <a:lnSpc>
                <a:spcPct val="110000"/>
              </a:lnSpc>
              <a:buNone/>
            </a:pPr>
            <a:endParaRPr lang="en-GB" sz="1000" dirty="0">
              <a:latin typeface="Times" pitchFamily="2" charset="0"/>
            </a:endParaRPr>
          </a:p>
          <a:p>
            <a:pPr marL="0" indent="0" algn="just">
              <a:lnSpc>
                <a:spcPct val="110000"/>
              </a:lnSpc>
              <a:buNone/>
            </a:pPr>
            <a:r>
              <a:rPr lang="en-GB" sz="2000" b="1" dirty="0">
                <a:solidFill>
                  <a:srgbClr val="C00000"/>
                </a:solidFill>
                <a:latin typeface="Times" pitchFamily="2" charset="0"/>
              </a:rPr>
              <a:t>Sociability:</a:t>
            </a:r>
            <a:r>
              <a:rPr lang="en-GB" sz="2000" dirty="0">
                <a:solidFill>
                  <a:srgbClr val="C00000"/>
                </a:solidFill>
                <a:latin typeface="Times" pitchFamily="2" charset="0"/>
              </a:rPr>
              <a:t> </a:t>
            </a:r>
          </a:p>
          <a:p>
            <a:pPr algn="just">
              <a:lnSpc>
                <a:spcPct val="110000"/>
              </a:lnSpc>
            </a:pPr>
            <a:r>
              <a:rPr lang="en-GB" sz="1800" dirty="0">
                <a:latin typeface="Times" pitchFamily="2" charset="0"/>
              </a:rPr>
              <a:t>Sociable leaders are adept at </a:t>
            </a:r>
            <a:r>
              <a:rPr lang="en-GB" sz="1800" b="1" i="1" dirty="0">
                <a:latin typeface="Times" pitchFamily="2" charset="0"/>
              </a:rPr>
              <a:t>building relationships and maintaining positive interactions</a:t>
            </a:r>
            <a:r>
              <a:rPr lang="en-GB" sz="1800" dirty="0">
                <a:latin typeface="Times" pitchFamily="2" charset="0"/>
              </a:rPr>
              <a:t> with their team members, fostering a supportive and collaborative environment.</a:t>
            </a:r>
            <a:endParaRPr lang="en-LK" sz="1800" dirty="0">
              <a:latin typeface="Times" pitchFamily="2" charset="0"/>
            </a:endParaRPr>
          </a:p>
        </p:txBody>
      </p:sp>
      <p:sp>
        <p:nvSpPr>
          <p:cNvPr id="6" name="Title 1">
            <a:extLst>
              <a:ext uri="{FF2B5EF4-FFF2-40B4-BE49-F238E27FC236}">
                <a16:creationId xmlns:a16="http://schemas.microsoft.com/office/drawing/2014/main" id="{F84D8E08-852E-90B8-C599-B1241C410A78}"/>
              </a:ext>
            </a:extLst>
          </p:cNvPr>
          <p:cNvSpPr txBox="1">
            <a:spLocks/>
          </p:cNvSpPr>
          <p:nvPr/>
        </p:nvSpPr>
        <p:spPr>
          <a:xfrm>
            <a:off x="506730" y="307975"/>
            <a:ext cx="10515600" cy="8121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LK" sz="4000" b="1" dirty="0">
                <a:latin typeface="Times" pitchFamily="2" charset="0"/>
              </a:rPr>
              <a:t>Examples of Key Traits</a:t>
            </a:r>
          </a:p>
        </p:txBody>
      </p:sp>
      <p:pic>
        <p:nvPicPr>
          <p:cNvPr id="10244" name="Picture 4" descr="Ethics Vector Art, Icons, and Graphics for Free Download">
            <a:extLst>
              <a:ext uri="{FF2B5EF4-FFF2-40B4-BE49-F238E27FC236}">
                <a16:creationId xmlns:a16="http://schemas.microsoft.com/office/drawing/2014/main" id="{BB0E0D78-4568-8423-D984-434C8DD3F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6343" y="1243013"/>
            <a:ext cx="2185987" cy="2185987"/>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Sociable: Over 2,281 Royalty-Free Licensable Stock Vectors &amp; Vector Art |  Shutterstock">
            <a:extLst>
              <a:ext uri="{FF2B5EF4-FFF2-40B4-BE49-F238E27FC236}">
                <a16:creationId xmlns:a16="http://schemas.microsoft.com/office/drawing/2014/main" id="{13824383-3D99-7489-6FCC-904334E406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62" t="21486" r="14807" b="25475"/>
          <a:stretch/>
        </p:blipFill>
        <p:spPr bwMode="auto">
          <a:xfrm>
            <a:off x="9122093" y="4000499"/>
            <a:ext cx="2286000" cy="181451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E1ABC58-C6F0-79D2-C087-EC2FDC50C5E6}"/>
              </a:ext>
            </a:extLst>
          </p:cNvPr>
          <p:cNvSpPr txBox="1"/>
          <p:nvPr/>
        </p:nvSpPr>
        <p:spPr>
          <a:xfrm>
            <a:off x="10711314" y="123613"/>
            <a:ext cx="1382579" cy="369332"/>
          </a:xfrm>
          <a:prstGeom prst="rect">
            <a:avLst/>
          </a:prstGeom>
          <a:noFill/>
        </p:spPr>
        <p:txBody>
          <a:bodyPr wrap="square" rtlCol="0">
            <a:spAutoFit/>
          </a:bodyPr>
          <a:lstStyle/>
          <a:p>
            <a:pPr algn="ctr"/>
            <a:r>
              <a:rPr lang="en-LK" dirty="0">
                <a:solidFill>
                  <a:srgbClr val="FF0000"/>
                </a:solidFill>
                <a:latin typeface="Bradley Hand" pitchFamily="2" charset="77"/>
              </a:rPr>
              <a:t>Take Notes</a:t>
            </a:r>
          </a:p>
        </p:txBody>
      </p:sp>
      <p:pic>
        <p:nvPicPr>
          <p:cNvPr id="4" name="Picture 2" descr="101 Brain Teasers For Adults (with Answers) Parade:, 43% OFF">
            <a:extLst>
              <a:ext uri="{FF2B5EF4-FFF2-40B4-BE49-F238E27FC236}">
                <a16:creationId xmlns:a16="http://schemas.microsoft.com/office/drawing/2014/main" id="{6B8F2ABB-8A69-5B17-5413-C0CA630C64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1069928" y="422918"/>
            <a:ext cx="679324" cy="9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35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2" descr="Are leaders Born? Or Are They Made? Or Both ?">
            <a:extLst>
              <a:ext uri="{FF2B5EF4-FFF2-40B4-BE49-F238E27FC236}">
                <a16:creationId xmlns:a16="http://schemas.microsoft.com/office/drawing/2014/main" id="{481B67A5-3594-C930-0544-55C8F88EA3E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43112" y="905192"/>
            <a:ext cx="8472487" cy="455396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F23C907A-AA87-68B1-8F61-284564495C87}"/>
              </a:ext>
            </a:extLst>
          </p:cNvPr>
          <p:cNvSpPr txBox="1">
            <a:spLocks/>
          </p:cNvSpPr>
          <p:nvPr/>
        </p:nvSpPr>
        <p:spPr>
          <a:xfrm>
            <a:off x="1021555" y="5772152"/>
            <a:ext cx="10515600" cy="979909"/>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LK" sz="6600" b="1" dirty="0">
                <a:solidFill>
                  <a:srgbClr val="FF0000"/>
                </a:solidFill>
                <a:latin typeface="Bradley Hand" pitchFamily="2" charset="77"/>
              </a:rPr>
              <a:t>“Leaders are </a:t>
            </a:r>
            <a:r>
              <a:rPr lang="en-LK" sz="6600" b="1" dirty="0">
                <a:solidFill>
                  <a:srgbClr val="0070C0"/>
                </a:solidFill>
                <a:latin typeface="Bradley Hand" pitchFamily="2" charset="77"/>
              </a:rPr>
              <a:t>Born</a:t>
            </a:r>
            <a:r>
              <a:rPr lang="en-LK" sz="6600" b="1" dirty="0">
                <a:solidFill>
                  <a:srgbClr val="FF0000"/>
                </a:solidFill>
                <a:latin typeface="Bradley Hand" pitchFamily="2" charset="77"/>
              </a:rPr>
              <a:t>”</a:t>
            </a:r>
          </a:p>
        </p:txBody>
      </p:sp>
    </p:spTree>
    <p:extLst>
      <p:ext uri="{BB962C8B-B14F-4D97-AF65-F5344CB8AC3E}">
        <p14:creationId xmlns:p14="http://schemas.microsoft.com/office/powerpoint/2010/main" val="113942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p:cTn id="7" dur="1000" fill="hold"/>
                                        <p:tgtEl>
                                          <p:spTgt spid="11266"/>
                                        </p:tgtEl>
                                        <p:attrNameLst>
                                          <p:attrName>ppt_w</p:attrName>
                                        </p:attrNameLst>
                                      </p:cBhvr>
                                      <p:tavLst>
                                        <p:tav tm="0">
                                          <p:val>
                                            <p:strVal val="#ppt_w*0.70"/>
                                          </p:val>
                                        </p:tav>
                                        <p:tav tm="100000">
                                          <p:val>
                                            <p:strVal val="#ppt_w"/>
                                          </p:val>
                                        </p:tav>
                                      </p:tavLst>
                                    </p:anim>
                                    <p:anim calcmode="lin" valueType="num">
                                      <p:cBhvr>
                                        <p:cTn id="8" dur="1000" fill="hold"/>
                                        <p:tgtEl>
                                          <p:spTgt spid="11266"/>
                                        </p:tgtEl>
                                        <p:attrNameLst>
                                          <p:attrName>ppt_h</p:attrName>
                                        </p:attrNameLst>
                                      </p:cBhvr>
                                      <p:tavLst>
                                        <p:tav tm="0">
                                          <p:val>
                                            <p:strVal val="#ppt_h"/>
                                          </p:val>
                                        </p:tav>
                                        <p:tav tm="100000">
                                          <p:val>
                                            <p:strVal val="#ppt_h"/>
                                          </p:val>
                                        </p:tav>
                                      </p:tavLst>
                                    </p:anim>
                                    <p:animEffect transition="in" filter="fade">
                                      <p:cBhvr>
                                        <p:cTn id="9" dur="1000"/>
                                        <p:tgtEl>
                                          <p:spTgt spid="11266"/>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dissolv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4268C-B9DB-A28F-8C06-39AE91CE214C}"/>
              </a:ext>
            </a:extLst>
          </p:cNvPr>
          <p:cNvSpPr>
            <a:spLocks noGrp="1"/>
          </p:cNvSpPr>
          <p:nvPr>
            <p:ph type="title"/>
          </p:nvPr>
        </p:nvSpPr>
        <p:spPr>
          <a:xfrm>
            <a:off x="838200" y="366713"/>
            <a:ext cx="10515600" cy="962025"/>
          </a:xfrm>
        </p:spPr>
        <p:txBody>
          <a:bodyPr>
            <a:normAutofit fontScale="90000"/>
          </a:bodyPr>
          <a:lstStyle/>
          <a:p>
            <a:pPr algn="ctr"/>
            <a:r>
              <a:rPr lang="en-LK" sz="5400" b="1" dirty="0">
                <a:solidFill>
                  <a:srgbClr val="0070C0"/>
                </a:solidFill>
                <a:latin typeface="Times" pitchFamily="2" charset="0"/>
              </a:rPr>
              <a:t>T02: </a:t>
            </a:r>
            <a:r>
              <a:rPr lang="en-LK" sz="5400" b="1" dirty="0">
                <a:solidFill>
                  <a:srgbClr val="57122D"/>
                </a:solidFill>
                <a:latin typeface="Times" pitchFamily="2" charset="0"/>
              </a:rPr>
              <a:t>Behavioral Theory of Leadership</a:t>
            </a:r>
          </a:p>
        </p:txBody>
      </p:sp>
      <p:pic>
        <p:nvPicPr>
          <p:cNvPr id="7170" name="Picture 2" descr="Behavior Flaticons Flat icon">
            <a:extLst>
              <a:ext uri="{FF2B5EF4-FFF2-40B4-BE49-F238E27FC236}">
                <a16:creationId xmlns:a16="http://schemas.microsoft.com/office/drawing/2014/main" id="{CD62BE34-E3BC-2077-3671-2E35295A73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2775" y="1328738"/>
            <a:ext cx="4848225" cy="484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923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CFF00-A0DB-9A7E-6088-27772D16A8EF}"/>
              </a:ext>
            </a:extLst>
          </p:cNvPr>
          <p:cNvSpPr>
            <a:spLocks noGrp="1"/>
          </p:cNvSpPr>
          <p:nvPr>
            <p:ph type="title"/>
          </p:nvPr>
        </p:nvSpPr>
        <p:spPr>
          <a:xfrm>
            <a:off x="838200" y="365125"/>
            <a:ext cx="10515600" cy="1120775"/>
          </a:xfrm>
        </p:spPr>
        <p:txBody>
          <a:bodyPr>
            <a:normAutofit/>
          </a:bodyPr>
          <a:lstStyle/>
          <a:p>
            <a:r>
              <a:rPr lang="en-LK" sz="4000" b="1" dirty="0">
                <a:latin typeface="Times" pitchFamily="2" charset="0"/>
              </a:rPr>
              <a:t>Behavioural Theory of Leadership</a:t>
            </a:r>
          </a:p>
        </p:txBody>
      </p:sp>
      <p:sp>
        <p:nvSpPr>
          <p:cNvPr id="3" name="Content Placeholder 2">
            <a:extLst>
              <a:ext uri="{FF2B5EF4-FFF2-40B4-BE49-F238E27FC236}">
                <a16:creationId xmlns:a16="http://schemas.microsoft.com/office/drawing/2014/main" id="{BCDD7720-D31A-7EA0-A760-927B91B823B9}"/>
              </a:ext>
            </a:extLst>
          </p:cNvPr>
          <p:cNvSpPr>
            <a:spLocks noGrp="1"/>
          </p:cNvSpPr>
          <p:nvPr>
            <p:ph idx="1"/>
          </p:nvPr>
        </p:nvSpPr>
        <p:spPr>
          <a:xfrm>
            <a:off x="838200" y="1739119"/>
            <a:ext cx="6884963" cy="4906645"/>
          </a:xfrm>
        </p:spPr>
        <p:txBody>
          <a:bodyPr vert="horz" lIns="91440" tIns="45720" rIns="91440" bIns="45720" rtlCol="0" anchor="t">
            <a:normAutofit/>
          </a:bodyPr>
          <a:lstStyle/>
          <a:p>
            <a:pPr algn="just">
              <a:lnSpc>
                <a:spcPct val="100000"/>
              </a:lnSpc>
            </a:pPr>
            <a:r>
              <a:rPr lang="en-GB" sz="2000" dirty="0">
                <a:latin typeface="Times" pitchFamily="2" charset="0"/>
              </a:rPr>
              <a:t>The </a:t>
            </a:r>
            <a:r>
              <a:rPr lang="en-GB" sz="2000" dirty="0" err="1">
                <a:latin typeface="Times" pitchFamily="2" charset="0"/>
              </a:rPr>
              <a:t>Behavioral</a:t>
            </a:r>
            <a:r>
              <a:rPr lang="en-GB" sz="2000" dirty="0">
                <a:latin typeface="Times" pitchFamily="2" charset="0"/>
              </a:rPr>
              <a:t> Theory of Leadership focuses on the </a:t>
            </a:r>
            <a:r>
              <a:rPr lang="en-GB" sz="2000" b="1" i="1" dirty="0">
                <a:latin typeface="Times" pitchFamily="2" charset="0"/>
              </a:rPr>
              <a:t>actions and </a:t>
            </a:r>
            <a:r>
              <a:rPr lang="en-GB" sz="2000" b="1" i="1" dirty="0" err="1">
                <a:latin typeface="Times" pitchFamily="2" charset="0"/>
              </a:rPr>
              <a:t>behaviors</a:t>
            </a:r>
            <a:r>
              <a:rPr lang="en-GB" sz="2000" b="1" i="1" dirty="0">
                <a:latin typeface="Times" pitchFamily="2" charset="0"/>
              </a:rPr>
              <a:t> of leaders</a:t>
            </a:r>
            <a:r>
              <a:rPr lang="en-GB" sz="2000" dirty="0">
                <a:latin typeface="Times" pitchFamily="2" charset="0"/>
              </a:rPr>
              <a:t> rather than their inherent traits. </a:t>
            </a:r>
          </a:p>
          <a:p>
            <a:pPr algn="just">
              <a:lnSpc>
                <a:spcPct val="100000"/>
              </a:lnSpc>
            </a:pPr>
            <a:endParaRPr lang="en-GB" sz="2000" dirty="0">
              <a:latin typeface="Times" pitchFamily="2" charset="0"/>
            </a:endParaRPr>
          </a:p>
          <a:p>
            <a:pPr algn="just">
              <a:lnSpc>
                <a:spcPct val="100000"/>
              </a:lnSpc>
            </a:pPr>
            <a:endParaRPr lang="en-GB" sz="2000" dirty="0">
              <a:latin typeface="Times" pitchFamily="2" charset="0"/>
            </a:endParaRPr>
          </a:p>
          <a:p>
            <a:pPr algn="just">
              <a:lnSpc>
                <a:spcPct val="100000"/>
              </a:lnSpc>
            </a:pPr>
            <a:r>
              <a:rPr lang="en-GB" sz="2000" dirty="0">
                <a:latin typeface="Times" pitchFamily="2" charset="0"/>
              </a:rPr>
              <a:t>It states that effective </a:t>
            </a:r>
            <a:r>
              <a:rPr lang="en-GB" sz="2000" b="1" i="1" dirty="0">
                <a:latin typeface="Times" pitchFamily="2" charset="0"/>
              </a:rPr>
              <a:t>leadership can be learned </a:t>
            </a:r>
            <a:r>
              <a:rPr lang="en-GB" sz="2000" dirty="0">
                <a:latin typeface="Times" pitchFamily="2" charset="0"/>
              </a:rPr>
              <a:t>and developed through the adoption of certain </a:t>
            </a:r>
            <a:r>
              <a:rPr lang="en-GB" sz="2000" dirty="0" err="1">
                <a:latin typeface="Times" pitchFamily="2" charset="0"/>
              </a:rPr>
              <a:t>behaviors</a:t>
            </a:r>
            <a:r>
              <a:rPr lang="en-GB" sz="2000" dirty="0">
                <a:latin typeface="Times" pitchFamily="2" charset="0"/>
              </a:rPr>
              <a:t>.</a:t>
            </a:r>
          </a:p>
          <a:p>
            <a:pPr algn="just">
              <a:lnSpc>
                <a:spcPct val="100000"/>
              </a:lnSpc>
            </a:pPr>
            <a:endParaRPr lang="en-GB" sz="2000" dirty="0">
              <a:latin typeface="Times" pitchFamily="2" charset="0"/>
            </a:endParaRPr>
          </a:p>
          <a:p>
            <a:pPr algn="just">
              <a:lnSpc>
                <a:spcPct val="100000"/>
              </a:lnSpc>
            </a:pPr>
            <a:endParaRPr lang="en-GB" sz="2000" dirty="0">
              <a:latin typeface="Times" pitchFamily="2" charset="0"/>
            </a:endParaRPr>
          </a:p>
          <a:p>
            <a:pPr algn="just">
              <a:lnSpc>
                <a:spcPct val="100000"/>
              </a:lnSpc>
            </a:pPr>
            <a:r>
              <a:rPr lang="en-US" altLang="en-US" sz="2000" dirty="0">
                <a:latin typeface="Times"/>
                <a:cs typeface="Times"/>
              </a:rPr>
              <a:t>Accordingly, this theory proposes that </a:t>
            </a:r>
            <a:r>
              <a:rPr lang="en-US" altLang="en-US" sz="2000" b="1" i="1" dirty="0">
                <a:latin typeface="Times"/>
                <a:cs typeface="Times"/>
              </a:rPr>
              <a:t>specific behaviors </a:t>
            </a:r>
            <a:r>
              <a:rPr lang="en-US" altLang="en-US" sz="2000" dirty="0">
                <a:latin typeface="Times"/>
                <a:cs typeface="Times"/>
              </a:rPr>
              <a:t>shown by individuals </a:t>
            </a:r>
            <a:r>
              <a:rPr lang="en-US" altLang="en-US" sz="2000" b="1" i="1" dirty="0">
                <a:latin typeface="Times"/>
                <a:cs typeface="Times"/>
              </a:rPr>
              <a:t>differentiate themselves as  effective/ineffective leaders.</a:t>
            </a:r>
            <a:endParaRPr lang="en-US" altLang="en-US" sz="2000" dirty="0">
              <a:latin typeface="Times"/>
              <a:cs typeface="Times"/>
            </a:endParaRPr>
          </a:p>
          <a:p>
            <a:pPr algn="just">
              <a:lnSpc>
                <a:spcPct val="170000"/>
              </a:lnSpc>
            </a:pPr>
            <a:endParaRPr lang="en-GB" sz="2000" dirty="0">
              <a:latin typeface="Times" pitchFamily="2" charset="0"/>
            </a:endParaRPr>
          </a:p>
        </p:txBody>
      </p:sp>
      <p:pic>
        <p:nvPicPr>
          <p:cNvPr id="4" name="Picture 2" descr="Behavior Flaticons Flat icon">
            <a:extLst>
              <a:ext uri="{FF2B5EF4-FFF2-40B4-BE49-F238E27FC236}">
                <a16:creationId xmlns:a16="http://schemas.microsoft.com/office/drawing/2014/main" id="{21993ABD-7007-4037-79C8-0747400E0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0350" y="1957388"/>
            <a:ext cx="3790950"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05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Premium Vector | Relationship oriented leadership and task oriented  leadership">
            <a:extLst>
              <a:ext uri="{FF2B5EF4-FFF2-40B4-BE49-F238E27FC236}">
                <a16:creationId xmlns:a16="http://schemas.microsoft.com/office/drawing/2014/main" id="{F9CD2366-E94D-7D72-3189-F2B1A06770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10" t="16093" r="59106" b="30464"/>
          <a:stretch/>
        </p:blipFill>
        <p:spPr bwMode="auto">
          <a:xfrm>
            <a:off x="9619283" y="732664"/>
            <a:ext cx="2186525" cy="2696336"/>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Premium Vector | Relationship oriented leadership and task oriented  leadership">
            <a:extLst>
              <a:ext uri="{FF2B5EF4-FFF2-40B4-BE49-F238E27FC236}">
                <a16:creationId xmlns:a16="http://schemas.microsoft.com/office/drawing/2014/main" id="{974D7B7E-46DA-F95A-1351-3F23E98E6C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023" t="16093" r="1777" b="28443"/>
          <a:stretch/>
        </p:blipFill>
        <p:spPr bwMode="auto">
          <a:xfrm>
            <a:off x="9619283" y="3796539"/>
            <a:ext cx="2453655" cy="29277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AB36094-8CA2-EF51-B407-958521347FF9}"/>
              </a:ext>
            </a:extLst>
          </p:cNvPr>
          <p:cNvSpPr>
            <a:spLocks noGrp="1"/>
          </p:cNvSpPr>
          <p:nvPr>
            <p:ph type="title"/>
          </p:nvPr>
        </p:nvSpPr>
        <p:spPr>
          <a:xfrm>
            <a:off x="838200" y="365125"/>
            <a:ext cx="10515600" cy="906463"/>
          </a:xfrm>
        </p:spPr>
        <p:txBody>
          <a:bodyPr>
            <a:normAutofit/>
          </a:bodyPr>
          <a:lstStyle/>
          <a:p>
            <a:r>
              <a:rPr lang="en-LK" sz="4000" b="1" dirty="0">
                <a:latin typeface="Times" pitchFamily="2" charset="0"/>
              </a:rPr>
              <a:t>Key Behaviours Explained </a:t>
            </a:r>
          </a:p>
        </p:txBody>
      </p:sp>
      <p:sp>
        <p:nvSpPr>
          <p:cNvPr id="3" name="Content Placeholder 2">
            <a:extLst>
              <a:ext uri="{FF2B5EF4-FFF2-40B4-BE49-F238E27FC236}">
                <a16:creationId xmlns:a16="http://schemas.microsoft.com/office/drawing/2014/main" id="{29DDAB16-FE03-CAA3-FF8B-DD4D5F5F03D8}"/>
              </a:ext>
            </a:extLst>
          </p:cNvPr>
          <p:cNvSpPr>
            <a:spLocks noGrp="1"/>
          </p:cNvSpPr>
          <p:nvPr>
            <p:ph idx="1"/>
          </p:nvPr>
        </p:nvSpPr>
        <p:spPr>
          <a:xfrm>
            <a:off x="838200" y="1782762"/>
            <a:ext cx="9091613" cy="4351338"/>
          </a:xfrm>
        </p:spPr>
        <p:txBody>
          <a:bodyPr>
            <a:normAutofit/>
          </a:bodyPr>
          <a:lstStyle/>
          <a:p>
            <a:pPr marL="0" indent="0">
              <a:buNone/>
            </a:pPr>
            <a:r>
              <a:rPr lang="en-GB" sz="2400" b="1" dirty="0">
                <a:latin typeface="Times" pitchFamily="2" charset="0"/>
              </a:rPr>
              <a:t>Task-oriented </a:t>
            </a:r>
            <a:r>
              <a:rPr lang="en-GB" sz="2400" b="1" dirty="0" err="1">
                <a:latin typeface="Times" pitchFamily="2" charset="0"/>
              </a:rPr>
              <a:t>Behaviors</a:t>
            </a:r>
            <a:endParaRPr lang="en-GB" sz="2400" b="1" dirty="0">
              <a:latin typeface="Times" pitchFamily="2" charset="0"/>
            </a:endParaRPr>
          </a:p>
          <a:p>
            <a:r>
              <a:rPr lang="en-GB" sz="2400" dirty="0">
                <a:latin typeface="Times" pitchFamily="2" charset="0"/>
              </a:rPr>
              <a:t>Actions aimed at accomplishing tasks and achieving goals.</a:t>
            </a:r>
          </a:p>
          <a:p>
            <a:pPr lvl="1"/>
            <a:endParaRPr lang="en-GB" sz="2000" dirty="0">
              <a:latin typeface="Times" pitchFamily="2" charset="0"/>
            </a:endParaRPr>
          </a:p>
          <a:p>
            <a:endParaRPr lang="en-GB" sz="2400" dirty="0">
              <a:latin typeface="Times" pitchFamily="2" charset="0"/>
            </a:endParaRPr>
          </a:p>
          <a:p>
            <a:endParaRPr lang="en-GB" sz="2400" dirty="0">
              <a:latin typeface="Times" pitchFamily="2" charset="0"/>
            </a:endParaRPr>
          </a:p>
          <a:p>
            <a:pPr marL="0" indent="0">
              <a:buNone/>
            </a:pPr>
            <a:r>
              <a:rPr lang="en-GB" sz="2400" b="1" dirty="0">
                <a:latin typeface="Times" pitchFamily="2" charset="0"/>
              </a:rPr>
              <a:t>People-oriented </a:t>
            </a:r>
            <a:r>
              <a:rPr lang="en-GB" sz="2400" b="1" dirty="0" err="1">
                <a:latin typeface="Times" pitchFamily="2" charset="0"/>
              </a:rPr>
              <a:t>Behaviors</a:t>
            </a:r>
            <a:r>
              <a:rPr lang="en-GB" sz="2400" b="1" dirty="0">
                <a:latin typeface="Times" pitchFamily="2" charset="0"/>
              </a:rPr>
              <a:t>:</a:t>
            </a:r>
            <a:r>
              <a:rPr lang="en-GB" sz="2400" dirty="0">
                <a:latin typeface="Times" pitchFamily="2" charset="0"/>
              </a:rPr>
              <a:t> </a:t>
            </a:r>
          </a:p>
          <a:p>
            <a:r>
              <a:rPr lang="en-GB" sz="2400" dirty="0">
                <a:latin typeface="Times" pitchFamily="2" charset="0"/>
              </a:rPr>
              <a:t>Actions aimed at building relationships and supporting team members.</a:t>
            </a:r>
            <a:endParaRPr lang="en-LK" sz="2400" dirty="0">
              <a:latin typeface="Times" pitchFamily="2" charset="0"/>
            </a:endParaRPr>
          </a:p>
        </p:txBody>
      </p:sp>
      <p:grpSp>
        <p:nvGrpSpPr>
          <p:cNvPr id="6" name="Group 5">
            <a:extLst>
              <a:ext uri="{FF2B5EF4-FFF2-40B4-BE49-F238E27FC236}">
                <a16:creationId xmlns:a16="http://schemas.microsoft.com/office/drawing/2014/main" id="{8AA64B0B-3627-2D3B-1279-DB05D751455F}"/>
              </a:ext>
            </a:extLst>
          </p:cNvPr>
          <p:cNvGrpSpPr/>
          <p:nvPr/>
        </p:nvGrpSpPr>
        <p:grpSpPr>
          <a:xfrm>
            <a:off x="167438" y="5481985"/>
            <a:ext cx="1382579" cy="1295849"/>
            <a:chOff x="167438" y="5481985"/>
            <a:chExt cx="1382579" cy="1295849"/>
          </a:xfrm>
        </p:grpSpPr>
        <p:sp>
          <p:nvSpPr>
            <p:cNvPr id="4" name="TextBox 3">
              <a:extLst>
                <a:ext uri="{FF2B5EF4-FFF2-40B4-BE49-F238E27FC236}">
                  <a16:creationId xmlns:a16="http://schemas.microsoft.com/office/drawing/2014/main" id="{68352DB5-8400-4DCC-E63A-6821146B854C}"/>
                </a:ext>
              </a:extLst>
            </p:cNvPr>
            <p:cNvSpPr txBox="1"/>
            <p:nvPr/>
          </p:nvSpPr>
          <p:spPr>
            <a:xfrm>
              <a:off x="167438" y="5481985"/>
              <a:ext cx="1382579" cy="369332"/>
            </a:xfrm>
            <a:prstGeom prst="rect">
              <a:avLst/>
            </a:prstGeom>
            <a:noFill/>
          </p:spPr>
          <p:txBody>
            <a:bodyPr wrap="square" rtlCol="0">
              <a:spAutoFit/>
            </a:bodyPr>
            <a:lstStyle/>
            <a:p>
              <a:pPr algn="ctr"/>
              <a:r>
                <a:rPr lang="en-LK" dirty="0">
                  <a:solidFill>
                    <a:srgbClr val="FF0000"/>
                  </a:solidFill>
                  <a:latin typeface="Bradley Hand" pitchFamily="2" charset="77"/>
                </a:rPr>
                <a:t>Take Notes</a:t>
              </a:r>
            </a:p>
          </p:txBody>
        </p:sp>
        <p:pic>
          <p:nvPicPr>
            <p:cNvPr id="5" name="Picture 2" descr="101 Brain Teasers For Adults (with Answers) Parade:, 43% OFF">
              <a:extLst>
                <a:ext uri="{FF2B5EF4-FFF2-40B4-BE49-F238E27FC236}">
                  <a16:creationId xmlns:a16="http://schemas.microsoft.com/office/drawing/2014/main" id="{BD621EDC-CFDB-FD22-4166-1902B58AE1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26052" y="5781290"/>
              <a:ext cx="679324" cy="99654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8284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Learning progress and book reading as horizon expansion. Knowledge gain,  academic studying, cognitive academic research. Smart people common support  16721963 Vector Art at Vecteezy">
            <a:extLst>
              <a:ext uri="{FF2B5EF4-FFF2-40B4-BE49-F238E27FC236}">
                <a16:creationId xmlns:a16="http://schemas.microsoft.com/office/drawing/2014/main" id="{63927931-2B07-2F2E-3F9D-02518D29A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1312" y="2457450"/>
            <a:ext cx="5500688" cy="44005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B8110A1-7A41-6693-0B21-4590AE021657}"/>
              </a:ext>
            </a:extLst>
          </p:cNvPr>
          <p:cNvSpPr>
            <a:spLocks noGrp="1"/>
          </p:cNvSpPr>
          <p:nvPr>
            <p:ph type="title"/>
          </p:nvPr>
        </p:nvSpPr>
        <p:spPr>
          <a:xfrm>
            <a:off x="516730" y="576263"/>
            <a:ext cx="10515600" cy="2852737"/>
          </a:xfrm>
        </p:spPr>
        <p:txBody>
          <a:bodyPr/>
          <a:lstStyle/>
          <a:p>
            <a:r>
              <a:rPr lang="en-LK" b="1" dirty="0">
                <a:latin typeface="Times" pitchFamily="2" charset="0"/>
              </a:rPr>
              <a:t>Studies Supporting the Explanation of the Behavioural Theory</a:t>
            </a:r>
          </a:p>
        </p:txBody>
      </p:sp>
    </p:spTree>
    <p:extLst>
      <p:ext uri="{BB962C8B-B14F-4D97-AF65-F5344CB8AC3E}">
        <p14:creationId xmlns:p14="http://schemas.microsoft.com/office/powerpoint/2010/main" val="2774804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389B1-C3BE-C2FE-AC65-0FFA2AC02726}"/>
              </a:ext>
            </a:extLst>
          </p:cNvPr>
          <p:cNvSpPr>
            <a:spLocks noGrp="1"/>
          </p:cNvSpPr>
          <p:nvPr>
            <p:ph type="title"/>
          </p:nvPr>
        </p:nvSpPr>
        <p:spPr/>
        <p:txBody>
          <a:bodyPr/>
          <a:lstStyle/>
          <a:p>
            <a:r>
              <a:rPr lang="en-GB" b="1" dirty="0">
                <a:latin typeface="Times" pitchFamily="2" charset="0"/>
              </a:rPr>
              <a:t>1. The Ohio State Studies</a:t>
            </a:r>
            <a:endParaRPr lang="en-LK" b="1" dirty="0">
              <a:latin typeface="Times" pitchFamily="2" charset="0"/>
            </a:endParaRPr>
          </a:p>
        </p:txBody>
      </p:sp>
      <p:sp>
        <p:nvSpPr>
          <p:cNvPr id="3" name="Content Placeholder 2">
            <a:extLst>
              <a:ext uri="{FF2B5EF4-FFF2-40B4-BE49-F238E27FC236}">
                <a16:creationId xmlns:a16="http://schemas.microsoft.com/office/drawing/2014/main" id="{483190AB-03C0-A7A6-7112-3DE3F3F6269C}"/>
              </a:ext>
            </a:extLst>
          </p:cNvPr>
          <p:cNvSpPr>
            <a:spLocks noGrp="1"/>
          </p:cNvSpPr>
          <p:nvPr>
            <p:ph idx="1"/>
          </p:nvPr>
        </p:nvSpPr>
        <p:spPr>
          <a:xfrm>
            <a:off x="581025" y="1690688"/>
            <a:ext cx="8720138" cy="4938712"/>
          </a:xfrm>
        </p:spPr>
        <p:txBody>
          <a:bodyPr>
            <a:normAutofit/>
          </a:bodyPr>
          <a:lstStyle/>
          <a:p>
            <a:pPr algn="just">
              <a:lnSpc>
                <a:spcPct val="120000"/>
              </a:lnSpc>
            </a:pPr>
            <a:r>
              <a:rPr lang="en-LK" sz="2000" dirty="0">
                <a:latin typeface="Times" pitchFamily="2" charset="0"/>
              </a:rPr>
              <a:t>In 1945 a research study was conducted at the Ohio State University, which was based on a questionn</a:t>
            </a:r>
            <a:r>
              <a:rPr lang="en-GB" sz="2000" dirty="0" err="1">
                <a:latin typeface="Times" pitchFamily="2" charset="0"/>
              </a:rPr>
              <a:t>aire</a:t>
            </a:r>
            <a:r>
              <a:rPr lang="en-LK" sz="2000" dirty="0">
                <a:latin typeface="Times" pitchFamily="2" charset="0"/>
              </a:rPr>
              <a:t> “</a:t>
            </a:r>
            <a:r>
              <a:rPr lang="en-LK" sz="2000" i="1" dirty="0">
                <a:latin typeface="Times" pitchFamily="2" charset="0"/>
              </a:rPr>
              <a:t>Leader Behaviour Description Questionn</a:t>
            </a:r>
            <a:r>
              <a:rPr lang="en-GB" sz="2000" i="1" dirty="0" err="1">
                <a:latin typeface="Times" pitchFamily="2" charset="0"/>
              </a:rPr>
              <a:t>aire</a:t>
            </a:r>
            <a:r>
              <a:rPr lang="en-LK" sz="2000" dirty="0">
                <a:latin typeface="Times" pitchFamily="2" charset="0"/>
              </a:rPr>
              <a:t>”.</a:t>
            </a:r>
          </a:p>
          <a:p>
            <a:pPr marL="0" indent="0" algn="just">
              <a:lnSpc>
                <a:spcPct val="120000"/>
              </a:lnSpc>
              <a:buNone/>
            </a:pPr>
            <a:endParaRPr lang="en-LK" sz="2000" dirty="0">
              <a:latin typeface="Times" pitchFamily="2" charset="0"/>
            </a:endParaRPr>
          </a:p>
          <a:p>
            <a:pPr algn="just">
              <a:lnSpc>
                <a:spcPct val="120000"/>
              </a:lnSpc>
            </a:pPr>
            <a:r>
              <a:rPr lang="en-LK" sz="2000" dirty="0">
                <a:latin typeface="Times" pitchFamily="2" charset="0"/>
              </a:rPr>
              <a:t>This study revealed two dimensions along which </a:t>
            </a:r>
            <a:r>
              <a:rPr lang="en-GB" sz="2000" dirty="0">
                <a:latin typeface="Times" pitchFamily="2" charset="0"/>
              </a:rPr>
              <a:t>an </a:t>
            </a:r>
            <a:r>
              <a:rPr lang="en-LK" sz="2000" dirty="0">
                <a:latin typeface="Times" pitchFamily="2" charset="0"/>
              </a:rPr>
              <a:t>individual’s leadership behaviour could be studied.</a:t>
            </a:r>
            <a:endParaRPr lang="en-GB" sz="2000" dirty="0"/>
          </a:p>
          <a:p>
            <a:pPr marL="0" indent="0">
              <a:buNone/>
            </a:pPr>
            <a:endParaRPr lang="en-GB" sz="1400" b="1" dirty="0"/>
          </a:p>
          <a:p>
            <a:pPr marL="0" indent="0">
              <a:buNone/>
            </a:pPr>
            <a:r>
              <a:rPr lang="en-GB" sz="2200" b="1" dirty="0">
                <a:latin typeface="Times" pitchFamily="2" charset="0"/>
              </a:rPr>
              <a:t>	</a:t>
            </a:r>
            <a:r>
              <a:rPr lang="en-GB" sz="2200" b="1" dirty="0">
                <a:solidFill>
                  <a:srgbClr val="0070C0"/>
                </a:solidFill>
                <a:latin typeface="Times" pitchFamily="2" charset="0"/>
              </a:rPr>
              <a:t>Initiating Structure</a:t>
            </a:r>
          </a:p>
          <a:p>
            <a:pPr lvl="2"/>
            <a:r>
              <a:rPr lang="en-GB" sz="1800" i="1" dirty="0">
                <a:latin typeface="Times" pitchFamily="2" charset="0"/>
              </a:rPr>
              <a:t>Leaders define roles, set goals, and establish clear guidelines.	</a:t>
            </a:r>
          </a:p>
          <a:p>
            <a:pPr marL="457200" lvl="1" indent="0">
              <a:buNone/>
            </a:pPr>
            <a:endParaRPr lang="en-GB" sz="2000" b="1" dirty="0">
              <a:latin typeface="Times" pitchFamily="2" charset="0"/>
            </a:endParaRPr>
          </a:p>
          <a:p>
            <a:pPr marL="0" indent="0">
              <a:buNone/>
            </a:pPr>
            <a:r>
              <a:rPr lang="en-GB" sz="2200" b="1" dirty="0">
                <a:latin typeface="Times" pitchFamily="2" charset="0"/>
              </a:rPr>
              <a:t>	</a:t>
            </a:r>
            <a:r>
              <a:rPr lang="en-GB" sz="2200" b="1" dirty="0">
                <a:solidFill>
                  <a:srgbClr val="0070C0"/>
                </a:solidFill>
                <a:latin typeface="Times" pitchFamily="2" charset="0"/>
              </a:rPr>
              <a:t>Consideration </a:t>
            </a:r>
          </a:p>
          <a:p>
            <a:pPr lvl="2"/>
            <a:r>
              <a:rPr lang="en-GB" sz="1800" i="1" dirty="0">
                <a:latin typeface="Times" pitchFamily="2" charset="0"/>
              </a:rPr>
              <a:t>Leaders show concern for the well-being and needs of team members.</a:t>
            </a:r>
          </a:p>
          <a:p>
            <a:pPr>
              <a:buFont typeface="Arial" panose="020B0604020202020204" pitchFamily="34" charset="0"/>
              <a:buChar char="•"/>
            </a:pPr>
            <a:endParaRPr lang="en-GB" sz="2400" b="1" dirty="0">
              <a:latin typeface="Times" pitchFamily="2" charset="0"/>
            </a:endParaRPr>
          </a:p>
          <a:p>
            <a:endParaRPr lang="en-LK" dirty="0"/>
          </a:p>
        </p:txBody>
      </p:sp>
      <p:sp>
        <p:nvSpPr>
          <p:cNvPr id="4" name="TextBox 3">
            <a:extLst>
              <a:ext uri="{FF2B5EF4-FFF2-40B4-BE49-F238E27FC236}">
                <a16:creationId xmlns:a16="http://schemas.microsoft.com/office/drawing/2014/main" id="{AFC6A5AE-3BBF-575F-AB30-951524BA1262}"/>
              </a:ext>
            </a:extLst>
          </p:cNvPr>
          <p:cNvSpPr txBox="1"/>
          <p:nvPr/>
        </p:nvSpPr>
        <p:spPr>
          <a:xfrm>
            <a:off x="4510087" y="4188679"/>
            <a:ext cx="1880643" cy="400110"/>
          </a:xfrm>
          <a:prstGeom prst="rect">
            <a:avLst/>
          </a:prstGeom>
          <a:noFill/>
        </p:spPr>
        <p:txBody>
          <a:bodyPr wrap="none" rtlCol="0">
            <a:spAutoFit/>
          </a:bodyPr>
          <a:lstStyle/>
          <a:p>
            <a:r>
              <a:rPr lang="en-LK" sz="2000" b="1" dirty="0">
                <a:solidFill>
                  <a:srgbClr val="FF0000"/>
                </a:solidFill>
                <a:latin typeface="Bradley Hand" pitchFamily="2" charset="77"/>
              </a:rPr>
              <a:t>Task-Oriented</a:t>
            </a:r>
          </a:p>
        </p:txBody>
      </p:sp>
      <p:sp>
        <p:nvSpPr>
          <p:cNvPr id="6" name="TextBox 5">
            <a:extLst>
              <a:ext uri="{FF2B5EF4-FFF2-40B4-BE49-F238E27FC236}">
                <a16:creationId xmlns:a16="http://schemas.microsoft.com/office/drawing/2014/main" id="{1BC5C5C1-848C-9556-FF1F-B961F0421C22}"/>
              </a:ext>
            </a:extLst>
          </p:cNvPr>
          <p:cNvSpPr txBox="1"/>
          <p:nvPr/>
        </p:nvSpPr>
        <p:spPr>
          <a:xfrm>
            <a:off x="4510087" y="5208984"/>
            <a:ext cx="1980029" cy="400110"/>
          </a:xfrm>
          <a:prstGeom prst="rect">
            <a:avLst/>
          </a:prstGeom>
          <a:noFill/>
        </p:spPr>
        <p:txBody>
          <a:bodyPr wrap="none" rtlCol="0">
            <a:spAutoFit/>
          </a:bodyPr>
          <a:lstStyle/>
          <a:p>
            <a:r>
              <a:rPr lang="en-LK" sz="2000" b="1" dirty="0">
                <a:solidFill>
                  <a:srgbClr val="FF0000"/>
                </a:solidFill>
                <a:latin typeface="Bradley Hand" pitchFamily="2" charset="77"/>
              </a:rPr>
              <a:t>People-Oriented</a:t>
            </a:r>
          </a:p>
        </p:txBody>
      </p:sp>
      <p:pic>
        <p:nvPicPr>
          <p:cNvPr id="16386" name="Picture 2" descr="Leader-successful businessman Royalty Free Vector Image">
            <a:extLst>
              <a:ext uri="{FF2B5EF4-FFF2-40B4-BE49-F238E27FC236}">
                <a16:creationId xmlns:a16="http://schemas.microsoft.com/office/drawing/2014/main" id="{30FFA1E5-F60B-AA13-4FA0-6BE8349E6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8190"/>
          <a:stretch/>
        </p:blipFill>
        <p:spPr bwMode="auto">
          <a:xfrm>
            <a:off x="9368949" y="2965911"/>
            <a:ext cx="2675475" cy="3663489"/>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522B3EC8-5B29-0688-C839-04D5E7AF5AD0}"/>
              </a:ext>
            </a:extLst>
          </p:cNvPr>
          <p:cNvGrpSpPr/>
          <p:nvPr/>
        </p:nvGrpSpPr>
        <p:grpSpPr>
          <a:xfrm>
            <a:off x="10809421" y="0"/>
            <a:ext cx="1382579" cy="1295849"/>
            <a:chOff x="167438" y="5481985"/>
            <a:chExt cx="1382579" cy="1295849"/>
          </a:xfrm>
        </p:grpSpPr>
        <p:sp>
          <p:nvSpPr>
            <p:cNvPr id="7" name="TextBox 6">
              <a:extLst>
                <a:ext uri="{FF2B5EF4-FFF2-40B4-BE49-F238E27FC236}">
                  <a16:creationId xmlns:a16="http://schemas.microsoft.com/office/drawing/2014/main" id="{48794719-8FEE-54FF-9961-B5705B935246}"/>
                </a:ext>
              </a:extLst>
            </p:cNvPr>
            <p:cNvSpPr txBox="1"/>
            <p:nvPr/>
          </p:nvSpPr>
          <p:spPr>
            <a:xfrm>
              <a:off x="167438" y="5481985"/>
              <a:ext cx="1382579" cy="369332"/>
            </a:xfrm>
            <a:prstGeom prst="rect">
              <a:avLst/>
            </a:prstGeom>
            <a:noFill/>
          </p:spPr>
          <p:txBody>
            <a:bodyPr wrap="square" rtlCol="0">
              <a:spAutoFit/>
            </a:bodyPr>
            <a:lstStyle/>
            <a:p>
              <a:pPr algn="ctr"/>
              <a:r>
                <a:rPr lang="en-LK" dirty="0">
                  <a:solidFill>
                    <a:srgbClr val="FF0000"/>
                  </a:solidFill>
                  <a:latin typeface="Bradley Hand" pitchFamily="2" charset="77"/>
                </a:rPr>
                <a:t>Take Notes</a:t>
              </a:r>
            </a:p>
          </p:txBody>
        </p:sp>
        <p:pic>
          <p:nvPicPr>
            <p:cNvPr id="8" name="Picture 2" descr="101 Brain Teasers For Adults (with Answers) Parade:, 43% OFF">
              <a:extLst>
                <a:ext uri="{FF2B5EF4-FFF2-40B4-BE49-F238E27FC236}">
                  <a16:creationId xmlns:a16="http://schemas.microsoft.com/office/drawing/2014/main" id="{1CDB6BFE-75FD-52C3-E656-2476779504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6052" y="5781290"/>
              <a:ext cx="679324" cy="99654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1581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checkerboard(across)">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checkerboard(across)">
                                      <p:cBhvr>
                                        <p:cTn id="12" dur="500"/>
                                        <p:tgtEl>
                                          <p:spTgt spid="3">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42BF6-F236-3468-ED91-DE510F40EC7C}"/>
              </a:ext>
            </a:extLst>
          </p:cNvPr>
          <p:cNvSpPr>
            <a:spLocks noGrp="1"/>
          </p:cNvSpPr>
          <p:nvPr>
            <p:ph type="title"/>
          </p:nvPr>
        </p:nvSpPr>
        <p:spPr>
          <a:xfrm>
            <a:off x="452437" y="310297"/>
            <a:ext cx="10515600" cy="1325563"/>
          </a:xfrm>
        </p:spPr>
        <p:txBody>
          <a:bodyPr/>
          <a:lstStyle/>
          <a:p>
            <a:r>
              <a:rPr lang="en-GB" b="1" dirty="0">
                <a:latin typeface="Times" pitchFamily="2" charset="0"/>
              </a:rPr>
              <a:t>2. The University of Michigan Studies</a:t>
            </a:r>
            <a:endParaRPr lang="en-LK" b="1" dirty="0">
              <a:latin typeface="Times" pitchFamily="2" charset="0"/>
            </a:endParaRPr>
          </a:p>
        </p:txBody>
      </p:sp>
      <p:sp>
        <p:nvSpPr>
          <p:cNvPr id="3" name="Content Placeholder 2">
            <a:extLst>
              <a:ext uri="{FF2B5EF4-FFF2-40B4-BE49-F238E27FC236}">
                <a16:creationId xmlns:a16="http://schemas.microsoft.com/office/drawing/2014/main" id="{FD7A8BA3-7E0E-55C5-0964-57405B413495}"/>
              </a:ext>
            </a:extLst>
          </p:cNvPr>
          <p:cNvSpPr>
            <a:spLocks noGrp="1"/>
          </p:cNvSpPr>
          <p:nvPr>
            <p:ph idx="1"/>
          </p:nvPr>
        </p:nvSpPr>
        <p:spPr>
          <a:xfrm>
            <a:off x="452437" y="1839913"/>
            <a:ext cx="8705850" cy="4351338"/>
          </a:xfrm>
        </p:spPr>
        <p:txBody>
          <a:bodyPr>
            <a:normAutofit fontScale="92500" lnSpcReduction="10000"/>
          </a:bodyPr>
          <a:lstStyle/>
          <a:p>
            <a:pPr algn="just">
              <a:lnSpc>
                <a:spcPct val="120000"/>
              </a:lnSpc>
            </a:pPr>
            <a:r>
              <a:rPr lang="en-LK" sz="2200" dirty="0">
                <a:latin typeface="Times" pitchFamily="2" charset="0"/>
              </a:rPr>
              <a:t>A research study was conducted at the </a:t>
            </a:r>
            <a:r>
              <a:rPr lang="en-US" sz="2200" dirty="0">
                <a:latin typeface="Times" pitchFamily="2" charset="0"/>
              </a:rPr>
              <a:t>Survey Research Center at the University of Michigan, examining 24 supervisors and 400 workers.</a:t>
            </a:r>
          </a:p>
          <a:p>
            <a:pPr marL="0" indent="0" algn="just">
              <a:lnSpc>
                <a:spcPct val="120000"/>
              </a:lnSpc>
              <a:buNone/>
            </a:pPr>
            <a:endParaRPr lang="en-LK" sz="2200" dirty="0">
              <a:latin typeface="Times" pitchFamily="2" charset="0"/>
            </a:endParaRPr>
          </a:p>
          <a:p>
            <a:pPr algn="just">
              <a:lnSpc>
                <a:spcPct val="120000"/>
              </a:lnSpc>
            </a:pPr>
            <a:r>
              <a:rPr lang="en-LK" sz="2200" dirty="0">
                <a:latin typeface="Times" pitchFamily="2" charset="0"/>
              </a:rPr>
              <a:t>This study also revealed two dimensions along which </a:t>
            </a:r>
            <a:r>
              <a:rPr lang="en-GB" sz="2200" dirty="0">
                <a:latin typeface="Times" pitchFamily="2" charset="0"/>
              </a:rPr>
              <a:t>an </a:t>
            </a:r>
            <a:r>
              <a:rPr lang="en-LK" sz="2200" dirty="0">
                <a:latin typeface="Times" pitchFamily="2" charset="0"/>
              </a:rPr>
              <a:t>individual’s leadership behavior could be studied.</a:t>
            </a:r>
          </a:p>
          <a:p>
            <a:pPr algn="just">
              <a:lnSpc>
                <a:spcPct val="120000"/>
              </a:lnSpc>
            </a:pPr>
            <a:endParaRPr lang="en-GB" sz="2400" dirty="0"/>
          </a:p>
          <a:p>
            <a:pPr marL="0" indent="0">
              <a:buNone/>
            </a:pPr>
            <a:r>
              <a:rPr lang="en-GB" sz="2200" b="1" dirty="0">
                <a:latin typeface="Times" pitchFamily="2" charset="0"/>
              </a:rPr>
              <a:t>	</a:t>
            </a:r>
            <a:r>
              <a:rPr lang="en-GB" sz="2400" b="1" dirty="0">
                <a:solidFill>
                  <a:srgbClr val="0070C0"/>
                </a:solidFill>
                <a:latin typeface="Times" pitchFamily="2" charset="0"/>
              </a:rPr>
              <a:t>Production-Oriented</a:t>
            </a:r>
          </a:p>
          <a:p>
            <a:pPr lvl="2"/>
            <a:r>
              <a:rPr lang="en-GB" sz="1900" i="1" dirty="0">
                <a:latin typeface="Times" pitchFamily="2" charset="0"/>
              </a:rPr>
              <a:t>Leaders focus on task completion and productivity.</a:t>
            </a:r>
          </a:p>
          <a:p>
            <a:pPr marL="457200" lvl="1" indent="0">
              <a:buNone/>
            </a:pPr>
            <a:endParaRPr lang="en-GB" sz="2000" b="1" dirty="0">
              <a:latin typeface="Times" pitchFamily="2" charset="0"/>
            </a:endParaRPr>
          </a:p>
          <a:p>
            <a:pPr marL="0" indent="0">
              <a:buNone/>
            </a:pPr>
            <a:r>
              <a:rPr lang="en-GB" sz="2200" b="1" dirty="0">
                <a:latin typeface="Times" pitchFamily="2" charset="0"/>
              </a:rPr>
              <a:t>	</a:t>
            </a:r>
            <a:r>
              <a:rPr lang="en-GB" sz="2400" b="1" dirty="0">
                <a:solidFill>
                  <a:srgbClr val="0070C0"/>
                </a:solidFill>
                <a:latin typeface="Times" pitchFamily="2" charset="0"/>
              </a:rPr>
              <a:t>Employee-Oriented</a:t>
            </a:r>
          </a:p>
          <a:p>
            <a:pPr lvl="2"/>
            <a:r>
              <a:rPr lang="en-GB" sz="1900" i="1" dirty="0">
                <a:latin typeface="Times" pitchFamily="2" charset="0"/>
              </a:rPr>
              <a:t>Leaders emphasize interpersonal relationships and employee satisfaction.</a:t>
            </a:r>
          </a:p>
          <a:p>
            <a:pPr lvl="2"/>
            <a:endParaRPr lang="en-GB" sz="1800" i="1" dirty="0">
              <a:latin typeface="Times" pitchFamily="2" charset="0"/>
            </a:endParaRPr>
          </a:p>
          <a:p>
            <a:pPr marL="0" indent="0">
              <a:buNone/>
            </a:pPr>
            <a:endParaRPr lang="en-GB" dirty="0">
              <a:latin typeface="Times" pitchFamily="2" charset="0"/>
            </a:endParaRPr>
          </a:p>
          <a:p>
            <a:pPr marL="0" indent="0">
              <a:buNone/>
            </a:pPr>
            <a:endParaRPr lang="en-GB" b="1" dirty="0">
              <a:latin typeface="Times" pitchFamily="2" charset="0"/>
            </a:endParaRPr>
          </a:p>
        </p:txBody>
      </p:sp>
      <p:sp>
        <p:nvSpPr>
          <p:cNvPr id="4" name="TextBox 3">
            <a:extLst>
              <a:ext uri="{FF2B5EF4-FFF2-40B4-BE49-F238E27FC236}">
                <a16:creationId xmlns:a16="http://schemas.microsoft.com/office/drawing/2014/main" id="{5304B515-323A-00C6-662D-8993D33057B1}"/>
              </a:ext>
            </a:extLst>
          </p:cNvPr>
          <p:cNvSpPr txBox="1"/>
          <p:nvPr/>
        </p:nvSpPr>
        <p:spPr>
          <a:xfrm>
            <a:off x="5191125" y="4241005"/>
            <a:ext cx="1880643" cy="400110"/>
          </a:xfrm>
          <a:prstGeom prst="rect">
            <a:avLst/>
          </a:prstGeom>
          <a:noFill/>
        </p:spPr>
        <p:txBody>
          <a:bodyPr wrap="none" rtlCol="0">
            <a:spAutoFit/>
          </a:bodyPr>
          <a:lstStyle/>
          <a:p>
            <a:r>
              <a:rPr lang="en-LK" sz="2000" b="1" dirty="0">
                <a:solidFill>
                  <a:srgbClr val="FF0000"/>
                </a:solidFill>
                <a:latin typeface="Bradley Hand" pitchFamily="2" charset="77"/>
              </a:rPr>
              <a:t>Task-Oriented</a:t>
            </a:r>
          </a:p>
        </p:txBody>
      </p:sp>
      <p:sp>
        <p:nvSpPr>
          <p:cNvPr id="5" name="TextBox 4">
            <a:extLst>
              <a:ext uri="{FF2B5EF4-FFF2-40B4-BE49-F238E27FC236}">
                <a16:creationId xmlns:a16="http://schemas.microsoft.com/office/drawing/2014/main" id="{31FF0F03-6B36-5058-268C-042E91EB9DF5}"/>
              </a:ext>
            </a:extLst>
          </p:cNvPr>
          <p:cNvSpPr txBox="1"/>
          <p:nvPr/>
        </p:nvSpPr>
        <p:spPr>
          <a:xfrm>
            <a:off x="5141431" y="5308997"/>
            <a:ext cx="1980029" cy="400110"/>
          </a:xfrm>
          <a:prstGeom prst="rect">
            <a:avLst/>
          </a:prstGeom>
          <a:noFill/>
        </p:spPr>
        <p:txBody>
          <a:bodyPr wrap="none" rtlCol="0">
            <a:spAutoFit/>
          </a:bodyPr>
          <a:lstStyle/>
          <a:p>
            <a:r>
              <a:rPr lang="en-LK" sz="2000" b="1" dirty="0">
                <a:solidFill>
                  <a:srgbClr val="FF0000"/>
                </a:solidFill>
                <a:latin typeface="Bradley Hand" pitchFamily="2" charset="77"/>
              </a:rPr>
              <a:t>People-Oriented</a:t>
            </a:r>
          </a:p>
        </p:txBody>
      </p:sp>
      <p:pic>
        <p:nvPicPr>
          <p:cNvPr id="6" name="Picture 2" descr="Leader-successful businessman Royalty Free Vector Image">
            <a:extLst>
              <a:ext uri="{FF2B5EF4-FFF2-40B4-BE49-F238E27FC236}">
                <a16:creationId xmlns:a16="http://schemas.microsoft.com/office/drawing/2014/main" id="{C806AB22-17F4-052D-071D-46604F1E99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8190"/>
          <a:stretch/>
        </p:blipFill>
        <p:spPr bwMode="auto">
          <a:xfrm>
            <a:off x="9278872" y="3013199"/>
            <a:ext cx="2581276" cy="353450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8030EA90-71CF-0ABF-E8BF-7443C623AC3D}"/>
              </a:ext>
            </a:extLst>
          </p:cNvPr>
          <p:cNvGrpSpPr/>
          <p:nvPr/>
        </p:nvGrpSpPr>
        <p:grpSpPr>
          <a:xfrm>
            <a:off x="10809421" y="106244"/>
            <a:ext cx="1382579" cy="1295849"/>
            <a:chOff x="167438" y="5481985"/>
            <a:chExt cx="1382579" cy="1295849"/>
          </a:xfrm>
        </p:grpSpPr>
        <p:sp>
          <p:nvSpPr>
            <p:cNvPr id="8" name="TextBox 7">
              <a:extLst>
                <a:ext uri="{FF2B5EF4-FFF2-40B4-BE49-F238E27FC236}">
                  <a16:creationId xmlns:a16="http://schemas.microsoft.com/office/drawing/2014/main" id="{E92EF43B-2D4B-BC12-43A5-CC2772D9B3BB}"/>
                </a:ext>
              </a:extLst>
            </p:cNvPr>
            <p:cNvSpPr txBox="1"/>
            <p:nvPr/>
          </p:nvSpPr>
          <p:spPr>
            <a:xfrm>
              <a:off x="167438" y="5481985"/>
              <a:ext cx="1382579" cy="369332"/>
            </a:xfrm>
            <a:prstGeom prst="rect">
              <a:avLst/>
            </a:prstGeom>
            <a:noFill/>
          </p:spPr>
          <p:txBody>
            <a:bodyPr wrap="square" rtlCol="0">
              <a:spAutoFit/>
            </a:bodyPr>
            <a:lstStyle/>
            <a:p>
              <a:pPr algn="ctr"/>
              <a:r>
                <a:rPr lang="en-LK" dirty="0">
                  <a:solidFill>
                    <a:srgbClr val="FF0000"/>
                  </a:solidFill>
                  <a:latin typeface="Bradley Hand" pitchFamily="2" charset="77"/>
                </a:rPr>
                <a:t>Take Notes</a:t>
              </a:r>
            </a:p>
          </p:txBody>
        </p:sp>
        <p:pic>
          <p:nvPicPr>
            <p:cNvPr id="9" name="Picture 2" descr="101 Brain Teasers For Adults (with Answers) Parade:, 43% OFF">
              <a:extLst>
                <a:ext uri="{FF2B5EF4-FFF2-40B4-BE49-F238E27FC236}">
                  <a16:creationId xmlns:a16="http://schemas.microsoft.com/office/drawing/2014/main" id="{3FE56087-1A37-27E4-48CD-C16A3D203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6052" y="5781290"/>
              <a:ext cx="679324" cy="99654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7036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checkerboard(across)">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checkerboard(across)">
                                      <p:cBhvr>
                                        <p:cTn id="12" dur="500"/>
                                        <p:tgtEl>
                                          <p:spTgt spid="3">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F2C3A-B07A-9932-EB98-328B07422B17}"/>
              </a:ext>
            </a:extLst>
          </p:cNvPr>
          <p:cNvSpPr>
            <a:spLocks noGrp="1"/>
          </p:cNvSpPr>
          <p:nvPr>
            <p:ph type="title"/>
          </p:nvPr>
        </p:nvSpPr>
        <p:spPr>
          <a:xfrm>
            <a:off x="172529" y="365125"/>
            <a:ext cx="1559944" cy="6006890"/>
          </a:xfrm>
        </p:spPr>
        <p:txBody>
          <a:bodyPr vert="vert270">
            <a:normAutofit fontScale="90000"/>
          </a:bodyPr>
          <a:lstStyle/>
          <a:p>
            <a:pPr algn="ctr"/>
            <a:r>
              <a:rPr lang="en-GB" b="1" i="0" dirty="0">
                <a:solidFill>
                  <a:srgbClr val="21252A"/>
                </a:solidFill>
                <a:effectLst/>
                <a:latin typeface="Raleway" pitchFamily="2" charset="77"/>
              </a:rPr>
              <a:t>The Blake and Mouton Managerial Grid</a:t>
            </a:r>
            <a:endParaRPr lang="en-LK" b="1" dirty="0"/>
          </a:p>
        </p:txBody>
      </p:sp>
      <p:pic>
        <p:nvPicPr>
          <p:cNvPr id="4" name="Picture 2" descr="The Managerial Grid: Behavioural Leadership">
            <a:extLst>
              <a:ext uri="{FF2B5EF4-FFF2-40B4-BE49-F238E27FC236}">
                <a16:creationId xmlns:a16="http://schemas.microsoft.com/office/drawing/2014/main" id="{92E59148-6E47-AD22-A390-40A1F8D671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616"/>
          <a:stretch/>
        </p:blipFill>
        <p:spPr bwMode="auto">
          <a:xfrm>
            <a:off x="2485336" y="480872"/>
            <a:ext cx="9706664" cy="622611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713EEFE5-CA6A-493D-BB05-BFEAEBB15FA2}"/>
              </a:ext>
            </a:extLst>
          </p:cNvPr>
          <p:cNvGrpSpPr/>
          <p:nvPr/>
        </p:nvGrpSpPr>
        <p:grpSpPr>
          <a:xfrm>
            <a:off x="10809421" y="151010"/>
            <a:ext cx="1382579" cy="1295849"/>
            <a:chOff x="167438" y="5481985"/>
            <a:chExt cx="1382579" cy="1295849"/>
          </a:xfrm>
        </p:grpSpPr>
        <p:sp>
          <p:nvSpPr>
            <p:cNvPr id="5" name="TextBox 4">
              <a:extLst>
                <a:ext uri="{FF2B5EF4-FFF2-40B4-BE49-F238E27FC236}">
                  <a16:creationId xmlns:a16="http://schemas.microsoft.com/office/drawing/2014/main" id="{AC8F8D7F-0006-4C68-A157-2F844A6A2832}"/>
                </a:ext>
              </a:extLst>
            </p:cNvPr>
            <p:cNvSpPr txBox="1"/>
            <p:nvPr/>
          </p:nvSpPr>
          <p:spPr>
            <a:xfrm>
              <a:off x="167438" y="5481985"/>
              <a:ext cx="1382579" cy="369332"/>
            </a:xfrm>
            <a:prstGeom prst="rect">
              <a:avLst/>
            </a:prstGeom>
            <a:noFill/>
          </p:spPr>
          <p:txBody>
            <a:bodyPr wrap="square" rtlCol="0">
              <a:spAutoFit/>
            </a:bodyPr>
            <a:lstStyle/>
            <a:p>
              <a:pPr algn="ctr"/>
              <a:r>
                <a:rPr lang="en-LK" dirty="0">
                  <a:solidFill>
                    <a:srgbClr val="FF0000"/>
                  </a:solidFill>
                  <a:latin typeface="Bradley Hand" pitchFamily="2" charset="77"/>
                </a:rPr>
                <a:t>Take Notes</a:t>
              </a:r>
            </a:p>
          </p:txBody>
        </p:sp>
        <p:pic>
          <p:nvPicPr>
            <p:cNvPr id="6" name="Picture 2" descr="101 Brain Teasers For Adults (with Answers) Parade:, 43% OFF">
              <a:extLst>
                <a:ext uri="{FF2B5EF4-FFF2-40B4-BE49-F238E27FC236}">
                  <a16:creationId xmlns:a16="http://schemas.microsoft.com/office/drawing/2014/main" id="{001D39C9-C8E7-5CC9-2597-21704C4614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26052" y="5781290"/>
              <a:ext cx="679324" cy="99654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813657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4" name="Picture 6" descr="Male artist character making a sculpture of human Vector Image">
            <a:extLst>
              <a:ext uri="{FF2B5EF4-FFF2-40B4-BE49-F238E27FC236}">
                <a16:creationId xmlns:a16="http://schemas.microsoft.com/office/drawing/2014/main" id="{9B7DA303-4DD6-4473-2B4E-B24BA20073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021" t="12917" r="19744" b="16458"/>
          <a:stretch/>
        </p:blipFill>
        <p:spPr bwMode="auto">
          <a:xfrm>
            <a:off x="1014413" y="178214"/>
            <a:ext cx="5243513" cy="6758748"/>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690F176F-6C8C-4B82-8E2A-6F882BE57852}"/>
              </a:ext>
            </a:extLst>
          </p:cNvPr>
          <p:cNvSpPr txBox="1">
            <a:spLocks/>
          </p:cNvSpPr>
          <p:nvPr/>
        </p:nvSpPr>
        <p:spPr>
          <a:xfrm>
            <a:off x="6400800" y="1457326"/>
            <a:ext cx="5243513" cy="4200524"/>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LK" sz="11500" b="1" dirty="0">
                <a:solidFill>
                  <a:srgbClr val="FF0000"/>
                </a:solidFill>
                <a:latin typeface="Bradley Hand" pitchFamily="2" charset="77"/>
              </a:rPr>
              <a:t>“Leaders </a:t>
            </a:r>
          </a:p>
          <a:p>
            <a:pPr algn="ctr"/>
            <a:r>
              <a:rPr lang="en-LK" sz="11500" b="1" dirty="0">
                <a:solidFill>
                  <a:srgbClr val="FF0000"/>
                </a:solidFill>
                <a:latin typeface="Bradley Hand" pitchFamily="2" charset="77"/>
              </a:rPr>
              <a:t>can be </a:t>
            </a:r>
            <a:r>
              <a:rPr lang="en-LK" sz="11500" b="1" dirty="0">
                <a:solidFill>
                  <a:srgbClr val="0070C0"/>
                </a:solidFill>
                <a:latin typeface="Bradley Hand" pitchFamily="2" charset="77"/>
              </a:rPr>
              <a:t>Made</a:t>
            </a:r>
            <a:r>
              <a:rPr lang="en-LK" sz="11500" b="1" dirty="0">
                <a:solidFill>
                  <a:srgbClr val="FF0000"/>
                </a:solidFill>
                <a:latin typeface="Bradley Hand" pitchFamily="2" charset="77"/>
              </a:rPr>
              <a:t>”</a:t>
            </a:r>
          </a:p>
        </p:txBody>
      </p:sp>
    </p:spTree>
    <p:extLst>
      <p:ext uri="{BB962C8B-B14F-4D97-AF65-F5344CB8AC3E}">
        <p14:creationId xmlns:p14="http://schemas.microsoft.com/office/powerpoint/2010/main" val="2714157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4268C-B9DB-A28F-8C06-39AE91CE214C}"/>
              </a:ext>
            </a:extLst>
          </p:cNvPr>
          <p:cNvSpPr>
            <a:spLocks noGrp="1"/>
          </p:cNvSpPr>
          <p:nvPr>
            <p:ph type="title"/>
          </p:nvPr>
        </p:nvSpPr>
        <p:spPr>
          <a:xfrm>
            <a:off x="838199" y="623888"/>
            <a:ext cx="10515600" cy="1004887"/>
          </a:xfrm>
        </p:spPr>
        <p:txBody>
          <a:bodyPr>
            <a:normAutofit fontScale="90000"/>
          </a:bodyPr>
          <a:lstStyle/>
          <a:p>
            <a:pPr algn="ctr"/>
            <a:r>
              <a:rPr lang="en-LK" sz="5400" b="1" dirty="0">
                <a:solidFill>
                  <a:srgbClr val="0070C0"/>
                </a:solidFill>
                <a:latin typeface="Times" pitchFamily="2" charset="0"/>
              </a:rPr>
              <a:t>T03: </a:t>
            </a:r>
            <a:r>
              <a:rPr lang="en-US" sz="5400" b="1" dirty="0">
                <a:solidFill>
                  <a:srgbClr val="57122D"/>
                </a:solidFill>
                <a:latin typeface="Times" pitchFamily="2" charset="0"/>
              </a:rPr>
              <a:t>Contingency</a:t>
            </a:r>
            <a:r>
              <a:rPr lang="en-LK" sz="5400" b="1" dirty="0">
                <a:solidFill>
                  <a:srgbClr val="57122D"/>
                </a:solidFill>
                <a:latin typeface="Times" pitchFamily="2" charset="0"/>
              </a:rPr>
              <a:t> Theory of Leadership</a:t>
            </a:r>
          </a:p>
        </p:txBody>
      </p:sp>
      <p:pic>
        <p:nvPicPr>
          <p:cNvPr id="6148" name="Picture 4" descr="Change Basic Straight Flat icon">
            <a:extLst>
              <a:ext uri="{FF2B5EF4-FFF2-40B4-BE49-F238E27FC236}">
                <a16:creationId xmlns:a16="http://schemas.microsoft.com/office/drawing/2014/main" id="{0F8547A4-7A32-017F-63D5-F7A2FB4E4C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512" y="1885950"/>
            <a:ext cx="5180975" cy="4348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793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CFF00-A0DB-9A7E-6088-27772D16A8EF}"/>
              </a:ext>
            </a:extLst>
          </p:cNvPr>
          <p:cNvSpPr>
            <a:spLocks noGrp="1"/>
          </p:cNvSpPr>
          <p:nvPr>
            <p:ph type="title"/>
          </p:nvPr>
        </p:nvSpPr>
        <p:spPr>
          <a:xfrm>
            <a:off x="838200" y="365125"/>
            <a:ext cx="10515600" cy="1120775"/>
          </a:xfrm>
        </p:spPr>
        <p:txBody>
          <a:bodyPr>
            <a:normAutofit/>
          </a:bodyPr>
          <a:lstStyle/>
          <a:p>
            <a:r>
              <a:rPr lang="en-US" sz="4000" b="1" dirty="0">
                <a:latin typeface="Times" pitchFamily="2" charset="0"/>
              </a:rPr>
              <a:t>Contingency </a:t>
            </a:r>
            <a:r>
              <a:rPr lang="en-LK" sz="4000" b="1" dirty="0">
                <a:latin typeface="Times" pitchFamily="2" charset="0"/>
              </a:rPr>
              <a:t>Theory of Leadership</a:t>
            </a:r>
          </a:p>
        </p:txBody>
      </p:sp>
      <p:sp>
        <p:nvSpPr>
          <p:cNvPr id="3" name="Content Placeholder 2">
            <a:extLst>
              <a:ext uri="{FF2B5EF4-FFF2-40B4-BE49-F238E27FC236}">
                <a16:creationId xmlns:a16="http://schemas.microsoft.com/office/drawing/2014/main" id="{BCDD7720-D31A-7EA0-A760-927B91B823B9}"/>
              </a:ext>
            </a:extLst>
          </p:cNvPr>
          <p:cNvSpPr>
            <a:spLocks noGrp="1"/>
          </p:cNvSpPr>
          <p:nvPr>
            <p:ph idx="1"/>
          </p:nvPr>
        </p:nvSpPr>
        <p:spPr>
          <a:xfrm>
            <a:off x="838200" y="1739119"/>
            <a:ext cx="6176963" cy="4906645"/>
          </a:xfrm>
        </p:spPr>
        <p:txBody>
          <a:bodyPr>
            <a:normAutofit/>
          </a:bodyPr>
          <a:lstStyle/>
          <a:p>
            <a:pPr algn="just">
              <a:lnSpc>
                <a:spcPct val="110000"/>
              </a:lnSpc>
            </a:pPr>
            <a:r>
              <a:rPr lang="en-GB" sz="2000" dirty="0">
                <a:latin typeface="Times" pitchFamily="2" charset="0"/>
              </a:rPr>
              <a:t>The Situational Theory of Leadership states that </a:t>
            </a:r>
            <a:r>
              <a:rPr lang="en-GB" sz="2000" b="1" i="1" dirty="0">
                <a:latin typeface="Times" pitchFamily="2" charset="0"/>
              </a:rPr>
              <a:t>there is no single best way to lead. </a:t>
            </a:r>
          </a:p>
          <a:p>
            <a:pPr algn="just">
              <a:lnSpc>
                <a:spcPct val="110000"/>
              </a:lnSpc>
            </a:pPr>
            <a:endParaRPr lang="en-GB" sz="2000" b="1" i="1" dirty="0">
              <a:latin typeface="Times" pitchFamily="2" charset="0"/>
            </a:endParaRPr>
          </a:p>
          <a:p>
            <a:pPr algn="just">
              <a:lnSpc>
                <a:spcPct val="110000"/>
              </a:lnSpc>
            </a:pPr>
            <a:endParaRPr lang="en-GB" sz="2000" b="1" i="1" dirty="0">
              <a:latin typeface="Times" pitchFamily="2" charset="0"/>
            </a:endParaRPr>
          </a:p>
          <a:p>
            <a:pPr algn="just">
              <a:lnSpc>
                <a:spcPct val="110000"/>
              </a:lnSpc>
            </a:pPr>
            <a:r>
              <a:rPr lang="en-GB" sz="2000" dirty="0">
                <a:latin typeface="Times" pitchFamily="2" charset="0"/>
              </a:rPr>
              <a:t>Instead, the most effective leadership style </a:t>
            </a:r>
            <a:r>
              <a:rPr lang="en-GB" sz="2000" b="1" i="1" dirty="0">
                <a:latin typeface="Times" pitchFamily="2" charset="0"/>
              </a:rPr>
              <a:t>depends on the context or situation. </a:t>
            </a:r>
          </a:p>
          <a:p>
            <a:pPr algn="just">
              <a:lnSpc>
                <a:spcPct val="110000"/>
              </a:lnSpc>
            </a:pPr>
            <a:endParaRPr lang="en-GB" sz="2000" b="1" i="1" dirty="0">
              <a:latin typeface="Times" pitchFamily="2" charset="0"/>
            </a:endParaRPr>
          </a:p>
          <a:p>
            <a:pPr algn="just">
              <a:lnSpc>
                <a:spcPct val="110000"/>
              </a:lnSpc>
            </a:pPr>
            <a:endParaRPr lang="en-GB" sz="2000" b="1" i="1" dirty="0">
              <a:latin typeface="Times" pitchFamily="2" charset="0"/>
            </a:endParaRPr>
          </a:p>
          <a:p>
            <a:pPr algn="just">
              <a:lnSpc>
                <a:spcPct val="110000"/>
              </a:lnSpc>
            </a:pPr>
            <a:r>
              <a:rPr lang="en-GB" sz="2000" dirty="0">
                <a:latin typeface="Times" pitchFamily="2" charset="0"/>
              </a:rPr>
              <a:t>Leaders </a:t>
            </a:r>
            <a:r>
              <a:rPr lang="en-GB" sz="2000" b="1" i="1" dirty="0">
                <a:latin typeface="Times" pitchFamily="2" charset="0"/>
              </a:rPr>
              <a:t>must adapt their style to fit the circumstances </a:t>
            </a:r>
            <a:r>
              <a:rPr lang="en-GB" sz="2000" dirty="0">
                <a:latin typeface="Times" pitchFamily="2" charset="0"/>
              </a:rPr>
              <a:t>they face.</a:t>
            </a:r>
          </a:p>
        </p:txBody>
      </p:sp>
      <p:pic>
        <p:nvPicPr>
          <p:cNvPr id="18434" name="Picture 2" descr="Many arrows - ways Royalty Free Vector Image - VectorStock">
            <a:extLst>
              <a:ext uri="{FF2B5EF4-FFF2-40B4-BE49-F238E27FC236}">
                <a16:creationId xmlns:a16="http://schemas.microsoft.com/office/drawing/2014/main" id="{4ACE93C7-9691-3037-AB76-E48C5BF268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66" t="5324" r="4327" b="10834"/>
          <a:stretch/>
        </p:blipFill>
        <p:spPr bwMode="auto">
          <a:xfrm>
            <a:off x="8045725" y="1485900"/>
            <a:ext cx="3712888" cy="4669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819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F29E4-1A5C-96EC-59BE-D488AA4CCDDE}"/>
              </a:ext>
            </a:extLst>
          </p:cNvPr>
          <p:cNvSpPr>
            <a:spLocks noGrp="1"/>
          </p:cNvSpPr>
          <p:nvPr>
            <p:ph type="title"/>
          </p:nvPr>
        </p:nvSpPr>
        <p:spPr/>
        <p:txBody>
          <a:bodyPr/>
          <a:lstStyle/>
          <a:p>
            <a:r>
              <a:rPr lang="en-LK" b="1" dirty="0">
                <a:latin typeface="Times" pitchFamily="2" charset="0"/>
              </a:rPr>
              <a:t>Key Models related to Situational Theory</a:t>
            </a:r>
          </a:p>
        </p:txBody>
      </p:sp>
      <p:sp>
        <p:nvSpPr>
          <p:cNvPr id="3" name="Content Placeholder 2">
            <a:extLst>
              <a:ext uri="{FF2B5EF4-FFF2-40B4-BE49-F238E27FC236}">
                <a16:creationId xmlns:a16="http://schemas.microsoft.com/office/drawing/2014/main" id="{1741D666-88D5-189E-3B65-13CC41951504}"/>
              </a:ext>
            </a:extLst>
          </p:cNvPr>
          <p:cNvSpPr>
            <a:spLocks noGrp="1"/>
          </p:cNvSpPr>
          <p:nvPr>
            <p:ph idx="1"/>
          </p:nvPr>
        </p:nvSpPr>
        <p:spPr>
          <a:xfrm>
            <a:off x="838200" y="1954213"/>
            <a:ext cx="7820025" cy="4351338"/>
          </a:xfrm>
        </p:spPr>
        <p:txBody>
          <a:bodyPr/>
          <a:lstStyle/>
          <a:p>
            <a:pPr marL="514350" indent="-514350">
              <a:buAutoNum type="arabicPeriod"/>
            </a:pPr>
            <a:r>
              <a:rPr lang="en-GB" dirty="0">
                <a:latin typeface="Times" pitchFamily="2" charset="0"/>
              </a:rPr>
              <a:t>Fiedler’s Contingency Model</a:t>
            </a:r>
          </a:p>
          <a:p>
            <a:pPr marL="0" indent="0">
              <a:buNone/>
            </a:pPr>
            <a:endParaRPr lang="en-GB" dirty="0">
              <a:latin typeface="Times" pitchFamily="2" charset="0"/>
            </a:endParaRPr>
          </a:p>
          <a:p>
            <a:pPr marL="0" indent="0">
              <a:buNone/>
            </a:pPr>
            <a:endParaRPr lang="en-GB" dirty="0">
              <a:latin typeface="Times" pitchFamily="2" charset="0"/>
            </a:endParaRPr>
          </a:p>
          <a:p>
            <a:pPr marL="0" indent="0">
              <a:buNone/>
            </a:pPr>
            <a:r>
              <a:rPr lang="en-GB" dirty="0">
                <a:latin typeface="Times" pitchFamily="2" charset="0"/>
              </a:rPr>
              <a:t>2. Hersey-Blanchard Situational Leadership Theory</a:t>
            </a:r>
          </a:p>
        </p:txBody>
      </p:sp>
      <p:pic>
        <p:nvPicPr>
          <p:cNvPr id="4" name="Picture 2" descr="Many arrows - ways Royalty Free Vector Image - VectorStock">
            <a:extLst>
              <a:ext uri="{FF2B5EF4-FFF2-40B4-BE49-F238E27FC236}">
                <a16:creationId xmlns:a16="http://schemas.microsoft.com/office/drawing/2014/main" id="{81FF2565-8DDA-9484-83AE-314466C150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66" t="5324" r="4327" b="10834"/>
          <a:stretch/>
        </p:blipFill>
        <p:spPr bwMode="auto">
          <a:xfrm>
            <a:off x="9079537" y="3429000"/>
            <a:ext cx="2679075" cy="336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8437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11B7B-D619-5164-7C8D-2A3438CDFFC1}"/>
              </a:ext>
            </a:extLst>
          </p:cNvPr>
          <p:cNvSpPr>
            <a:spLocks noGrp="1"/>
          </p:cNvSpPr>
          <p:nvPr>
            <p:ph type="title"/>
          </p:nvPr>
        </p:nvSpPr>
        <p:spPr>
          <a:xfrm>
            <a:off x="838200" y="365126"/>
            <a:ext cx="10515600" cy="773562"/>
          </a:xfrm>
        </p:spPr>
        <p:txBody>
          <a:bodyPr>
            <a:normAutofit/>
          </a:bodyPr>
          <a:lstStyle/>
          <a:p>
            <a:r>
              <a:rPr lang="en-GB" sz="4000" b="1" dirty="0">
                <a:latin typeface="Times" pitchFamily="2" charset="0"/>
              </a:rPr>
              <a:t>Fiedler’s Contingency Model</a:t>
            </a:r>
            <a:endParaRPr lang="en-LK" sz="4000" b="1" dirty="0">
              <a:latin typeface="Times" pitchFamily="2" charset="0"/>
            </a:endParaRPr>
          </a:p>
        </p:txBody>
      </p:sp>
      <p:sp>
        <p:nvSpPr>
          <p:cNvPr id="3" name="Content Placeholder 2">
            <a:extLst>
              <a:ext uri="{FF2B5EF4-FFF2-40B4-BE49-F238E27FC236}">
                <a16:creationId xmlns:a16="http://schemas.microsoft.com/office/drawing/2014/main" id="{F0BCD444-C7E8-A025-C081-9A36FC64BBAD}"/>
              </a:ext>
            </a:extLst>
          </p:cNvPr>
          <p:cNvSpPr>
            <a:spLocks noGrp="1"/>
          </p:cNvSpPr>
          <p:nvPr>
            <p:ph idx="1"/>
          </p:nvPr>
        </p:nvSpPr>
        <p:spPr>
          <a:xfrm>
            <a:off x="838199" y="1501326"/>
            <a:ext cx="8048625" cy="4351338"/>
          </a:xfrm>
        </p:spPr>
        <p:txBody>
          <a:bodyPr>
            <a:normAutofit/>
          </a:bodyPr>
          <a:lstStyle/>
          <a:p>
            <a:pPr algn="just">
              <a:lnSpc>
                <a:spcPct val="100000"/>
              </a:lnSpc>
            </a:pPr>
            <a:r>
              <a:rPr lang="en-GB" sz="2000" dirty="0">
                <a:latin typeface="Times" pitchFamily="2" charset="0"/>
              </a:rPr>
              <a:t>This model states that leadership effectiveness depends on the match between a </a:t>
            </a:r>
            <a:r>
              <a:rPr lang="en-GB" sz="2000" b="1" i="1" u="sng" dirty="0">
                <a:latin typeface="Times" pitchFamily="2" charset="0"/>
              </a:rPr>
              <a:t>leader's style</a:t>
            </a:r>
            <a:r>
              <a:rPr lang="en-GB" sz="2000" b="1" i="1" dirty="0">
                <a:latin typeface="Times" pitchFamily="2" charset="0"/>
              </a:rPr>
              <a:t> </a:t>
            </a:r>
            <a:r>
              <a:rPr lang="en-GB" sz="2000" dirty="0">
                <a:latin typeface="Times" pitchFamily="2" charset="0"/>
              </a:rPr>
              <a:t>and the degree to which the </a:t>
            </a:r>
            <a:r>
              <a:rPr lang="en-GB" sz="2000" b="1" i="1" u="sng" dirty="0">
                <a:latin typeface="Times" pitchFamily="2" charset="0"/>
              </a:rPr>
              <a:t>situation </a:t>
            </a:r>
            <a:r>
              <a:rPr lang="en-GB" sz="2000" dirty="0">
                <a:latin typeface="Times" pitchFamily="2" charset="0"/>
              </a:rPr>
              <a:t>allows the leader to </a:t>
            </a:r>
            <a:r>
              <a:rPr lang="en-GB" sz="2000" b="1" i="1" u="sng" dirty="0">
                <a:latin typeface="Times" pitchFamily="2" charset="0"/>
              </a:rPr>
              <a:t>control and influence.</a:t>
            </a:r>
          </a:p>
          <a:p>
            <a:pPr marL="0" indent="0" algn="just">
              <a:lnSpc>
                <a:spcPct val="100000"/>
              </a:lnSpc>
              <a:buNone/>
            </a:pPr>
            <a:endParaRPr lang="en-GB" sz="2000" b="1" i="1" dirty="0">
              <a:latin typeface="Times" pitchFamily="2" charset="0"/>
            </a:endParaRPr>
          </a:p>
          <a:p>
            <a:pPr algn="just">
              <a:lnSpc>
                <a:spcPct val="100000"/>
              </a:lnSpc>
            </a:pPr>
            <a:r>
              <a:rPr lang="en-GB" sz="2000" b="1" dirty="0">
                <a:latin typeface="Times" pitchFamily="2" charset="0"/>
              </a:rPr>
              <a:t>Situational Factors:</a:t>
            </a:r>
            <a:r>
              <a:rPr lang="en-GB" sz="2000" dirty="0">
                <a:latin typeface="Times" pitchFamily="2" charset="0"/>
              </a:rPr>
              <a:t> </a:t>
            </a:r>
          </a:p>
          <a:p>
            <a:pPr lvl="1" algn="just">
              <a:lnSpc>
                <a:spcPct val="200000"/>
              </a:lnSpc>
            </a:pPr>
            <a:r>
              <a:rPr lang="en-GB" sz="2000" dirty="0">
                <a:latin typeface="Times" pitchFamily="2" charset="0"/>
              </a:rPr>
              <a:t>Leader-member relations</a:t>
            </a:r>
          </a:p>
          <a:p>
            <a:pPr lvl="1" algn="just">
              <a:lnSpc>
                <a:spcPct val="200000"/>
              </a:lnSpc>
            </a:pPr>
            <a:r>
              <a:rPr lang="en-GB" sz="2000" dirty="0">
                <a:latin typeface="Times" pitchFamily="2" charset="0"/>
              </a:rPr>
              <a:t>Task structure</a:t>
            </a:r>
          </a:p>
          <a:p>
            <a:pPr lvl="1" algn="just">
              <a:lnSpc>
                <a:spcPct val="200000"/>
              </a:lnSpc>
            </a:pPr>
            <a:r>
              <a:rPr lang="en-GB" sz="2000" dirty="0">
                <a:latin typeface="Times" pitchFamily="2" charset="0"/>
              </a:rPr>
              <a:t>Position power.</a:t>
            </a:r>
          </a:p>
        </p:txBody>
      </p:sp>
      <p:pic>
        <p:nvPicPr>
          <p:cNvPr id="20482" name="Picture 2" descr="Clipboard Cogwheel Structure Shows Task Analysis Stock Vector (Royalty  Free) 783617923 | Shutterstock">
            <a:extLst>
              <a:ext uri="{FF2B5EF4-FFF2-40B4-BE49-F238E27FC236}">
                <a16:creationId xmlns:a16="http://schemas.microsoft.com/office/drawing/2014/main" id="{2D555C60-96F9-0622-A9B8-5D3F25E4A216}"/>
              </a:ext>
            </a:extLst>
          </p:cNvPr>
          <p:cNvPicPr>
            <a:picLocks noChangeAspect="1" noChangeArrowheads="1"/>
          </p:cNvPicPr>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b="8616"/>
          <a:stretch/>
        </p:blipFill>
        <p:spPr bwMode="auto">
          <a:xfrm>
            <a:off x="7681360" y="2609429"/>
            <a:ext cx="2061074" cy="2135131"/>
          </a:xfrm>
          <a:prstGeom prst="rect">
            <a:avLst/>
          </a:prstGeom>
          <a:noFill/>
          <a:extLst>
            <a:ext uri="{909E8E84-426E-40DD-AFC4-6F175D3DCCD1}">
              <a14:hiddenFill xmlns:a14="http://schemas.microsoft.com/office/drawing/2010/main">
                <a:solidFill>
                  <a:srgbClr val="FFFFFF"/>
                </a:solidFill>
              </a14:hiddenFill>
            </a:ext>
          </a:extLst>
        </p:spPr>
      </p:pic>
      <p:pic>
        <p:nvPicPr>
          <p:cNvPr id="20488" name="Picture 8" descr="Management Team Stock Vector Illustration And Royalty Free, 46% OFF">
            <a:extLst>
              <a:ext uri="{FF2B5EF4-FFF2-40B4-BE49-F238E27FC236}">
                <a16:creationId xmlns:a16="http://schemas.microsoft.com/office/drawing/2014/main" id="{D3E924BB-18DE-FC39-5075-F2534C6C377B}"/>
              </a:ext>
            </a:extLst>
          </p:cNvPr>
          <p:cNvPicPr>
            <a:picLocks noChangeAspect="1" noChangeArrowheads="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42434" y="365126"/>
            <a:ext cx="2317527" cy="2317527"/>
          </a:xfrm>
          <a:prstGeom prst="rect">
            <a:avLst/>
          </a:prstGeom>
          <a:noFill/>
          <a:extLst>
            <a:ext uri="{909E8E84-426E-40DD-AFC4-6F175D3DCCD1}">
              <a14:hiddenFill xmlns:a14="http://schemas.microsoft.com/office/drawing/2010/main">
                <a:solidFill>
                  <a:srgbClr val="FFFFFF"/>
                </a:solidFill>
              </a14:hiddenFill>
            </a:ext>
          </a:extLst>
        </p:spPr>
      </p:pic>
      <p:pic>
        <p:nvPicPr>
          <p:cNvPr id="20492" name="Picture 12" descr="Business Hierarchy Icon Structure Leadership Team Vector, Structure,  Leadership, Team PNG and Vector with Transparent Background for Free  Download">
            <a:extLst>
              <a:ext uri="{FF2B5EF4-FFF2-40B4-BE49-F238E27FC236}">
                <a16:creationId xmlns:a16="http://schemas.microsoft.com/office/drawing/2014/main" id="{A17BD6D2-FE06-4F02-147B-9F8444A96833}"/>
              </a:ext>
            </a:extLst>
          </p:cNvPr>
          <p:cNvPicPr>
            <a:picLocks noChangeAspect="1" noChangeArrowheads="1"/>
          </p:cNvPicPr>
          <p:nvPr/>
        </p:nvPicPr>
        <p:blipFill>
          <a:blip r:embed="rId5">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28536" y="3762093"/>
            <a:ext cx="3183167" cy="318316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72C0E67A-050F-C6C0-E76D-BE656FA615E2}"/>
              </a:ext>
            </a:extLst>
          </p:cNvPr>
          <p:cNvGrpSpPr/>
          <p:nvPr/>
        </p:nvGrpSpPr>
        <p:grpSpPr>
          <a:xfrm>
            <a:off x="-76200" y="5902566"/>
            <a:ext cx="1189360" cy="897038"/>
            <a:chOff x="167438" y="5481985"/>
            <a:chExt cx="1382579" cy="1295849"/>
          </a:xfrm>
        </p:grpSpPr>
        <p:sp>
          <p:nvSpPr>
            <p:cNvPr id="8" name="TextBox 7">
              <a:extLst>
                <a:ext uri="{FF2B5EF4-FFF2-40B4-BE49-F238E27FC236}">
                  <a16:creationId xmlns:a16="http://schemas.microsoft.com/office/drawing/2014/main" id="{41F7F439-06A0-7393-303E-C327AD3F8680}"/>
                </a:ext>
              </a:extLst>
            </p:cNvPr>
            <p:cNvSpPr txBox="1"/>
            <p:nvPr/>
          </p:nvSpPr>
          <p:spPr>
            <a:xfrm>
              <a:off x="167438" y="5481985"/>
              <a:ext cx="1382579" cy="400149"/>
            </a:xfrm>
            <a:prstGeom prst="rect">
              <a:avLst/>
            </a:prstGeom>
            <a:noFill/>
          </p:spPr>
          <p:txBody>
            <a:bodyPr wrap="square" rtlCol="0">
              <a:spAutoFit/>
            </a:bodyPr>
            <a:lstStyle/>
            <a:p>
              <a:pPr algn="ctr"/>
              <a:r>
                <a:rPr lang="en-LK" sz="1200" dirty="0">
                  <a:solidFill>
                    <a:srgbClr val="FF0000"/>
                  </a:solidFill>
                  <a:latin typeface="Bradley Hand" pitchFamily="2" charset="77"/>
                </a:rPr>
                <a:t>Take Notes</a:t>
              </a:r>
            </a:p>
          </p:txBody>
        </p:sp>
        <p:pic>
          <p:nvPicPr>
            <p:cNvPr id="9" name="Picture 2" descr="101 Brain Teasers For Adults (with Answers) Parade:, 43% OFF">
              <a:extLst>
                <a:ext uri="{FF2B5EF4-FFF2-40B4-BE49-F238E27FC236}">
                  <a16:creationId xmlns:a16="http://schemas.microsoft.com/office/drawing/2014/main" id="{4FF2A6B0-DA58-46D6-F1CD-EDBC11BACF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26052" y="5781290"/>
              <a:ext cx="679324" cy="99654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5437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577FD-1DE5-1C7A-BE4D-70469975AC6F}"/>
              </a:ext>
            </a:extLst>
          </p:cNvPr>
          <p:cNvSpPr>
            <a:spLocks noGrp="1"/>
          </p:cNvSpPr>
          <p:nvPr>
            <p:ph type="title"/>
          </p:nvPr>
        </p:nvSpPr>
        <p:spPr>
          <a:xfrm>
            <a:off x="523875" y="379412"/>
            <a:ext cx="10515600" cy="1325563"/>
          </a:xfrm>
        </p:spPr>
        <p:txBody>
          <a:bodyPr>
            <a:normAutofit/>
          </a:bodyPr>
          <a:lstStyle/>
          <a:p>
            <a:r>
              <a:rPr lang="en-LK" sz="4000" b="1" dirty="0">
                <a:latin typeface="Times" pitchFamily="2" charset="0"/>
              </a:rPr>
              <a:t>Leader-Member Relations</a:t>
            </a:r>
          </a:p>
        </p:txBody>
      </p:sp>
      <p:sp>
        <p:nvSpPr>
          <p:cNvPr id="3" name="Content Placeholder 2">
            <a:extLst>
              <a:ext uri="{FF2B5EF4-FFF2-40B4-BE49-F238E27FC236}">
                <a16:creationId xmlns:a16="http://schemas.microsoft.com/office/drawing/2014/main" id="{E4DECF35-8E8B-B5C3-53C7-9DE16381E1FC}"/>
              </a:ext>
            </a:extLst>
          </p:cNvPr>
          <p:cNvSpPr>
            <a:spLocks noGrp="1"/>
          </p:cNvSpPr>
          <p:nvPr>
            <p:ph idx="1"/>
          </p:nvPr>
        </p:nvSpPr>
        <p:spPr>
          <a:xfrm>
            <a:off x="395287" y="1825625"/>
            <a:ext cx="6734175" cy="4538926"/>
          </a:xfrm>
        </p:spPr>
        <p:txBody>
          <a:bodyPr>
            <a:normAutofit/>
          </a:bodyPr>
          <a:lstStyle/>
          <a:p>
            <a:pPr algn="just">
              <a:lnSpc>
                <a:spcPct val="100000"/>
              </a:lnSpc>
            </a:pPr>
            <a:r>
              <a:rPr lang="en-GB" sz="2000" dirty="0">
                <a:latin typeface="Times" pitchFamily="2" charset="0"/>
              </a:rPr>
              <a:t>This factor refers to the </a:t>
            </a:r>
            <a:r>
              <a:rPr lang="en-GB" sz="2000" b="1" i="1" dirty="0">
                <a:latin typeface="Times" pitchFamily="2" charset="0"/>
              </a:rPr>
              <a:t>degree of trust, respect, and confidence</a:t>
            </a:r>
            <a:r>
              <a:rPr lang="en-GB" sz="2000" dirty="0">
                <a:latin typeface="Times" pitchFamily="2" charset="0"/>
              </a:rPr>
              <a:t> that exists between the leader and their followers.</a:t>
            </a:r>
          </a:p>
          <a:p>
            <a:pPr algn="just">
              <a:lnSpc>
                <a:spcPct val="100000"/>
              </a:lnSpc>
            </a:pPr>
            <a:endParaRPr lang="en-GB" dirty="0">
              <a:latin typeface="Times" pitchFamily="2" charset="0"/>
            </a:endParaRPr>
          </a:p>
          <a:p>
            <a:pPr algn="just">
              <a:lnSpc>
                <a:spcPct val="100000"/>
              </a:lnSpc>
            </a:pPr>
            <a:endParaRPr lang="en-GB" dirty="0">
              <a:latin typeface="Times" pitchFamily="2" charset="0"/>
            </a:endParaRPr>
          </a:p>
          <a:p>
            <a:pPr marL="457200" lvl="1" indent="0" algn="just">
              <a:lnSpc>
                <a:spcPct val="100000"/>
              </a:lnSpc>
              <a:buNone/>
            </a:pPr>
            <a:r>
              <a:rPr lang="en-GB" sz="2000" b="1" dirty="0">
                <a:latin typeface="Times" pitchFamily="2" charset="0"/>
              </a:rPr>
              <a:t>Good Relations:</a:t>
            </a:r>
            <a:r>
              <a:rPr lang="en-GB" sz="2000" dirty="0">
                <a:latin typeface="Times" pitchFamily="2" charset="0"/>
              </a:rPr>
              <a:t> </a:t>
            </a:r>
          </a:p>
          <a:p>
            <a:pPr lvl="1" algn="just">
              <a:lnSpc>
                <a:spcPct val="100000"/>
              </a:lnSpc>
            </a:pPr>
            <a:r>
              <a:rPr lang="en-GB" sz="1800" dirty="0">
                <a:latin typeface="Times" pitchFamily="2" charset="0"/>
              </a:rPr>
              <a:t>When the relationship is </a:t>
            </a:r>
            <a:r>
              <a:rPr lang="en-GB" sz="1800" u="sng" dirty="0">
                <a:latin typeface="Times" pitchFamily="2" charset="0"/>
              </a:rPr>
              <a:t>positive</a:t>
            </a:r>
            <a:r>
              <a:rPr lang="en-GB" sz="1800" dirty="0">
                <a:latin typeface="Times" pitchFamily="2" charset="0"/>
              </a:rPr>
              <a:t>, the leader has a </a:t>
            </a:r>
            <a:r>
              <a:rPr lang="en-GB" sz="1800" u="sng" dirty="0">
                <a:latin typeface="Times" pitchFamily="2" charset="0"/>
              </a:rPr>
              <a:t>greater influence</a:t>
            </a:r>
            <a:r>
              <a:rPr lang="en-GB" sz="1800" dirty="0">
                <a:latin typeface="Times" pitchFamily="2" charset="0"/>
              </a:rPr>
              <a:t> over the group. </a:t>
            </a:r>
          </a:p>
          <a:p>
            <a:pPr lvl="1" algn="just">
              <a:lnSpc>
                <a:spcPct val="100000"/>
              </a:lnSpc>
            </a:pPr>
            <a:endParaRPr lang="en-GB" sz="2100" dirty="0">
              <a:latin typeface="Times" pitchFamily="2" charset="0"/>
            </a:endParaRPr>
          </a:p>
          <a:p>
            <a:pPr lvl="1" algn="just">
              <a:lnSpc>
                <a:spcPct val="100000"/>
              </a:lnSpc>
            </a:pPr>
            <a:endParaRPr lang="en-GB" sz="2100" dirty="0">
              <a:latin typeface="Times" pitchFamily="2" charset="0"/>
            </a:endParaRPr>
          </a:p>
          <a:p>
            <a:pPr marL="457200" lvl="1" indent="0" algn="just">
              <a:lnSpc>
                <a:spcPct val="100000"/>
              </a:lnSpc>
              <a:buNone/>
            </a:pPr>
            <a:r>
              <a:rPr lang="en-GB" sz="2000" b="1" dirty="0">
                <a:latin typeface="Times" pitchFamily="2" charset="0"/>
              </a:rPr>
              <a:t>Poor Relations: </a:t>
            </a:r>
          </a:p>
          <a:p>
            <a:pPr lvl="1" algn="just">
              <a:lnSpc>
                <a:spcPct val="100000"/>
              </a:lnSpc>
            </a:pPr>
            <a:r>
              <a:rPr lang="en-GB" sz="1800" dirty="0">
                <a:latin typeface="Times" pitchFamily="2" charset="0"/>
              </a:rPr>
              <a:t>When the relationship is </a:t>
            </a:r>
            <a:r>
              <a:rPr lang="en-GB" sz="1800" u="sng" dirty="0">
                <a:latin typeface="Times" pitchFamily="2" charset="0"/>
              </a:rPr>
              <a:t>strained</a:t>
            </a:r>
            <a:r>
              <a:rPr lang="en-GB" sz="1800" dirty="0">
                <a:latin typeface="Times" pitchFamily="2" charset="0"/>
              </a:rPr>
              <a:t>, the leader's </a:t>
            </a:r>
            <a:r>
              <a:rPr lang="en-GB" sz="1800" u="sng" dirty="0">
                <a:latin typeface="Times" pitchFamily="2" charset="0"/>
              </a:rPr>
              <a:t>influence is weakened. </a:t>
            </a:r>
          </a:p>
        </p:txBody>
      </p:sp>
      <p:sp>
        <p:nvSpPr>
          <p:cNvPr id="5" name="TextBox 4">
            <a:extLst>
              <a:ext uri="{FF2B5EF4-FFF2-40B4-BE49-F238E27FC236}">
                <a16:creationId xmlns:a16="http://schemas.microsoft.com/office/drawing/2014/main" id="{BB613A5F-E1EA-221A-E7A0-777020C0A9D3}"/>
              </a:ext>
            </a:extLst>
          </p:cNvPr>
          <p:cNvSpPr txBox="1"/>
          <p:nvPr/>
        </p:nvSpPr>
        <p:spPr>
          <a:xfrm>
            <a:off x="7300913" y="3665288"/>
            <a:ext cx="4495800" cy="830997"/>
          </a:xfrm>
          <a:prstGeom prst="rect">
            <a:avLst/>
          </a:prstGeom>
          <a:noFill/>
        </p:spPr>
        <p:txBody>
          <a:bodyPr wrap="square">
            <a:spAutoFit/>
          </a:bodyPr>
          <a:lstStyle/>
          <a:p>
            <a:pPr lvl="2" algn="just">
              <a:lnSpc>
                <a:spcPct val="100000"/>
              </a:lnSpc>
            </a:pPr>
            <a:r>
              <a:rPr lang="en-GB" sz="1600" b="1" i="1" dirty="0">
                <a:solidFill>
                  <a:schemeClr val="accent1"/>
                </a:solidFill>
                <a:latin typeface="Times" pitchFamily="2" charset="0"/>
              </a:rPr>
              <a:t>For example</a:t>
            </a:r>
            <a:r>
              <a:rPr lang="en-GB" sz="1600" dirty="0">
                <a:solidFill>
                  <a:schemeClr val="accent1"/>
                </a:solidFill>
                <a:latin typeface="Times" pitchFamily="2" charset="0"/>
              </a:rPr>
              <a:t>, in a team where members trust and respect their leader, the </a:t>
            </a:r>
            <a:r>
              <a:rPr lang="en-GB" sz="1600" u="sng" dirty="0">
                <a:solidFill>
                  <a:schemeClr val="accent1"/>
                </a:solidFill>
                <a:latin typeface="Times" pitchFamily="2" charset="0"/>
              </a:rPr>
              <a:t>leader can effectively guide and motivate them</a:t>
            </a:r>
            <a:r>
              <a:rPr lang="en-GB" sz="1600" dirty="0">
                <a:solidFill>
                  <a:schemeClr val="accent1"/>
                </a:solidFill>
                <a:latin typeface="Times" pitchFamily="2" charset="0"/>
              </a:rPr>
              <a:t>.</a:t>
            </a:r>
          </a:p>
        </p:txBody>
      </p:sp>
      <p:sp>
        <p:nvSpPr>
          <p:cNvPr id="9" name="TextBox 8">
            <a:extLst>
              <a:ext uri="{FF2B5EF4-FFF2-40B4-BE49-F238E27FC236}">
                <a16:creationId xmlns:a16="http://schemas.microsoft.com/office/drawing/2014/main" id="{144EE1CF-65B5-95FB-16A3-9AA63654BF87}"/>
              </a:ext>
            </a:extLst>
          </p:cNvPr>
          <p:cNvSpPr txBox="1"/>
          <p:nvPr/>
        </p:nvSpPr>
        <p:spPr>
          <a:xfrm>
            <a:off x="7300913" y="5548659"/>
            <a:ext cx="4610100" cy="830997"/>
          </a:xfrm>
          <a:prstGeom prst="rect">
            <a:avLst/>
          </a:prstGeom>
          <a:noFill/>
        </p:spPr>
        <p:txBody>
          <a:bodyPr wrap="square">
            <a:spAutoFit/>
          </a:bodyPr>
          <a:lstStyle/>
          <a:p>
            <a:pPr lvl="2" algn="just">
              <a:lnSpc>
                <a:spcPct val="100000"/>
              </a:lnSpc>
            </a:pPr>
            <a:r>
              <a:rPr lang="en-GB" sz="1600" b="1" i="1" dirty="0">
                <a:solidFill>
                  <a:schemeClr val="accent1"/>
                </a:solidFill>
                <a:latin typeface="Times" pitchFamily="2" charset="0"/>
              </a:rPr>
              <a:t>For example</a:t>
            </a:r>
            <a:r>
              <a:rPr lang="en-GB" sz="1600" dirty="0">
                <a:solidFill>
                  <a:schemeClr val="accent1"/>
                </a:solidFill>
                <a:latin typeface="Times" pitchFamily="2" charset="0"/>
              </a:rPr>
              <a:t>, if team members distrust their leader, it becomes </a:t>
            </a:r>
            <a:r>
              <a:rPr lang="en-GB" sz="1600" u="sng" dirty="0">
                <a:solidFill>
                  <a:schemeClr val="accent1"/>
                </a:solidFill>
                <a:latin typeface="Times" pitchFamily="2" charset="0"/>
              </a:rPr>
              <a:t>challenging for the leader to get their buy-in on decisions</a:t>
            </a:r>
            <a:r>
              <a:rPr lang="en-GB" sz="1600" dirty="0">
                <a:solidFill>
                  <a:schemeClr val="accent1"/>
                </a:solidFill>
                <a:latin typeface="Times" pitchFamily="2" charset="0"/>
              </a:rPr>
              <a:t>.</a:t>
            </a:r>
            <a:endParaRPr lang="en-LK" sz="1600" dirty="0">
              <a:solidFill>
                <a:schemeClr val="accent1"/>
              </a:solidFill>
              <a:latin typeface="Times" pitchFamily="2" charset="0"/>
            </a:endParaRPr>
          </a:p>
        </p:txBody>
      </p:sp>
      <p:pic>
        <p:nvPicPr>
          <p:cNvPr id="10" name="Picture 8" descr="Management Team Stock Vector Illustration And Royalty Free, 46% OFF">
            <a:extLst>
              <a:ext uri="{FF2B5EF4-FFF2-40B4-BE49-F238E27FC236}">
                <a16:creationId xmlns:a16="http://schemas.microsoft.com/office/drawing/2014/main" id="{94399C63-0424-266E-D8FF-45D76B4B722E}"/>
              </a:ext>
            </a:extLst>
          </p:cNvPr>
          <p:cNvPicPr>
            <a:picLocks noChangeAspect="1" noChangeArrowheads="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479969" y="237103"/>
            <a:ext cx="2935744" cy="293574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612E132-47F6-A045-7CF8-AD44A02002A2}"/>
              </a:ext>
            </a:extLst>
          </p:cNvPr>
          <p:cNvSpPr txBox="1"/>
          <p:nvPr/>
        </p:nvSpPr>
        <p:spPr>
          <a:xfrm>
            <a:off x="3615281" y="3494923"/>
            <a:ext cx="3228431" cy="400110"/>
          </a:xfrm>
          <a:prstGeom prst="rect">
            <a:avLst/>
          </a:prstGeom>
          <a:noFill/>
        </p:spPr>
        <p:txBody>
          <a:bodyPr wrap="square" rtlCol="0">
            <a:spAutoFit/>
          </a:bodyPr>
          <a:lstStyle/>
          <a:p>
            <a:r>
              <a:rPr lang="en-LK" sz="2000" b="1" dirty="0">
                <a:solidFill>
                  <a:srgbClr val="FF0000"/>
                </a:solidFill>
                <a:latin typeface="Bradley Hand" pitchFamily="2" charset="77"/>
              </a:rPr>
              <a:t>Situation is Favourable</a:t>
            </a:r>
          </a:p>
        </p:txBody>
      </p:sp>
      <p:sp>
        <p:nvSpPr>
          <p:cNvPr id="12" name="TextBox 11">
            <a:extLst>
              <a:ext uri="{FF2B5EF4-FFF2-40B4-BE49-F238E27FC236}">
                <a16:creationId xmlns:a16="http://schemas.microsoft.com/office/drawing/2014/main" id="{6638C587-9F42-A934-1943-0258FEAAC506}"/>
              </a:ext>
            </a:extLst>
          </p:cNvPr>
          <p:cNvSpPr txBox="1"/>
          <p:nvPr/>
        </p:nvSpPr>
        <p:spPr>
          <a:xfrm>
            <a:off x="3486694" y="5278259"/>
            <a:ext cx="3728494" cy="400110"/>
          </a:xfrm>
          <a:prstGeom prst="rect">
            <a:avLst/>
          </a:prstGeom>
          <a:noFill/>
        </p:spPr>
        <p:txBody>
          <a:bodyPr wrap="square" rtlCol="0">
            <a:spAutoFit/>
          </a:bodyPr>
          <a:lstStyle/>
          <a:p>
            <a:r>
              <a:rPr lang="en-LK" sz="2000" b="1" dirty="0">
                <a:solidFill>
                  <a:srgbClr val="FF0000"/>
                </a:solidFill>
                <a:latin typeface="Bradley Hand" pitchFamily="2" charset="77"/>
              </a:rPr>
              <a:t>Situation is Unfavourable</a:t>
            </a:r>
          </a:p>
        </p:txBody>
      </p:sp>
      <p:grpSp>
        <p:nvGrpSpPr>
          <p:cNvPr id="8" name="Group 7">
            <a:extLst>
              <a:ext uri="{FF2B5EF4-FFF2-40B4-BE49-F238E27FC236}">
                <a16:creationId xmlns:a16="http://schemas.microsoft.com/office/drawing/2014/main" id="{E40650BA-544D-1486-B4CF-D103BAF6611B}"/>
              </a:ext>
            </a:extLst>
          </p:cNvPr>
          <p:cNvGrpSpPr/>
          <p:nvPr/>
        </p:nvGrpSpPr>
        <p:grpSpPr>
          <a:xfrm>
            <a:off x="-76200" y="5902566"/>
            <a:ext cx="1189360" cy="897038"/>
            <a:chOff x="167438" y="5481985"/>
            <a:chExt cx="1382579" cy="1295849"/>
          </a:xfrm>
        </p:grpSpPr>
        <p:sp>
          <p:nvSpPr>
            <p:cNvPr id="13" name="TextBox 12">
              <a:extLst>
                <a:ext uri="{FF2B5EF4-FFF2-40B4-BE49-F238E27FC236}">
                  <a16:creationId xmlns:a16="http://schemas.microsoft.com/office/drawing/2014/main" id="{7B6E2B65-67FF-3386-F7C8-CB4D8EEE581B}"/>
                </a:ext>
              </a:extLst>
            </p:cNvPr>
            <p:cNvSpPr txBox="1"/>
            <p:nvPr/>
          </p:nvSpPr>
          <p:spPr>
            <a:xfrm>
              <a:off x="167438" y="5481985"/>
              <a:ext cx="1382579" cy="400149"/>
            </a:xfrm>
            <a:prstGeom prst="rect">
              <a:avLst/>
            </a:prstGeom>
            <a:noFill/>
          </p:spPr>
          <p:txBody>
            <a:bodyPr wrap="square" rtlCol="0">
              <a:spAutoFit/>
            </a:bodyPr>
            <a:lstStyle/>
            <a:p>
              <a:pPr algn="ctr"/>
              <a:r>
                <a:rPr lang="en-LK" sz="1200" dirty="0">
                  <a:solidFill>
                    <a:srgbClr val="FF0000"/>
                  </a:solidFill>
                  <a:latin typeface="Bradley Hand" pitchFamily="2" charset="77"/>
                </a:rPr>
                <a:t>Take Notes</a:t>
              </a:r>
            </a:p>
          </p:txBody>
        </p:sp>
        <p:pic>
          <p:nvPicPr>
            <p:cNvPr id="14" name="Picture 2" descr="101 Brain Teasers For Adults (with Answers) Parade:, 43% OFF">
              <a:extLst>
                <a:ext uri="{FF2B5EF4-FFF2-40B4-BE49-F238E27FC236}">
                  <a16:creationId xmlns:a16="http://schemas.microsoft.com/office/drawing/2014/main" id="{8C9B1994-9C7F-2B07-3F9F-967CEE2A0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6052" y="5781290"/>
              <a:ext cx="679324" cy="99654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750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7E579-B1ED-9CD2-0B85-FFA4216FA981}"/>
              </a:ext>
            </a:extLst>
          </p:cNvPr>
          <p:cNvSpPr>
            <a:spLocks noGrp="1"/>
          </p:cNvSpPr>
          <p:nvPr>
            <p:ph type="title"/>
          </p:nvPr>
        </p:nvSpPr>
        <p:spPr>
          <a:xfrm>
            <a:off x="838200" y="365125"/>
            <a:ext cx="10515600" cy="735013"/>
          </a:xfrm>
        </p:spPr>
        <p:txBody>
          <a:bodyPr>
            <a:normAutofit/>
          </a:bodyPr>
          <a:lstStyle/>
          <a:p>
            <a:r>
              <a:rPr lang="en-LK" sz="4000" b="1" dirty="0">
                <a:latin typeface="Times" pitchFamily="2" charset="0"/>
              </a:rPr>
              <a:t>Task-Structure</a:t>
            </a:r>
          </a:p>
        </p:txBody>
      </p:sp>
      <p:sp>
        <p:nvSpPr>
          <p:cNvPr id="3" name="Content Placeholder 2">
            <a:extLst>
              <a:ext uri="{FF2B5EF4-FFF2-40B4-BE49-F238E27FC236}">
                <a16:creationId xmlns:a16="http://schemas.microsoft.com/office/drawing/2014/main" id="{8024FAE0-3134-3E7D-C1D1-1305E5B0F522}"/>
              </a:ext>
            </a:extLst>
          </p:cNvPr>
          <p:cNvSpPr>
            <a:spLocks noGrp="1"/>
          </p:cNvSpPr>
          <p:nvPr>
            <p:ph idx="1"/>
          </p:nvPr>
        </p:nvSpPr>
        <p:spPr>
          <a:xfrm>
            <a:off x="552450" y="1468437"/>
            <a:ext cx="8662988" cy="5024438"/>
          </a:xfrm>
        </p:spPr>
        <p:txBody>
          <a:bodyPr>
            <a:normAutofit fontScale="92500" lnSpcReduction="10000"/>
          </a:bodyPr>
          <a:lstStyle/>
          <a:p>
            <a:pPr algn="just">
              <a:lnSpc>
                <a:spcPct val="110000"/>
              </a:lnSpc>
            </a:pPr>
            <a:r>
              <a:rPr lang="en-GB" sz="2000" dirty="0">
                <a:latin typeface="Times" pitchFamily="2" charset="0"/>
              </a:rPr>
              <a:t>This factor refers to the </a:t>
            </a:r>
            <a:r>
              <a:rPr lang="en-GB" sz="2000" b="1" i="1" dirty="0">
                <a:latin typeface="Times" pitchFamily="2" charset="0"/>
              </a:rPr>
              <a:t>clarity and specificity of the task </a:t>
            </a:r>
            <a:r>
              <a:rPr lang="en-GB" sz="2000" dirty="0">
                <a:latin typeface="Times" pitchFamily="2" charset="0"/>
              </a:rPr>
              <a:t>at hand, including how well-defined the task goals, processes, and procedures are.</a:t>
            </a:r>
          </a:p>
          <a:p>
            <a:pPr algn="just">
              <a:lnSpc>
                <a:spcPct val="110000"/>
              </a:lnSpc>
            </a:pPr>
            <a:endParaRPr lang="en-GB" sz="2400" dirty="0">
              <a:latin typeface="Times" pitchFamily="2" charset="0"/>
            </a:endParaRPr>
          </a:p>
          <a:p>
            <a:pPr algn="just">
              <a:lnSpc>
                <a:spcPct val="110000"/>
              </a:lnSpc>
            </a:pPr>
            <a:endParaRPr lang="en-GB" sz="2400" dirty="0">
              <a:latin typeface="Times" pitchFamily="2" charset="0"/>
            </a:endParaRPr>
          </a:p>
          <a:p>
            <a:pPr marL="457200" lvl="1" indent="0" algn="just">
              <a:lnSpc>
                <a:spcPct val="110000"/>
              </a:lnSpc>
              <a:buNone/>
            </a:pPr>
            <a:r>
              <a:rPr lang="en-GB" sz="2200" b="1" dirty="0">
                <a:latin typeface="Times" pitchFamily="2" charset="0"/>
              </a:rPr>
              <a:t>High Structure:</a:t>
            </a:r>
            <a:r>
              <a:rPr lang="en-GB" sz="2200" dirty="0">
                <a:latin typeface="Times" pitchFamily="2" charset="0"/>
              </a:rPr>
              <a:t> </a:t>
            </a:r>
          </a:p>
          <a:p>
            <a:pPr lvl="1" algn="just">
              <a:lnSpc>
                <a:spcPct val="110000"/>
              </a:lnSpc>
            </a:pPr>
            <a:r>
              <a:rPr lang="en-GB" sz="1900" dirty="0">
                <a:latin typeface="Times" pitchFamily="2" charset="0"/>
              </a:rPr>
              <a:t>Tasks that are </a:t>
            </a:r>
            <a:r>
              <a:rPr lang="en-GB" sz="1900" u="sng" dirty="0">
                <a:latin typeface="Times" pitchFamily="2" charset="0"/>
              </a:rPr>
              <a:t>clearly defined with specific procedures </a:t>
            </a:r>
            <a:r>
              <a:rPr lang="en-GB" sz="1900" dirty="0">
                <a:latin typeface="Times" pitchFamily="2" charset="0"/>
              </a:rPr>
              <a:t>and clear outcomes.</a:t>
            </a:r>
          </a:p>
          <a:p>
            <a:pPr lvl="1" algn="just">
              <a:lnSpc>
                <a:spcPct val="110000"/>
              </a:lnSpc>
            </a:pPr>
            <a:r>
              <a:rPr lang="en-GB" sz="1900" dirty="0">
                <a:latin typeface="Times" pitchFamily="2" charset="0"/>
              </a:rPr>
              <a:t>In such situations, it is </a:t>
            </a:r>
            <a:r>
              <a:rPr lang="en-GB" sz="1900" u="sng" dirty="0">
                <a:latin typeface="Times" pitchFamily="2" charset="0"/>
              </a:rPr>
              <a:t>easier for a leader to guide and control </a:t>
            </a:r>
            <a:r>
              <a:rPr lang="en-GB" sz="1900" dirty="0">
                <a:latin typeface="Times" pitchFamily="2" charset="0"/>
              </a:rPr>
              <a:t>the process.</a:t>
            </a:r>
          </a:p>
          <a:p>
            <a:pPr lvl="1" algn="just">
              <a:lnSpc>
                <a:spcPct val="110000"/>
              </a:lnSpc>
            </a:pPr>
            <a:endParaRPr lang="en-GB" dirty="0">
              <a:latin typeface="Times" pitchFamily="2" charset="0"/>
            </a:endParaRPr>
          </a:p>
          <a:p>
            <a:pPr lvl="1" algn="just">
              <a:lnSpc>
                <a:spcPct val="110000"/>
              </a:lnSpc>
            </a:pPr>
            <a:endParaRPr lang="en-GB" dirty="0">
              <a:latin typeface="Times" pitchFamily="2" charset="0"/>
            </a:endParaRPr>
          </a:p>
          <a:p>
            <a:pPr marL="457200" lvl="1" indent="0" algn="just">
              <a:lnSpc>
                <a:spcPct val="110000"/>
              </a:lnSpc>
              <a:buNone/>
            </a:pPr>
            <a:r>
              <a:rPr lang="en-GB" sz="2200" b="1" dirty="0">
                <a:latin typeface="Times" pitchFamily="2" charset="0"/>
              </a:rPr>
              <a:t>Low Structure: </a:t>
            </a:r>
          </a:p>
          <a:p>
            <a:pPr lvl="1" algn="just">
              <a:lnSpc>
                <a:spcPct val="110000"/>
              </a:lnSpc>
            </a:pPr>
            <a:r>
              <a:rPr lang="en-GB" sz="2000" dirty="0">
                <a:latin typeface="Times" pitchFamily="2" charset="0"/>
              </a:rPr>
              <a:t>Tasks that are </a:t>
            </a:r>
            <a:r>
              <a:rPr lang="en-GB" sz="2000" u="sng" dirty="0">
                <a:latin typeface="Times" pitchFamily="2" charset="0"/>
              </a:rPr>
              <a:t>ambiguous </a:t>
            </a:r>
            <a:r>
              <a:rPr lang="en-GB" sz="2000" dirty="0">
                <a:latin typeface="Times" pitchFamily="2" charset="0"/>
              </a:rPr>
              <a:t>or lack clear guidelines.</a:t>
            </a:r>
          </a:p>
          <a:p>
            <a:pPr lvl="1" algn="just">
              <a:lnSpc>
                <a:spcPct val="110000"/>
              </a:lnSpc>
            </a:pPr>
            <a:r>
              <a:rPr lang="en-GB" sz="2000" dirty="0">
                <a:latin typeface="Times" pitchFamily="2" charset="0"/>
              </a:rPr>
              <a:t>It might be </a:t>
            </a:r>
            <a:r>
              <a:rPr lang="en-GB" sz="2000" u="sng" dirty="0">
                <a:latin typeface="Times" pitchFamily="2" charset="0"/>
              </a:rPr>
              <a:t>harder for the leader</a:t>
            </a:r>
            <a:r>
              <a:rPr lang="en-GB" sz="2000" dirty="0">
                <a:latin typeface="Times" pitchFamily="2" charset="0"/>
              </a:rPr>
              <a:t> to ensure that team members understand what needs to be done and how to do it.</a:t>
            </a:r>
            <a:endParaRPr lang="en-LK" sz="2000" dirty="0">
              <a:latin typeface="Times" pitchFamily="2" charset="0"/>
            </a:endParaRPr>
          </a:p>
        </p:txBody>
      </p:sp>
      <p:sp>
        <p:nvSpPr>
          <p:cNvPr id="5" name="TextBox 4">
            <a:extLst>
              <a:ext uri="{FF2B5EF4-FFF2-40B4-BE49-F238E27FC236}">
                <a16:creationId xmlns:a16="http://schemas.microsoft.com/office/drawing/2014/main" id="{842B69BF-F818-2E16-A255-B4701651E48B}"/>
              </a:ext>
            </a:extLst>
          </p:cNvPr>
          <p:cNvSpPr txBox="1"/>
          <p:nvPr/>
        </p:nvSpPr>
        <p:spPr>
          <a:xfrm>
            <a:off x="9851229" y="3238281"/>
            <a:ext cx="2188369" cy="646331"/>
          </a:xfrm>
          <a:prstGeom prst="rect">
            <a:avLst/>
          </a:prstGeom>
          <a:noFill/>
        </p:spPr>
        <p:txBody>
          <a:bodyPr wrap="square">
            <a:spAutoFit/>
          </a:bodyPr>
          <a:lstStyle/>
          <a:p>
            <a:r>
              <a:rPr lang="en-GB" b="1" i="1" dirty="0">
                <a:solidFill>
                  <a:schemeClr val="accent1"/>
                </a:solidFill>
                <a:latin typeface="Times" pitchFamily="2" charset="0"/>
              </a:rPr>
              <a:t>For example, </a:t>
            </a:r>
            <a:r>
              <a:rPr lang="en-GB" dirty="0">
                <a:solidFill>
                  <a:schemeClr val="accent1"/>
                </a:solidFill>
                <a:latin typeface="Times" pitchFamily="2" charset="0"/>
              </a:rPr>
              <a:t>Assembly line work</a:t>
            </a:r>
            <a:endParaRPr lang="en-LK" dirty="0">
              <a:solidFill>
                <a:schemeClr val="accent1"/>
              </a:solidFill>
            </a:endParaRPr>
          </a:p>
        </p:txBody>
      </p:sp>
      <p:sp>
        <p:nvSpPr>
          <p:cNvPr id="6" name="TextBox 5">
            <a:extLst>
              <a:ext uri="{FF2B5EF4-FFF2-40B4-BE49-F238E27FC236}">
                <a16:creationId xmlns:a16="http://schemas.microsoft.com/office/drawing/2014/main" id="{E6218EAB-50EA-2B9C-39C5-25331F7B5063}"/>
              </a:ext>
            </a:extLst>
          </p:cNvPr>
          <p:cNvSpPr txBox="1"/>
          <p:nvPr/>
        </p:nvSpPr>
        <p:spPr>
          <a:xfrm>
            <a:off x="9851229" y="5423971"/>
            <a:ext cx="2188369" cy="646331"/>
          </a:xfrm>
          <a:prstGeom prst="rect">
            <a:avLst/>
          </a:prstGeom>
          <a:noFill/>
        </p:spPr>
        <p:txBody>
          <a:bodyPr wrap="square">
            <a:spAutoFit/>
          </a:bodyPr>
          <a:lstStyle/>
          <a:p>
            <a:r>
              <a:rPr lang="en-GB" b="1" i="1" dirty="0">
                <a:solidFill>
                  <a:schemeClr val="accent1"/>
                </a:solidFill>
                <a:latin typeface="Times" pitchFamily="2" charset="0"/>
              </a:rPr>
              <a:t>For example, </a:t>
            </a:r>
            <a:r>
              <a:rPr lang="en-GB" dirty="0">
                <a:solidFill>
                  <a:schemeClr val="accent1"/>
                </a:solidFill>
                <a:latin typeface="Times" pitchFamily="2" charset="0"/>
              </a:rPr>
              <a:t>Creative projects</a:t>
            </a:r>
            <a:endParaRPr lang="en-LK" dirty="0">
              <a:solidFill>
                <a:schemeClr val="accent1"/>
              </a:solidFill>
            </a:endParaRPr>
          </a:p>
        </p:txBody>
      </p:sp>
      <p:pic>
        <p:nvPicPr>
          <p:cNvPr id="7" name="Picture 2" descr="Clipboard Cogwheel Structure Shows Task Analysis Stock Vector (Royalty  Free) 783617923 | Shutterstock">
            <a:extLst>
              <a:ext uri="{FF2B5EF4-FFF2-40B4-BE49-F238E27FC236}">
                <a16:creationId xmlns:a16="http://schemas.microsoft.com/office/drawing/2014/main" id="{FC9DDD40-F13F-563E-32E2-BB2E6E7D6AB4}"/>
              </a:ext>
            </a:extLst>
          </p:cNvPr>
          <p:cNvPicPr>
            <a:picLocks noChangeAspect="1" noChangeArrowheads="1"/>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b="8616"/>
          <a:stretch/>
        </p:blipFill>
        <p:spPr bwMode="auto">
          <a:xfrm>
            <a:off x="9808705" y="0"/>
            <a:ext cx="2383295" cy="246893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B9614D7-4499-7FBE-B503-3E703CB8ADB6}"/>
              </a:ext>
            </a:extLst>
          </p:cNvPr>
          <p:cNvSpPr txBox="1"/>
          <p:nvPr/>
        </p:nvSpPr>
        <p:spPr>
          <a:xfrm>
            <a:off x="3843881" y="2883638"/>
            <a:ext cx="3228431" cy="400110"/>
          </a:xfrm>
          <a:prstGeom prst="rect">
            <a:avLst/>
          </a:prstGeom>
          <a:noFill/>
        </p:spPr>
        <p:txBody>
          <a:bodyPr wrap="square" rtlCol="0">
            <a:spAutoFit/>
          </a:bodyPr>
          <a:lstStyle/>
          <a:p>
            <a:r>
              <a:rPr lang="en-LK" sz="2000" b="1" dirty="0">
                <a:solidFill>
                  <a:srgbClr val="FF0000"/>
                </a:solidFill>
                <a:latin typeface="Bradley Hand" pitchFamily="2" charset="77"/>
              </a:rPr>
              <a:t>Situation is Favourable</a:t>
            </a:r>
          </a:p>
        </p:txBody>
      </p:sp>
      <p:sp>
        <p:nvSpPr>
          <p:cNvPr id="9" name="TextBox 8">
            <a:extLst>
              <a:ext uri="{FF2B5EF4-FFF2-40B4-BE49-F238E27FC236}">
                <a16:creationId xmlns:a16="http://schemas.microsoft.com/office/drawing/2014/main" id="{C2D5C69B-0882-318A-B6CB-ECB0BB03004A}"/>
              </a:ext>
            </a:extLst>
          </p:cNvPr>
          <p:cNvSpPr txBox="1"/>
          <p:nvPr/>
        </p:nvSpPr>
        <p:spPr>
          <a:xfrm>
            <a:off x="3701005" y="4881016"/>
            <a:ext cx="3728494" cy="400110"/>
          </a:xfrm>
          <a:prstGeom prst="rect">
            <a:avLst/>
          </a:prstGeom>
          <a:noFill/>
        </p:spPr>
        <p:txBody>
          <a:bodyPr wrap="square" rtlCol="0">
            <a:spAutoFit/>
          </a:bodyPr>
          <a:lstStyle/>
          <a:p>
            <a:r>
              <a:rPr lang="en-LK" sz="2000" b="1" dirty="0">
                <a:solidFill>
                  <a:srgbClr val="FF0000"/>
                </a:solidFill>
                <a:latin typeface="Bradley Hand" pitchFamily="2" charset="77"/>
              </a:rPr>
              <a:t>Situation is Unfavourable</a:t>
            </a:r>
          </a:p>
        </p:txBody>
      </p:sp>
      <p:grpSp>
        <p:nvGrpSpPr>
          <p:cNvPr id="4" name="Group 3">
            <a:extLst>
              <a:ext uri="{FF2B5EF4-FFF2-40B4-BE49-F238E27FC236}">
                <a16:creationId xmlns:a16="http://schemas.microsoft.com/office/drawing/2014/main" id="{9849E67E-9560-4445-5585-B0DEC85273DA}"/>
              </a:ext>
            </a:extLst>
          </p:cNvPr>
          <p:cNvGrpSpPr/>
          <p:nvPr/>
        </p:nvGrpSpPr>
        <p:grpSpPr>
          <a:xfrm>
            <a:off x="-76200" y="5902566"/>
            <a:ext cx="1189360" cy="897038"/>
            <a:chOff x="167438" y="5481985"/>
            <a:chExt cx="1382579" cy="1295849"/>
          </a:xfrm>
        </p:grpSpPr>
        <p:sp>
          <p:nvSpPr>
            <p:cNvPr id="10" name="TextBox 9">
              <a:extLst>
                <a:ext uri="{FF2B5EF4-FFF2-40B4-BE49-F238E27FC236}">
                  <a16:creationId xmlns:a16="http://schemas.microsoft.com/office/drawing/2014/main" id="{CBC2BA26-B47E-DD85-48C5-C063B7583875}"/>
                </a:ext>
              </a:extLst>
            </p:cNvPr>
            <p:cNvSpPr txBox="1"/>
            <p:nvPr/>
          </p:nvSpPr>
          <p:spPr>
            <a:xfrm>
              <a:off x="167438" y="5481985"/>
              <a:ext cx="1382579" cy="400149"/>
            </a:xfrm>
            <a:prstGeom prst="rect">
              <a:avLst/>
            </a:prstGeom>
            <a:noFill/>
          </p:spPr>
          <p:txBody>
            <a:bodyPr wrap="square" rtlCol="0">
              <a:spAutoFit/>
            </a:bodyPr>
            <a:lstStyle/>
            <a:p>
              <a:pPr algn="ctr"/>
              <a:r>
                <a:rPr lang="en-LK" sz="1200" dirty="0">
                  <a:solidFill>
                    <a:srgbClr val="FF0000"/>
                  </a:solidFill>
                  <a:latin typeface="Bradley Hand" pitchFamily="2" charset="77"/>
                </a:rPr>
                <a:t>Take Notes</a:t>
              </a:r>
            </a:p>
          </p:txBody>
        </p:sp>
        <p:pic>
          <p:nvPicPr>
            <p:cNvPr id="11" name="Picture 2" descr="101 Brain Teasers For Adults (with Answers) Parade:, 43% OFF">
              <a:extLst>
                <a:ext uri="{FF2B5EF4-FFF2-40B4-BE49-F238E27FC236}">
                  <a16:creationId xmlns:a16="http://schemas.microsoft.com/office/drawing/2014/main" id="{62B765B4-ABAF-CA1E-1BCE-D3BB3C0E4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6052" y="5781290"/>
              <a:ext cx="679324" cy="99654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68216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2" descr="Business Hierarchy Icon Structure Leadership Team Vector, Structure,  Leadership, Team PNG and Vector with Transparent Background for Free  Download">
            <a:extLst>
              <a:ext uri="{FF2B5EF4-FFF2-40B4-BE49-F238E27FC236}">
                <a16:creationId xmlns:a16="http://schemas.microsoft.com/office/drawing/2014/main" id="{D054ECAC-6B2B-5478-F63F-FC4224037EA2}"/>
              </a:ext>
            </a:extLst>
          </p:cNvPr>
          <p:cNvPicPr>
            <a:picLocks noChangeAspect="1" noChangeArrowheads="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94961" y="-347813"/>
            <a:ext cx="3286574" cy="328657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CA93DF2-D24F-EB39-13F7-2C856DB791BC}"/>
              </a:ext>
            </a:extLst>
          </p:cNvPr>
          <p:cNvSpPr>
            <a:spLocks noGrp="1"/>
          </p:cNvSpPr>
          <p:nvPr>
            <p:ph type="title"/>
          </p:nvPr>
        </p:nvSpPr>
        <p:spPr>
          <a:xfrm>
            <a:off x="838200" y="365125"/>
            <a:ext cx="10515600" cy="663575"/>
          </a:xfrm>
        </p:spPr>
        <p:txBody>
          <a:bodyPr>
            <a:normAutofit/>
          </a:bodyPr>
          <a:lstStyle/>
          <a:p>
            <a:r>
              <a:rPr lang="en-LK" sz="4000" b="1" dirty="0">
                <a:latin typeface="Times" pitchFamily="2" charset="0"/>
              </a:rPr>
              <a:t>Positional Power</a:t>
            </a:r>
          </a:p>
        </p:txBody>
      </p:sp>
      <p:sp>
        <p:nvSpPr>
          <p:cNvPr id="3" name="Content Placeholder 2">
            <a:extLst>
              <a:ext uri="{FF2B5EF4-FFF2-40B4-BE49-F238E27FC236}">
                <a16:creationId xmlns:a16="http://schemas.microsoft.com/office/drawing/2014/main" id="{C541761C-9E56-FAAC-44E3-E39346E5E0F2}"/>
              </a:ext>
            </a:extLst>
          </p:cNvPr>
          <p:cNvSpPr>
            <a:spLocks noGrp="1"/>
          </p:cNvSpPr>
          <p:nvPr>
            <p:ph idx="1"/>
          </p:nvPr>
        </p:nvSpPr>
        <p:spPr>
          <a:xfrm>
            <a:off x="623887" y="1271588"/>
            <a:ext cx="8177213" cy="5086350"/>
          </a:xfrm>
        </p:spPr>
        <p:txBody>
          <a:bodyPr>
            <a:normAutofit fontScale="70000" lnSpcReduction="20000"/>
          </a:bodyPr>
          <a:lstStyle/>
          <a:p>
            <a:pPr algn="just">
              <a:lnSpc>
                <a:spcPct val="120000"/>
              </a:lnSpc>
            </a:pPr>
            <a:r>
              <a:rPr lang="en-GB" dirty="0">
                <a:latin typeface="Times" pitchFamily="2" charset="0"/>
              </a:rPr>
              <a:t>This factor refers to the authority and power the leader has by virtue of their position within the organization, including their ability to reward or punish.</a:t>
            </a:r>
          </a:p>
          <a:p>
            <a:pPr algn="just">
              <a:lnSpc>
                <a:spcPct val="120000"/>
              </a:lnSpc>
            </a:pPr>
            <a:endParaRPr lang="en-GB" dirty="0">
              <a:latin typeface="Times" pitchFamily="2" charset="0"/>
            </a:endParaRPr>
          </a:p>
          <a:p>
            <a:pPr algn="just">
              <a:lnSpc>
                <a:spcPct val="120000"/>
              </a:lnSpc>
            </a:pPr>
            <a:endParaRPr lang="en-GB" dirty="0">
              <a:latin typeface="Times" pitchFamily="2" charset="0"/>
            </a:endParaRPr>
          </a:p>
          <a:p>
            <a:pPr marL="457200" lvl="1" indent="0" algn="just">
              <a:lnSpc>
                <a:spcPct val="120000"/>
              </a:lnSpc>
              <a:buNone/>
            </a:pPr>
            <a:r>
              <a:rPr lang="en-GB" sz="2900" b="1" dirty="0">
                <a:latin typeface="Times" pitchFamily="2" charset="0"/>
              </a:rPr>
              <a:t>Strong Position Power</a:t>
            </a:r>
            <a:endParaRPr lang="en-GB" sz="2900" dirty="0">
              <a:latin typeface="Times" pitchFamily="2" charset="0"/>
            </a:endParaRPr>
          </a:p>
          <a:p>
            <a:pPr lvl="1" algn="just">
              <a:lnSpc>
                <a:spcPct val="120000"/>
              </a:lnSpc>
            </a:pPr>
            <a:r>
              <a:rPr lang="en-GB" sz="2600" dirty="0">
                <a:latin typeface="Times" pitchFamily="2" charset="0"/>
              </a:rPr>
              <a:t>When a </a:t>
            </a:r>
            <a:r>
              <a:rPr lang="en-GB" sz="2600" u="sng" dirty="0">
                <a:latin typeface="Times" pitchFamily="2" charset="0"/>
              </a:rPr>
              <a:t>leader has significant authority </a:t>
            </a:r>
            <a:r>
              <a:rPr lang="en-GB" sz="2600" dirty="0">
                <a:latin typeface="Times" pitchFamily="2" charset="0"/>
              </a:rPr>
              <a:t>to make decisions, allocate resources, and enforce rules.</a:t>
            </a:r>
          </a:p>
          <a:p>
            <a:pPr lvl="1" algn="just">
              <a:lnSpc>
                <a:spcPct val="120000"/>
              </a:lnSpc>
            </a:pPr>
            <a:r>
              <a:rPr lang="en-GB" sz="2600" dirty="0">
                <a:latin typeface="Times" pitchFamily="2" charset="0"/>
              </a:rPr>
              <a:t>This </a:t>
            </a:r>
            <a:r>
              <a:rPr lang="en-GB" sz="2600" u="sng" dirty="0">
                <a:latin typeface="Times" pitchFamily="2" charset="0"/>
              </a:rPr>
              <a:t>enhances the leader's ability to influence </a:t>
            </a:r>
            <a:r>
              <a:rPr lang="en-GB" sz="2600" dirty="0">
                <a:latin typeface="Times" pitchFamily="2" charset="0"/>
              </a:rPr>
              <a:t>followers.</a:t>
            </a:r>
          </a:p>
          <a:p>
            <a:pPr marL="457200" lvl="1" indent="0" algn="just">
              <a:lnSpc>
                <a:spcPct val="120000"/>
              </a:lnSpc>
              <a:buNone/>
            </a:pPr>
            <a:endParaRPr lang="en-GB" sz="2700" dirty="0">
              <a:latin typeface="Times" pitchFamily="2" charset="0"/>
            </a:endParaRPr>
          </a:p>
          <a:p>
            <a:pPr marL="457200" lvl="1" indent="0" algn="just">
              <a:lnSpc>
                <a:spcPct val="120000"/>
              </a:lnSpc>
              <a:buNone/>
            </a:pPr>
            <a:endParaRPr lang="en-GB" sz="2700" dirty="0">
              <a:latin typeface="Times" pitchFamily="2" charset="0"/>
            </a:endParaRPr>
          </a:p>
          <a:p>
            <a:pPr lvl="1" algn="just">
              <a:lnSpc>
                <a:spcPct val="120000"/>
              </a:lnSpc>
            </a:pPr>
            <a:endParaRPr lang="en-GB" dirty="0">
              <a:latin typeface="Times" pitchFamily="2" charset="0"/>
            </a:endParaRPr>
          </a:p>
          <a:p>
            <a:pPr marL="457200" lvl="1" indent="0" algn="just">
              <a:lnSpc>
                <a:spcPct val="120000"/>
              </a:lnSpc>
              <a:buNone/>
            </a:pPr>
            <a:r>
              <a:rPr lang="en-GB" sz="2900" b="1" dirty="0">
                <a:latin typeface="Times" pitchFamily="2" charset="0"/>
              </a:rPr>
              <a:t>Weak Position Power</a:t>
            </a:r>
          </a:p>
          <a:p>
            <a:pPr lvl="1" algn="just">
              <a:lnSpc>
                <a:spcPct val="120000"/>
              </a:lnSpc>
            </a:pPr>
            <a:r>
              <a:rPr lang="en-GB" sz="2600" dirty="0">
                <a:latin typeface="Times" pitchFamily="2" charset="0"/>
              </a:rPr>
              <a:t>When a </a:t>
            </a:r>
            <a:r>
              <a:rPr lang="en-GB" sz="2600" u="sng" dirty="0">
                <a:latin typeface="Times" pitchFamily="2" charset="0"/>
              </a:rPr>
              <a:t>leader has limited authority </a:t>
            </a:r>
            <a:r>
              <a:rPr lang="en-GB" sz="2600" dirty="0">
                <a:latin typeface="Times" pitchFamily="2" charset="0"/>
              </a:rPr>
              <a:t>and cannot easily reward or punish.</a:t>
            </a:r>
          </a:p>
          <a:p>
            <a:pPr lvl="1" algn="just">
              <a:lnSpc>
                <a:spcPct val="120000"/>
              </a:lnSpc>
            </a:pPr>
            <a:r>
              <a:rPr lang="en-GB" sz="2600" dirty="0">
                <a:latin typeface="Times" pitchFamily="2" charset="0"/>
              </a:rPr>
              <a:t>This </a:t>
            </a:r>
            <a:r>
              <a:rPr lang="en-GB" sz="2600" u="sng" dirty="0">
                <a:latin typeface="Times" pitchFamily="2" charset="0"/>
              </a:rPr>
              <a:t>limits the leader's ability to enforce </a:t>
            </a:r>
            <a:r>
              <a:rPr lang="en-GB" sz="2600" dirty="0">
                <a:latin typeface="Times" pitchFamily="2" charset="0"/>
              </a:rPr>
              <a:t>directives.</a:t>
            </a:r>
            <a:endParaRPr lang="en-LK" sz="2600" dirty="0">
              <a:latin typeface="Times" pitchFamily="2" charset="0"/>
            </a:endParaRPr>
          </a:p>
        </p:txBody>
      </p:sp>
      <p:sp>
        <p:nvSpPr>
          <p:cNvPr id="5" name="TextBox 4">
            <a:extLst>
              <a:ext uri="{FF2B5EF4-FFF2-40B4-BE49-F238E27FC236}">
                <a16:creationId xmlns:a16="http://schemas.microsoft.com/office/drawing/2014/main" id="{70F53134-C48E-A40A-0FBD-017DBAFD3CAE}"/>
              </a:ext>
            </a:extLst>
          </p:cNvPr>
          <p:cNvSpPr txBox="1"/>
          <p:nvPr/>
        </p:nvSpPr>
        <p:spPr>
          <a:xfrm>
            <a:off x="9458326" y="3167361"/>
            <a:ext cx="2559844" cy="923330"/>
          </a:xfrm>
          <a:prstGeom prst="rect">
            <a:avLst/>
          </a:prstGeom>
          <a:noFill/>
        </p:spPr>
        <p:txBody>
          <a:bodyPr wrap="square">
            <a:spAutoFit/>
          </a:bodyPr>
          <a:lstStyle/>
          <a:p>
            <a:r>
              <a:rPr lang="en-GB" sz="1800" b="1" i="1" dirty="0">
                <a:solidFill>
                  <a:schemeClr val="accent1"/>
                </a:solidFill>
                <a:latin typeface="Times" pitchFamily="2" charset="0"/>
              </a:rPr>
              <a:t>For example</a:t>
            </a:r>
            <a:r>
              <a:rPr lang="en-GB" sz="1800" dirty="0">
                <a:solidFill>
                  <a:schemeClr val="accent1"/>
                </a:solidFill>
                <a:latin typeface="Times" pitchFamily="2" charset="0"/>
              </a:rPr>
              <a:t>, A CEO or manager with hiring/firing power</a:t>
            </a:r>
            <a:endParaRPr lang="en-LK" dirty="0">
              <a:solidFill>
                <a:schemeClr val="accent1"/>
              </a:solidFill>
            </a:endParaRPr>
          </a:p>
        </p:txBody>
      </p:sp>
      <p:sp>
        <p:nvSpPr>
          <p:cNvPr id="6" name="TextBox 5">
            <a:extLst>
              <a:ext uri="{FF2B5EF4-FFF2-40B4-BE49-F238E27FC236}">
                <a16:creationId xmlns:a16="http://schemas.microsoft.com/office/drawing/2014/main" id="{A311EF95-E490-2EBD-FD52-C2A721EF8293}"/>
              </a:ext>
            </a:extLst>
          </p:cNvPr>
          <p:cNvSpPr txBox="1"/>
          <p:nvPr/>
        </p:nvSpPr>
        <p:spPr>
          <a:xfrm>
            <a:off x="9586914" y="5292546"/>
            <a:ext cx="2431256" cy="923330"/>
          </a:xfrm>
          <a:prstGeom prst="rect">
            <a:avLst/>
          </a:prstGeom>
          <a:noFill/>
        </p:spPr>
        <p:txBody>
          <a:bodyPr wrap="square">
            <a:spAutoFit/>
          </a:bodyPr>
          <a:lstStyle/>
          <a:p>
            <a:r>
              <a:rPr lang="en-GB" sz="1800" b="1" i="1" dirty="0">
                <a:solidFill>
                  <a:schemeClr val="accent1"/>
                </a:solidFill>
                <a:latin typeface="Times" pitchFamily="2" charset="0"/>
              </a:rPr>
              <a:t>For example</a:t>
            </a:r>
            <a:r>
              <a:rPr lang="en-GB" sz="1800" dirty="0">
                <a:solidFill>
                  <a:schemeClr val="accent1"/>
                </a:solidFill>
                <a:latin typeface="Times" pitchFamily="2" charset="0"/>
              </a:rPr>
              <a:t>, A project leader without formal authority</a:t>
            </a:r>
            <a:endParaRPr lang="en-LK" dirty="0">
              <a:solidFill>
                <a:schemeClr val="accent1"/>
              </a:solidFill>
            </a:endParaRPr>
          </a:p>
        </p:txBody>
      </p:sp>
      <p:sp>
        <p:nvSpPr>
          <p:cNvPr id="8" name="TextBox 7">
            <a:extLst>
              <a:ext uri="{FF2B5EF4-FFF2-40B4-BE49-F238E27FC236}">
                <a16:creationId xmlns:a16="http://schemas.microsoft.com/office/drawing/2014/main" id="{BD70DD13-80DA-7338-31BC-01CE977C16BB}"/>
              </a:ext>
            </a:extLst>
          </p:cNvPr>
          <p:cNvSpPr txBox="1"/>
          <p:nvPr/>
        </p:nvSpPr>
        <p:spPr>
          <a:xfrm>
            <a:off x="4287067" y="2738706"/>
            <a:ext cx="3228431" cy="400110"/>
          </a:xfrm>
          <a:prstGeom prst="rect">
            <a:avLst/>
          </a:prstGeom>
          <a:noFill/>
        </p:spPr>
        <p:txBody>
          <a:bodyPr wrap="square" rtlCol="0">
            <a:spAutoFit/>
          </a:bodyPr>
          <a:lstStyle/>
          <a:p>
            <a:r>
              <a:rPr lang="en-LK" sz="2000" b="1" dirty="0">
                <a:solidFill>
                  <a:srgbClr val="FF0000"/>
                </a:solidFill>
                <a:latin typeface="Bradley Hand" pitchFamily="2" charset="77"/>
              </a:rPr>
              <a:t>Situation is Favourable</a:t>
            </a:r>
          </a:p>
        </p:txBody>
      </p:sp>
      <p:sp>
        <p:nvSpPr>
          <p:cNvPr id="9" name="TextBox 8">
            <a:extLst>
              <a:ext uri="{FF2B5EF4-FFF2-40B4-BE49-F238E27FC236}">
                <a16:creationId xmlns:a16="http://schemas.microsoft.com/office/drawing/2014/main" id="{409DF3DD-686B-B5BB-EFE0-A1E4DB27E1F6}"/>
              </a:ext>
            </a:extLst>
          </p:cNvPr>
          <p:cNvSpPr txBox="1"/>
          <p:nvPr/>
        </p:nvSpPr>
        <p:spPr>
          <a:xfrm>
            <a:off x="4231753" y="5092491"/>
            <a:ext cx="3728494" cy="400110"/>
          </a:xfrm>
          <a:prstGeom prst="rect">
            <a:avLst/>
          </a:prstGeom>
          <a:noFill/>
        </p:spPr>
        <p:txBody>
          <a:bodyPr wrap="square" rtlCol="0">
            <a:spAutoFit/>
          </a:bodyPr>
          <a:lstStyle/>
          <a:p>
            <a:r>
              <a:rPr lang="en-LK" sz="2000" b="1" dirty="0">
                <a:solidFill>
                  <a:srgbClr val="FF0000"/>
                </a:solidFill>
                <a:latin typeface="Bradley Hand" pitchFamily="2" charset="77"/>
              </a:rPr>
              <a:t>Situation is Unfavourable</a:t>
            </a:r>
          </a:p>
        </p:txBody>
      </p:sp>
      <p:grpSp>
        <p:nvGrpSpPr>
          <p:cNvPr id="4" name="Group 3">
            <a:extLst>
              <a:ext uri="{FF2B5EF4-FFF2-40B4-BE49-F238E27FC236}">
                <a16:creationId xmlns:a16="http://schemas.microsoft.com/office/drawing/2014/main" id="{DA2A1B9E-42F8-0D6C-37AC-F5001CCEA725}"/>
              </a:ext>
            </a:extLst>
          </p:cNvPr>
          <p:cNvGrpSpPr/>
          <p:nvPr/>
        </p:nvGrpSpPr>
        <p:grpSpPr>
          <a:xfrm>
            <a:off x="8640107" y="69733"/>
            <a:ext cx="1382579" cy="1059940"/>
            <a:chOff x="167438" y="5481985"/>
            <a:chExt cx="1382579" cy="1295849"/>
          </a:xfrm>
        </p:grpSpPr>
        <p:sp>
          <p:nvSpPr>
            <p:cNvPr id="10" name="TextBox 9">
              <a:extLst>
                <a:ext uri="{FF2B5EF4-FFF2-40B4-BE49-F238E27FC236}">
                  <a16:creationId xmlns:a16="http://schemas.microsoft.com/office/drawing/2014/main" id="{7E647B12-E897-4234-8D6F-6DAFF5FA9491}"/>
                </a:ext>
              </a:extLst>
            </p:cNvPr>
            <p:cNvSpPr txBox="1"/>
            <p:nvPr/>
          </p:nvSpPr>
          <p:spPr>
            <a:xfrm>
              <a:off x="167438" y="5481985"/>
              <a:ext cx="1382579" cy="369332"/>
            </a:xfrm>
            <a:prstGeom prst="rect">
              <a:avLst/>
            </a:prstGeom>
            <a:noFill/>
          </p:spPr>
          <p:txBody>
            <a:bodyPr wrap="square" rtlCol="0">
              <a:spAutoFit/>
            </a:bodyPr>
            <a:lstStyle/>
            <a:p>
              <a:pPr algn="ctr"/>
              <a:r>
                <a:rPr lang="en-LK" dirty="0">
                  <a:solidFill>
                    <a:srgbClr val="FF0000"/>
                  </a:solidFill>
                  <a:latin typeface="Bradley Hand" pitchFamily="2" charset="77"/>
                </a:rPr>
                <a:t>Take Notes</a:t>
              </a:r>
            </a:p>
          </p:txBody>
        </p:sp>
        <p:pic>
          <p:nvPicPr>
            <p:cNvPr id="11" name="Picture 2" descr="101 Brain Teasers For Adults (with Answers) Parade:, 43% OFF">
              <a:extLst>
                <a:ext uri="{FF2B5EF4-FFF2-40B4-BE49-F238E27FC236}">
                  <a16:creationId xmlns:a16="http://schemas.microsoft.com/office/drawing/2014/main" id="{123F1EAE-587C-6676-0E16-199AF45C91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6052" y="5781290"/>
              <a:ext cx="679324" cy="99654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667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descr="Free Ability Vector Art - Download 9+ Ability Icons &amp; Graphics - Pixabay">
            <a:extLst>
              <a:ext uri="{FF2B5EF4-FFF2-40B4-BE49-F238E27FC236}">
                <a16:creationId xmlns:a16="http://schemas.microsoft.com/office/drawing/2014/main" id="{D0D6A245-954E-10FE-EF7D-B5934133C7B9}"/>
              </a:ext>
            </a:extLst>
          </p:cNvPr>
          <p:cNvPicPr>
            <a:picLocks noChangeAspect="1" noChangeArrowheads="1"/>
          </p:cNvPicPr>
          <p:nvPr/>
        </p:nvPicPr>
        <p:blipFill rotWithShape="1">
          <a:blip r:embed="rId2">
            <a:duotone>
              <a:schemeClr val="accent6">
                <a:shade val="45000"/>
                <a:satMod val="135000"/>
              </a:schemeClr>
              <a:prstClr val="white"/>
            </a:duotone>
            <a:extLst>
              <a:ext uri="{28A0092B-C50C-407E-A947-70E740481C1C}">
                <a14:useLocalDpi xmlns:a14="http://schemas.microsoft.com/office/drawing/2010/main" val="0"/>
              </a:ext>
            </a:extLst>
          </a:blip>
          <a:srcRect t="10284" b="11614"/>
          <a:stretch/>
        </p:blipFill>
        <p:spPr bwMode="auto">
          <a:xfrm>
            <a:off x="5589587" y="4287847"/>
            <a:ext cx="2414588" cy="245532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F3B59FC-F78E-4C01-EFB8-FFF3F7380483}"/>
              </a:ext>
            </a:extLst>
          </p:cNvPr>
          <p:cNvSpPr>
            <a:spLocks noGrp="1"/>
          </p:cNvSpPr>
          <p:nvPr>
            <p:ph type="title"/>
          </p:nvPr>
        </p:nvSpPr>
        <p:spPr>
          <a:xfrm>
            <a:off x="558800" y="365125"/>
            <a:ext cx="11074400" cy="841375"/>
          </a:xfrm>
        </p:spPr>
        <p:txBody>
          <a:bodyPr>
            <a:normAutofit/>
          </a:bodyPr>
          <a:lstStyle/>
          <a:p>
            <a:r>
              <a:rPr lang="en-GB" sz="4000" b="1" dirty="0">
                <a:latin typeface="Times" pitchFamily="2" charset="0"/>
              </a:rPr>
              <a:t>Hersey-Blanchard Situational Leadership Theory</a:t>
            </a:r>
            <a:endParaRPr lang="en-LK" sz="4000" b="1" dirty="0">
              <a:latin typeface="Times" pitchFamily="2" charset="0"/>
            </a:endParaRPr>
          </a:p>
        </p:txBody>
      </p:sp>
      <p:sp>
        <p:nvSpPr>
          <p:cNvPr id="3" name="Content Placeholder 2">
            <a:extLst>
              <a:ext uri="{FF2B5EF4-FFF2-40B4-BE49-F238E27FC236}">
                <a16:creationId xmlns:a16="http://schemas.microsoft.com/office/drawing/2014/main" id="{82D86C8E-4B7C-2622-34D2-CFDBD48E9C85}"/>
              </a:ext>
            </a:extLst>
          </p:cNvPr>
          <p:cNvSpPr>
            <a:spLocks noGrp="1"/>
          </p:cNvSpPr>
          <p:nvPr>
            <p:ph idx="1"/>
          </p:nvPr>
        </p:nvSpPr>
        <p:spPr>
          <a:xfrm>
            <a:off x="558800" y="1798637"/>
            <a:ext cx="6934200" cy="4351338"/>
          </a:xfrm>
        </p:spPr>
        <p:txBody>
          <a:bodyPr>
            <a:normAutofit/>
          </a:bodyPr>
          <a:lstStyle/>
          <a:p>
            <a:pPr algn="just">
              <a:lnSpc>
                <a:spcPct val="100000"/>
              </a:lnSpc>
            </a:pPr>
            <a:r>
              <a:rPr lang="en-GB" sz="2000" dirty="0">
                <a:latin typeface="Times" pitchFamily="2" charset="0"/>
              </a:rPr>
              <a:t>The context referred to in this theory is simply the </a:t>
            </a:r>
            <a:r>
              <a:rPr lang="en-GB" sz="2000" b="1" i="1" dirty="0">
                <a:latin typeface="Times" pitchFamily="2" charset="0"/>
              </a:rPr>
              <a:t>differences in the nature of followers</a:t>
            </a:r>
            <a:r>
              <a:rPr lang="en-GB" sz="2000" dirty="0">
                <a:latin typeface="Times" pitchFamily="2" charset="0"/>
              </a:rPr>
              <a:t>, that the leaders will have to deal with.</a:t>
            </a:r>
          </a:p>
          <a:p>
            <a:pPr algn="just">
              <a:lnSpc>
                <a:spcPct val="100000"/>
              </a:lnSpc>
            </a:pPr>
            <a:endParaRPr lang="en-GB" sz="2000" dirty="0">
              <a:latin typeface="Times" pitchFamily="2" charset="0"/>
            </a:endParaRPr>
          </a:p>
          <a:p>
            <a:pPr algn="just">
              <a:lnSpc>
                <a:spcPct val="100000"/>
              </a:lnSpc>
            </a:pPr>
            <a:endParaRPr lang="en-GB" sz="2000" dirty="0">
              <a:latin typeface="Times" pitchFamily="2" charset="0"/>
            </a:endParaRPr>
          </a:p>
          <a:p>
            <a:r>
              <a:rPr lang="en-GB" sz="2000" dirty="0">
                <a:latin typeface="Times" pitchFamily="2" charset="0"/>
              </a:rPr>
              <a:t>Effective leadership depends on the nature of followers based on;</a:t>
            </a:r>
          </a:p>
          <a:p>
            <a:pPr lvl="1"/>
            <a:r>
              <a:rPr lang="en-GB" sz="2000" dirty="0">
                <a:latin typeface="Times" pitchFamily="2" charset="0"/>
              </a:rPr>
              <a:t>Their Competence (</a:t>
            </a:r>
            <a:r>
              <a:rPr lang="en-GB" sz="2000" b="1" i="1" dirty="0">
                <a:latin typeface="Times" pitchFamily="2" charset="0"/>
              </a:rPr>
              <a:t>Able or Unable</a:t>
            </a:r>
            <a:r>
              <a:rPr lang="en-GB" sz="2000" dirty="0">
                <a:latin typeface="Times" pitchFamily="2" charset="0"/>
              </a:rPr>
              <a:t>)</a:t>
            </a:r>
          </a:p>
          <a:p>
            <a:pPr lvl="1"/>
            <a:r>
              <a:rPr lang="en-GB" sz="2000" dirty="0">
                <a:latin typeface="Times" pitchFamily="2" charset="0"/>
              </a:rPr>
              <a:t>Their Commitment (</a:t>
            </a:r>
            <a:r>
              <a:rPr lang="en-GB" sz="2000" b="1" i="1" dirty="0">
                <a:latin typeface="Times" pitchFamily="2" charset="0"/>
              </a:rPr>
              <a:t>Willing or Unwilling</a:t>
            </a:r>
            <a:r>
              <a:rPr lang="en-GB" sz="2000" dirty="0">
                <a:latin typeface="Times" pitchFamily="2" charset="0"/>
              </a:rPr>
              <a:t>).</a:t>
            </a:r>
          </a:p>
          <a:p>
            <a:pPr algn="just">
              <a:lnSpc>
                <a:spcPct val="100000"/>
              </a:lnSpc>
            </a:pPr>
            <a:endParaRPr lang="en-GB" sz="2000" dirty="0">
              <a:latin typeface="Times" pitchFamily="2" charset="0"/>
            </a:endParaRPr>
          </a:p>
        </p:txBody>
      </p:sp>
      <p:pic>
        <p:nvPicPr>
          <p:cNvPr id="24578" name="Picture 2" descr="Willingness to participate thin line stroke Vector Image">
            <a:extLst>
              <a:ext uri="{FF2B5EF4-FFF2-40B4-BE49-F238E27FC236}">
                <a16:creationId xmlns:a16="http://schemas.microsoft.com/office/drawing/2014/main" id="{B73623BA-6692-7F89-D08D-908377B33D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225" t="14166" r="16174" b="20417"/>
          <a:stretch/>
        </p:blipFill>
        <p:spPr bwMode="auto">
          <a:xfrm>
            <a:off x="8115300" y="4188362"/>
            <a:ext cx="2314575" cy="2455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74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checkerboard(across)">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checkerboard(across)">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Rectangle 3">
            <a:extLst>
              <a:ext uri="{FF2B5EF4-FFF2-40B4-BE49-F238E27FC236}">
                <a16:creationId xmlns:a16="http://schemas.microsoft.com/office/drawing/2014/main" id="{91799124-AFEB-ED38-4590-42B6CDA8E4AE}"/>
              </a:ext>
            </a:extLst>
          </p:cNvPr>
          <p:cNvGraphicFramePr/>
          <p:nvPr>
            <p:extLst>
              <p:ext uri="{D42A27DB-BD31-4B8C-83A1-F6EECF244321}">
                <p14:modId xmlns:p14="http://schemas.microsoft.com/office/powerpoint/2010/main" val="831354218"/>
              </p:ext>
            </p:extLst>
          </p:nvPr>
        </p:nvGraphicFramePr>
        <p:xfrm>
          <a:off x="2324101" y="216732"/>
          <a:ext cx="9347200" cy="63872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1091">
            <a:extLst>
              <a:ext uri="{FF2B5EF4-FFF2-40B4-BE49-F238E27FC236}">
                <a16:creationId xmlns:a16="http://schemas.microsoft.com/office/drawing/2014/main" id="{CEBD17ED-DBF5-0DBC-1B99-F3E97DF99552}"/>
              </a:ext>
            </a:extLst>
          </p:cNvPr>
          <p:cNvSpPr>
            <a:spLocks noChangeArrowheads="1"/>
          </p:cNvSpPr>
          <p:nvPr/>
        </p:nvSpPr>
        <p:spPr bwMode="auto">
          <a:xfrm>
            <a:off x="114831" y="11251"/>
            <a:ext cx="553998" cy="6858000"/>
          </a:xfrm>
          <a:prstGeom prst="rect">
            <a:avLst/>
          </a:prstGeom>
          <a:solidFill>
            <a:schemeClr val="bg2">
              <a:lumMod val="75000"/>
            </a:schemeClr>
          </a:solidFill>
          <a:ln>
            <a:noFill/>
          </a:ln>
        </p:spPr>
        <p:txBody>
          <a:bodyPr vert="vert270" wrap="square" lIns="0" tIns="0" rIns="0" bIns="0">
            <a:spAutoFit/>
          </a:bodyPr>
          <a:lstStyle>
            <a:lvl1pPr>
              <a:spcBef>
                <a:spcPct val="20000"/>
              </a:spcBef>
              <a:buChar char="•"/>
              <a:defRPr sz="3000">
                <a:solidFill>
                  <a:srgbClr val="130BB8"/>
                </a:solidFill>
                <a:latin typeface="Times New Roman" panose="02020603050405020304" pitchFamily="18" charset="0"/>
                <a:ea typeface="MS PGothic" panose="020B0600070205080204" pitchFamily="34" charset="-128"/>
              </a:defRPr>
            </a:lvl1pPr>
            <a:lvl2pPr marL="742950" indent="-285750">
              <a:spcBef>
                <a:spcPct val="20000"/>
              </a:spcBef>
              <a:buChar char="–"/>
              <a:defRPr sz="2700">
                <a:solidFill>
                  <a:srgbClr val="138159"/>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1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ea typeface="MS PGothic" panose="020B0600070205080204" pitchFamily="34" charset="-128"/>
              </a:defRPr>
            </a:lvl9pPr>
          </a:lstStyle>
          <a:p>
            <a:pPr algn="ctr" eaLnBrk="1" hangingPunct="1">
              <a:spcBef>
                <a:spcPct val="0"/>
              </a:spcBef>
              <a:buFontTx/>
              <a:buNone/>
            </a:pPr>
            <a:r>
              <a:rPr lang="en-US" altLang="en-US" sz="3600" b="1" i="1" dirty="0">
                <a:solidFill>
                  <a:schemeClr val="tx1"/>
                </a:solidFill>
                <a:latin typeface="Times" pitchFamily="2" charset="0"/>
              </a:rPr>
              <a:t>Nature of Followers</a:t>
            </a:r>
          </a:p>
        </p:txBody>
      </p:sp>
      <p:grpSp>
        <p:nvGrpSpPr>
          <p:cNvPr id="19" name="Group 18">
            <a:extLst>
              <a:ext uri="{FF2B5EF4-FFF2-40B4-BE49-F238E27FC236}">
                <a16:creationId xmlns:a16="http://schemas.microsoft.com/office/drawing/2014/main" id="{778B6966-71D6-23FB-53B1-9573ED2C0CA9}"/>
              </a:ext>
            </a:extLst>
          </p:cNvPr>
          <p:cNvGrpSpPr/>
          <p:nvPr/>
        </p:nvGrpSpPr>
        <p:grpSpPr>
          <a:xfrm>
            <a:off x="954495" y="78761"/>
            <a:ext cx="11010756" cy="6525239"/>
            <a:chOff x="954495" y="78761"/>
            <a:chExt cx="11010756" cy="6525239"/>
          </a:xfrm>
        </p:grpSpPr>
        <p:pic>
          <p:nvPicPr>
            <p:cNvPr id="2" name="Picture 4" descr="Free Ability Vector Art - Download 9+ Ability Icons &amp; Graphics - Pixabay">
              <a:extLst>
                <a:ext uri="{FF2B5EF4-FFF2-40B4-BE49-F238E27FC236}">
                  <a16:creationId xmlns:a16="http://schemas.microsoft.com/office/drawing/2014/main" id="{1CF113B3-5B10-DBDF-D173-AC07BD58185B}"/>
                </a:ext>
              </a:extLst>
            </p:cNvPr>
            <p:cNvPicPr>
              <a:picLocks noChangeAspect="1" noChangeArrowheads="1"/>
            </p:cNvPicPr>
            <p:nvPr/>
          </p:nvPicPr>
          <p:blipFill rotWithShape="1">
            <a:blip r:embed="rId8">
              <a:duotone>
                <a:schemeClr val="accent6">
                  <a:shade val="45000"/>
                  <a:satMod val="135000"/>
                </a:schemeClr>
                <a:prstClr val="white"/>
              </a:duotone>
              <a:extLst>
                <a:ext uri="{28A0092B-C50C-407E-A947-70E740481C1C}">
                  <a14:useLocalDpi xmlns:a14="http://schemas.microsoft.com/office/drawing/2010/main" val="0"/>
                </a:ext>
              </a:extLst>
            </a:blip>
            <a:srcRect t="10284" b="11614"/>
            <a:stretch/>
          </p:blipFill>
          <p:spPr bwMode="auto">
            <a:xfrm>
              <a:off x="954495" y="3588582"/>
              <a:ext cx="1361322" cy="138429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Free Ability Vector Art - Download 9+ Ability Icons &amp; Graphics - Pixabay">
              <a:extLst>
                <a:ext uri="{FF2B5EF4-FFF2-40B4-BE49-F238E27FC236}">
                  <a16:creationId xmlns:a16="http://schemas.microsoft.com/office/drawing/2014/main" id="{1C7B2D54-0202-E6ED-673B-E9F491A98B31}"/>
                </a:ext>
              </a:extLst>
            </p:cNvPr>
            <p:cNvPicPr>
              <a:picLocks noChangeAspect="1" noChangeArrowheads="1"/>
            </p:cNvPicPr>
            <p:nvPr/>
          </p:nvPicPr>
          <p:blipFill rotWithShape="1">
            <a:blip r:embed="rId8">
              <a:duotone>
                <a:schemeClr val="accent6">
                  <a:shade val="45000"/>
                  <a:satMod val="135000"/>
                </a:schemeClr>
                <a:prstClr val="white"/>
              </a:duotone>
              <a:extLst>
                <a:ext uri="{28A0092B-C50C-407E-A947-70E740481C1C}">
                  <a14:useLocalDpi xmlns:a14="http://schemas.microsoft.com/office/drawing/2010/main" val="0"/>
                </a:ext>
              </a:extLst>
            </a:blip>
            <a:srcRect t="10284" b="11614"/>
            <a:stretch/>
          </p:blipFill>
          <p:spPr bwMode="auto">
            <a:xfrm>
              <a:off x="962779" y="5219710"/>
              <a:ext cx="1361322" cy="13842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Free Ability Vector Art - Download 9+ Ability Icons &amp; Graphics - Pixabay">
              <a:extLst>
                <a:ext uri="{FF2B5EF4-FFF2-40B4-BE49-F238E27FC236}">
                  <a16:creationId xmlns:a16="http://schemas.microsoft.com/office/drawing/2014/main" id="{E9032CC5-5795-E8E7-CA3F-1F1C37C86434}"/>
                </a:ext>
              </a:extLst>
            </p:cNvPr>
            <p:cNvPicPr>
              <a:picLocks noChangeAspect="1" noChangeArrowheads="1"/>
            </p:cNvPicPr>
            <p:nvPr/>
          </p:nvPicPr>
          <p:blipFill rotWithShape="1">
            <a:blip r:embed="rId8">
              <a:duotone>
                <a:schemeClr val="accent6">
                  <a:shade val="45000"/>
                  <a:satMod val="135000"/>
                </a:schemeClr>
                <a:prstClr val="white"/>
              </a:duotone>
              <a:extLst>
                <a:ext uri="{28A0092B-C50C-407E-A947-70E740481C1C}">
                  <a14:useLocalDpi xmlns:a14="http://schemas.microsoft.com/office/drawing/2010/main" val="0"/>
                </a:ext>
              </a:extLst>
            </a:blip>
            <a:srcRect t="10284" b="11614"/>
            <a:stretch/>
          </p:blipFill>
          <p:spPr bwMode="auto">
            <a:xfrm>
              <a:off x="962779" y="1885128"/>
              <a:ext cx="1361322" cy="13842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Free Ability Vector Art - Download 9+ Ability Icons &amp; Graphics - Pixabay">
              <a:extLst>
                <a:ext uri="{FF2B5EF4-FFF2-40B4-BE49-F238E27FC236}">
                  <a16:creationId xmlns:a16="http://schemas.microsoft.com/office/drawing/2014/main" id="{D1527B3C-A10A-05AB-7373-EFD587C6649A}"/>
                </a:ext>
              </a:extLst>
            </p:cNvPr>
            <p:cNvPicPr>
              <a:picLocks noChangeAspect="1" noChangeArrowheads="1"/>
            </p:cNvPicPr>
            <p:nvPr/>
          </p:nvPicPr>
          <p:blipFill rotWithShape="1">
            <a:blip r:embed="rId8">
              <a:duotone>
                <a:schemeClr val="accent6">
                  <a:shade val="45000"/>
                  <a:satMod val="135000"/>
                </a:schemeClr>
                <a:prstClr val="white"/>
              </a:duotone>
              <a:extLst>
                <a:ext uri="{28A0092B-C50C-407E-A947-70E740481C1C}">
                  <a14:useLocalDpi xmlns:a14="http://schemas.microsoft.com/office/drawing/2010/main" val="0"/>
                </a:ext>
              </a:extLst>
            </a:blip>
            <a:srcRect t="10284" b="11614"/>
            <a:stretch/>
          </p:blipFill>
          <p:spPr bwMode="auto">
            <a:xfrm>
              <a:off x="962779" y="141567"/>
              <a:ext cx="1361322" cy="1384290"/>
            </a:xfrm>
            <a:prstGeom prst="rect">
              <a:avLst/>
            </a:prstGeom>
            <a:noFill/>
            <a:extLst>
              <a:ext uri="{909E8E84-426E-40DD-AFC4-6F175D3DCCD1}">
                <a14:hiddenFill xmlns:a14="http://schemas.microsoft.com/office/drawing/2010/main">
                  <a:solidFill>
                    <a:srgbClr val="FFFFFF"/>
                  </a:solidFill>
                </a14:hiddenFill>
              </a:ext>
            </a:extLst>
          </p:spPr>
        </p:pic>
        <p:sp>
          <p:nvSpPr>
            <p:cNvPr id="8" name="&quot;No&quot; Symbol 7">
              <a:extLst>
                <a:ext uri="{FF2B5EF4-FFF2-40B4-BE49-F238E27FC236}">
                  <a16:creationId xmlns:a16="http://schemas.microsoft.com/office/drawing/2014/main" id="{3E47D91D-E1CB-D64F-6F6C-F6A39DEC5165}"/>
                </a:ext>
              </a:extLst>
            </p:cNvPr>
            <p:cNvSpPr/>
            <p:nvPr/>
          </p:nvSpPr>
          <p:spPr>
            <a:xfrm>
              <a:off x="1616250" y="549964"/>
              <a:ext cx="785813" cy="732875"/>
            </a:xfrm>
            <a:prstGeom prst="noSmoking">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K" dirty="0">
                <a:solidFill>
                  <a:schemeClr val="tx1"/>
                </a:solidFill>
              </a:endParaRPr>
            </a:p>
          </p:txBody>
        </p:sp>
        <p:sp>
          <p:nvSpPr>
            <p:cNvPr id="9" name="&quot;No&quot; Symbol 8">
              <a:extLst>
                <a:ext uri="{FF2B5EF4-FFF2-40B4-BE49-F238E27FC236}">
                  <a16:creationId xmlns:a16="http://schemas.microsoft.com/office/drawing/2014/main" id="{18070CB1-D87B-E3F3-6F7E-E16ADA6FA291}"/>
                </a:ext>
              </a:extLst>
            </p:cNvPr>
            <p:cNvSpPr/>
            <p:nvPr/>
          </p:nvSpPr>
          <p:spPr>
            <a:xfrm>
              <a:off x="1646962" y="2411822"/>
              <a:ext cx="785813" cy="732875"/>
            </a:xfrm>
            <a:prstGeom prst="noSmoking">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K" dirty="0">
                <a:solidFill>
                  <a:schemeClr val="tx1"/>
                </a:solidFill>
              </a:endParaRPr>
            </a:p>
          </p:txBody>
        </p:sp>
        <p:pic>
          <p:nvPicPr>
            <p:cNvPr id="10" name="Picture 2" descr="Willingness to participate thin line stroke Vector Image">
              <a:extLst>
                <a:ext uri="{FF2B5EF4-FFF2-40B4-BE49-F238E27FC236}">
                  <a16:creationId xmlns:a16="http://schemas.microsoft.com/office/drawing/2014/main" id="{FE9C1CF2-5808-4876-1527-3E9761E25EA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225" t="14166" r="16174" b="20417"/>
            <a:stretch/>
          </p:blipFill>
          <p:spPr bwMode="auto">
            <a:xfrm>
              <a:off x="10136822" y="1720719"/>
              <a:ext cx="1342349" cy="14239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Willingness to participate thin line stroke Vector Image">
              <a:extLst>
                <a:ext uri="{FF2B5EF4-FFF2-40B4-BE49-F238E27FC236}">
                  <a16:creationId xmlns:a16="http://schemas.microsoft.com/office/drawing/2014/main" id="{8C0907C1-7081-9A25-B318-A032730EEBE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225" t="14166" r="16174" b="20417"/>
            <a:stretch/>
          </p:blipFill>
          <p:spPr bwMode="auto">
            <a:xfrm>
              <a:off x="10328952" y="5129356"/>
              <a:ext cx="1342349" cy="142397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Willingness to participate thin line stroke Vector Image">
              <a:extLst>
                <a:ext uri="{FF2B5EF4-FFF2-40B4-BE49-F238E27FC236}">
                  <a16:creationId xmlns:a16="http://schemas.microsoft.com/office/drawing/2014/main" id="{D24A49E7-C14C-0BF2-6E3B-034C8426358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225" t="14166" r="16174" b="20417"/>
            <a:stretch/>
          </p:blipFill>
          <p:spPr bwMode="auto">
            <a:xfrm>
              <a:off x="10150355" y="3269418"/>
              <a:ext cx="1342349" cy="1423978"/>
            </a:xfrm>
            <a:prstGeom prst="rect">
              <a:avLst/>
            </a:prstGeom>
            <a:noFill/>
            <a:extLst>
              <a:ext uri="{909E8E84-426E-40DD-AFC4-6F175D3DCCD1}">
                <a14:hiddenFill xmlns:a14="http://schemas.microsoft.com/office/drawing/2010/main">
                  <a:solidFill>
                    <a:srgbClr val="FFFFFF"/>
                  </a:solidFill>
                </a14:hiddenFill>
              </a:ext>
            </a:extLst>
          </p:spPr>
        </p:pic>
        <p:sp>
          <p:nvSpPr>
            <p:cNvPr id="14" name="&quot;No&quot; Symbol 13">
              <a:extLst>
                <a:ext uri="{FF2B5EF4-FFF2-40B4-BE49-F238E27FC236}">
                  <a16:creationId xmlns:a16="http://schemas.microsoft.com/office/drawing/2014/main" id="{B071A7A4-0310-7FF3-32B9-46A38AE3770D}"/>
                </a:ext>
              </a:extLst>
            </p:cNvPr>
            <p:cNvSpPr/>
            <p:nvPr/>
          </p:nvSpPr>
          <p:spPr>
            <a:xfrm>
              <a:off x="11179438" y="4045168"/>
              <a:ext cx="785813" cy="732875"/>
            </a:xfrm>
            <a:prstGeom prst="noSmoking">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K" dirty="0">
                <a:solidFill>
                  <a:schemeClr val="tx1"/>
                </a:solidFill>
              </a:endParaRPr>
            </a:p>
          </p:txBody>
        </p:sp>
        <p:pic>
          <p:nvPicPr>
            <p:cNvPr id="15" name="Picture 2" descr="Willingness to participate thin line stroke Vector Image">
              <a:extLst>
                <a:ext uri="{FF2B5EF4-FFF2-40B4-BE49-F238E27FC236}">
                  <a16:creationId xmlns:a16="http://schemas.microsoft.com/office/drawing/2014/main" id="{CCB712DC-043B-F672-5A42-B5863456BDF8}"/>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225" t="14166" r="16174" b="20417"/>
            <a:stretch/>
          </p:blipFill>
          <p:spPr bwMode="auto">
            <a:xfrm>
              <a:off x="9926987" y="78761"/>
              <a:ext cx="1342349" cy="1423978"/>
            </a:xfrm>
            <a:prstGeom prst="rect">
              <a:avLst/>
            </a:prstGeom>
            <a:noFill/>
            <a:extLst>
              <a:ext uri="{909E8E84-426E-40DD-AFC4-6F175D3DCCD1}">
                <a14:hiddenFill xmlns:a14="http://schemas.microsoft.com/office/drawing/2010/main">
                  <a:solidFill>
                    <a:srgbClr val="FFFFFF"/>
                  </a:solidFill>
                </a14:hiddenFill>
              </a:ext>
            </a:extLst>
          </p:spPr>
        </p:pic>
        <p:sp>
          <p:nvSpPr>
            <p:cNvPr id="16" name="&quot;No&quot; Symbol 15">
              <a:extLst>
                <a:ext uri="{FF2B5EF4-FFF2-40B4-BE49-F238E27FC236}">
                  <a16:creationId xmlns:a16="http://schemas.microsoft.com/office/drawing/2014/main" id="{275C1E46-5945-E108-2173-D9222297131C}"/>
                </a:ext>
              </a:extLst>
            </p:cNvPr>
            <p:cNvSpPr/>
            <p:nvPr/>
          </p:nvSpPr>
          <p:spPr>
            <a:xfrm>
              <a:off x="10956070" y="854511"/>
              <a:ext cx="785813" cy="732875"/>
            </a:xfrm>
            <a:prstGeom prst="noSmoking">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K" dirty="0">
                <a:solidFill>
                  <a:schemeClr val="tx1"/>
                </a:solidFill>
              </a:endParaRPr>
            </a:p>
          </p:txBody>
        </p:sp>
      </p:grpSp>
    </p:spTree>
    <p:extLst>
      <p:ext uri="{BB962C8B-B14F-4D97-AF65-F5344CB8AC3E}">
        <p14:creationId xmlns:p14="http://schemas.microsoft.com/office/powerpoint/2010/main" val="79376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Rectangle 3">
            <a:extLst>
              <a:ext uri="{FF2B5EF4-FFF2-40B4-BE49-F238E27FC236}">
                <a16:creationId xmlns:a16="http://schemas.microsoft.com/office/drawing/2014/main" id="{91799124-AFEB-ED38-4590-42B6CDA8E4AE}"/>
              </a:ext>
            </a:extLst>
          </p:cNvPr>
          <p:cNvGraphicFramePr/>
          <p:nvPr>
            <p:extLst>
              <p:ext uri="{D42A27DB-BD31-4B8C-83A1-F6EECF244321}">
                <p14:modId xmlns:p14="http://schemas.microsoft.com/office/powerpoint/2010/main" val="261963452"/>
              </p:ext>
            </p:extLst>
          </p:nvPr>
        </p:nvGraphicFramePr>
        <p:xfrm>
          <a:off x="2324100" y="216732"/>
          <a:ext cx="9690099" cy="63872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1091">
            <a:extLst>
              <a:ext uri="{FF2B5EF4-FFF2-40B4-BE49-F238E27FC236}">
                <a16:creationId xmlns:a16="http://schemas.microsoft.com/office/drawing/2014/main" id="{CEBD17ED-DBF5-0DBC-1B99-F3E97DF99552}"/>
              </a:ext>
            </a:extLst>
          </p:cNvPr>
          <p:cNvSpPr>
            <a:spLocks noChangeArrowheads="1"/>
          </p:cNvSpPr>
          <p:nvPr/>
        </p:nvSpPr>
        <p:spPr bwMode="auto">
          <a:xfrm>
            <a:off x="400497" y="1"/>
            <a:ext cx="984885" cy="6858000"/>
          </a:xfrm>
          <a:prstGeom prst="rect">
            <a:avLst/>
          </a:prstGeom>
          <a:solidFill>
            <a:schemeClr val="tx1"/>
          </a:solidFill>
          <a:ln>
            <a:noFill/>
          </a:ln>
        </p:spPr>
        <p:txBody>
          <a:bodyPr vert="vert270" wrap="square" lIns="0" tIns="0" rIns="0" bIns="0">
            <a:spAutoFit/>
          </a:bodyPr>
          <a:lstStyle>
            <a:lvl1pPr>
              <a:spcBef>
                <a:spcPct val="20000"/>
              </a:spcBef>
              <a:buChar char="•"/>
              <a:defRPr sz="3000">
                <a:solidFill>
                  <a:srgbClr val="130BB8"/>
                </a:solidFill>
                <a:latin typeface="Times New Roman" panose="02020603050405020304" pitchFamily="18" charset="0"/>
                <a:ea typeface="MS PGothic" panose="020B0600070205080204" pitchFamily="34" charset="-128"/>
              </a:defRPr>
            </a:lvl1pPr>
            <a:lvl2pPr marL="742950" indent="-285750">
              <a:spcBef>
                <a:spcPct val="20000"/>
              </a:spcBef>
              <a:buChar char="–"/>
              <a:defRPr sz="2700">
                <a:solidFill>
                  <a:srgbClr val="138159"/>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1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ea typeface="MS PGothic" panose="020B0600070205080204" pitchFamily="34" charset="-128"/>
              </a:defRPr>
            </a:lvl9pPr>
          </a:lstStyle>
          <a:p>
            <a:pPr algn="ctr" eaLnBrk="1" hangingPunct="1">
              <a:spcBef>
                <a:spcPct val="0"/>
              </a:spcBef>
              <a:buFontTx/>
              <a:buNone/>
            </a:pPr>
            <a:r>
              <a:rPr lang="en-US" altLang="en-US" sz="3200" b="1" i="1" dirty="0">
                <a:solidFill>
                  <a:srgbClr val="FFFF00"/>
                </a:solidFill>
                <a:latin typeface="Times" pitchFamily="2" charset="0"/>
              </a:rPr>
              <a:t>Leadership Behaviour </a:t>
            </a:r>
            <a:r>
              <a:rPr lang="en-US" altLang="en-US" sz="3200" b="1" i="1" dirty="0">
                <a:solidFill>
                  <a:schemeClr val="bg1">
                    <a:lumMod val="95000"/>
                  </a:schemeClr>
                </a:solidFill>
                <a:latin typeface="Times" pitchFamily="2" charset="0"/>
              </a:rPr>
              <a:t>that Fits the Nature of Followers</a:t>
            </a:r>
          </a:p>
        </p:txBody>
      </p:sp>
    </p:spTree>
    <p:extLst>
      <p:ext uri="{BB962C8B-B14F-4D97-AF65-F5344CB8AC3E}">
        <p14:creationId xmlns:p14="http://schemas.microsoft.com/office/powerpoint/2010/main" val="2881822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emium Vector | Vector illustration of two students studying in the  classroom | Student cartoon, Classroom clipart, School cartoon">
            <a:extLst>
              <a:ext uri="{FF2B5EF4-FFF2-40B4-BE49-F238E27FC236}">
                <a16:creationId xmlns:a16="http://schemas.microsoft.com/office/drawing/2014/main" id="{A5A053EE-7749-D6FB-41A1-C07B78D016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1006" y="486160"/>
            <a:ext cx="7228114" cy="5613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15128B-1CE2-025B-0D35-682559A036C0}"/>
              </a:ext>
            </a:extLst>
          </p:cNvPr>
          <p:cNvSpPr>
            <a:spLocks noGrp="1"/>
          </p:cNvSpPr>
          <p:nvPr>
            <p:ph type="title"/>
          </p:nvPr>
        </p:nvSpPr>
        <p:spPr>
          <a:xfrm>
            <a:off x="454215" y="1447293"/>
            <a:ext cx="4432482" cy="2852737"/>
          </a:xfrm>
        </p:spPr>
        <p:txBody>
          <a:bodyPr/>
          <a:lstStyle/>
          <a:p>
            <a:pPr algn="ctr"/>
            <a:r>
              <a:rPr lang="en-LK" sz="8800" b="1" dirty="0">
                <a:solidFill>
                  <a:srgbClr val="0070C0"/>
                </a:solidFill>
                <a:latin typeface="Times" pitchFamily="2" charset="0"/>
              </a:rPr>
              <a:t>A</a:t>
            </a:r>
            <a:r>
              <a:rPr lang="en-LK" sz="8800" b="1" dirty="0">
                <a:solidFill>
                  <a:srgbClr val="002060"/>
                </a:solidFill>
                <a:latin typeface="Times" pitchFamily="2" charset="0"/>
              </a:rPr>
              <a:t>ct</a:t>
            </a:r>
            <a:r>
              <a:rPr lang="en-LK" sz="8800" b="1" dirty="0">
                <a:solidFill>
                  <a:srgbClr val="0070C0"/>
                </a:solidFill>
                <a:latin typeface="Times" pitchFamily="2" charset="0"/>
              </a:rPr>
              <a:t>i</a:t>
            </a:r>
            <a:r>
              <a:rPr lang="en-LK" sz="8800" b="1" dirty="0">
                <a:solidFill>
                  <a:srgbClr val="002060"/>
                </a:solidFill>
                <a:latin typeface="Times" pitchFamily="2" charset="0"/>
              </a:rPr>
              <a:t>v</a:t>
            </a:r>
            <a:r>
              <a:rPr lang="en-LK" sz="8800" b="1" dirty="0">
                <a:solidFill>
                  <a:srgbClr val="0070C0"/>
                </a:solidFill>
                <a:latin typeface="Times" pitchFamily="2" charset="0"/>
              </a:rPr>
              <a:t>i</a:t>
            </a:r>
            <a:r>
              <a:rPr lang="en-LK" sz="8800" b="1" dirty="0">
                <a:solidFill>
                  <a:srgbClr val="002060"/>
                </a:solidFill>
                <a:latin typeface="Times" pitchFamily="2" charset="0"/>
              </a:rPr>
              <a:t>ty</a:t>
            </a:r>
            <a:r>
              <a:rPr lang="en-LK" b="1" dirty="0">
                <a:solidFill>
                  <a:srgbClr val="002060"/>
                </a:solidFill>
                <a:latin typeface="Times" pitchFamily="2" charset="0"/>
              </a:rPr>
              <a:t> </a:t>
            </a:r>
          </a:p>
        </p:txBody>
      </p:sp>
    </p:spTree>
    <p:extLst>
      <p:ext uri="{BB962C8B-B14F-4D97-AF65-F5344CB8AC3E}">
        <p14:creationId xmlns:p14="http://schemas.microsoft.com/office/powerpoint/2010/main" val="14228901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8C46B1-F865-9685-8E0E-7DFBFF439717}"/>
              </a:ext>
            </a:extLst>
          </p:cNvPr>
          <p:cNvSpPr txBox="1"/>
          <p:nvPr/>
        </p:nvSpPr>
        <p:spPr>
          <a:xfrm>
            <a:off x="1534509" y="2301765"/>
            <a:ext cx="9448800" cy="1938992"/>
          </a:xfrm>
          <a:prstGeom prst="rect">
            <a:avLst/>
          </a:prstGeom>
          <a:noFill/>
        </p:spPr>
        <p:txBody>
          <a:bodyPr wrap="square" rtlCol="0">
            <a:spAutoFit/>
          </a:bodyPr>
          <a:lstStyle/>
          <a:p>
            <a:pPr algn="ctr"/>
            <a:r>
              <a:rPr lang="en-LK" sz="6000" b="1" dirty="0">
                <a:latin typeface="Times" pitchFamily="2" charset="0"/>
              </a:rPr>
              <a:t>Time for some questions from today’s lesson!</a:t>
            </a:r>
          </a:p>
        </p:txBody>
      </p:sp>
      <p:pic>
        <p:nvPicPr>
          <p:cNvPr id="7" name="Picture 2" descr="Premium Vector | Vector illustration of two students studying in the  classroom | Student cartoon, Classroom clipart, School cartoon">
            <a:extLst>
              <a:ext uri="{FF2B5EF4-FFF2-40B4-BE49-F238E27FC236}">
                <a16:creationId xmlns:a16="http://schemas.microsoft.com/office/drawing/2014/main" id="{FBA1D6C9-4401-30C6-A48D-938D50268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1005" y="181638"/>
            <a:ext cx="2729989" cy="212012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86A04F-7882-54F6-7760-954F05721C0E}"/>
              </a:ext>
            </a:extLst>
          </p:cNvPr>
          <p:cNvSpPr txBox="1"/>
          <p:nvPr/>
        </p:nvSpPr>
        <p:spPr>
          <a:xfrm>
            <a:off x="2515031" y="4710336"/>
            <a:ext cx="7487756" cy="1323439"/>
          </a:xfrm>
          <a:prstGeom prst="rect">
            <a:avLst/>
          </a:prstGeom>
          <a:noFill/>
        </p:spPr>
        <p:txBody>
          <a:bodyPr wrap="square" rtlCol="0">
            <a:spAutoFit/>
          </a:bodyPr>
          <a:lstStyle/>
          <a:p>
            <a:pPr algn="ctr"/>
            <a:r>
              <a:rPr lang="en-LK" sz="4000" b="1" dirty="0">
                <a:solidFill>
                  <a:srgbClr val="FF0000"/>
                </a:solidFill>
                <a:latin typeface="Times" pitchFamily="2" charset="0"/>
              </a:rPr>
              <a:t>Tell me if the below statements are true or false</a:t>
            </a:r>
          </a:p>
        </p:txBody>
      </p:sp>
    </p:spTree>
    <p:extLst>
      <p:ext uri="{BB962C8B-B14F-4D97-AF65-F5344CB8AC3E}">
        <p14:creationId xmlns:p14="http://schemas.microsoft.com/office/powerpoint/2010/main" val="3931578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8C46B1-F865-9685-8E0E-7DFBFF439717}"/>
              </a:ext>
            </a:extLst>
          </p:cNvPr>
          <p:cNvSpPr txBox="1"/>
          <p:nvPr/>
        </p:nvSpPr>
        <p:spPr>
          <a:xfrm>
            <a:off x="1534509" y="472965"/>
            <a:ext cx="9448800" cy="461665"/>
          </a:xfrm>
          <a:prstGeom prst="rect">
            <a:avLst/>
          </a:prstGeom>
          <a:noFill/>
        </p:spPr>
        <p:txBody>
          <a:bodyPr wrap="square" rtlCol="0">
            <a:spAutoFit/>
          </a:bodyPr>
          <a:lstStyle/>
          <a:p>
            <a:pPr algn="ctr"/>
            <a:r>
              <a:rPr lang="en-LK" sz="2400" b="1" dirty="0">
                <a:latin typeface="Times" pitchFamily="2" charset="0"/>
              </a:rPr>
              <a:t>Time for some questions from today’s lesson!</a:t>
            </a:r>
          </a:p>
        </p:txBody>
      </p:sp>
      <p:pic>
        <p:nvPicPr>
          <p:cNvPr id="6" name="Picture 2" descr="Premium Vector | Vector illustration of two students studying in the  classroom | Student cartoon, Classroom clipart, School cartoon">
            <a:extLst>
              <a:ext uri="{FF2B5EF4-FFF2-40B4-BE49-F238E27FC236}">
                <a16:creationId xmlns:a16="http://schemas.microsoft.com/office/drawing/2014/main" id="{F1DC818A-9145-E011-163C-AAF8F401D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4731" y="181490"/>
            <a:ext cx="1603878" cy="124558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remium Vector | Vector illustration of two students studying in the  classroom | Student cartoon, Classroom clipart, School cartoon">
            <a:extLst>
              <a:ext uri="{FF2B5EF4-FFF2-40B4-BE49-F238E27FC236}">
                <a16:creationId xmlns:a16="http://schemas.microsoft.com/office/drawing/2014/main" id="{FBA1D6C9-4401-30C6-A48D-938D50268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52" y="181490"/>
            <a:ext cx="1603878" cy="12455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1AB9C49-B8AE-C027-CF72-B3402E4F377E}"/>
              </a:ext>
            </a:extLst>
          </p:cNvPr>
          <p:cNvSpPr txBox="1"/>
          <p:nvPr/>
        </p:nvSpPr>
        <p:spPr>
          <a:xfrm>
            <a:off x="1005931" y="2315034"/>
            <a:ext cx="10691149" cy="3170099"/>
          </a:xfrm>
          <a:prstGeom prst="rect">
            <a:avLst/>
          </a:prstGeom>
          <a:noFill/>
        </p:spPr>
        <p:txBody>
          <a:bodyPr wrap="square">
            <a:spAutoFit/>
          </a:bodyPr>
          <a:lstStyle/>
          <a:p>
            <a:pPr algn="just"/>
            <a:r>
              <a:rPr lang="en-GB" sz="2000" b="1" dirty="0">
                <a:latin typeface="Times" pitchFamily="2" charset="0"/>
              </a:rPr>
              <a:t>1. </a:t>
            </a:r>
            <a:r>
              <a:rPr lang="en-GB" sz="2000" dirty="0">
                <a:latin typeface="Times" pitchFamily="2" charset="0"/>
              </a:rPr>
              <a:t>The Trait Theory of Leadership suggests that leaders are made through experience and learning.</a:t>
            </a:r>
          </a:p>
          <a:p>
            <a:pPr algn="just"/>
            <a:endParaRPr lang="en-GB" sz="2000" dirty="0">
              <a:latin typeface="Times" pitchFamily="2" charset="0"/>
            </a:endParaRPr>
          </a:p>
          <a:p>
            <a:pPr algn="just"/>
            <a:endParaRPr lang="en-GB" sz="2000" dirty="0">
              <a:latin typeface="Times" pitchFamily="2" charset="0"/>
            </a:endParaRPr>
          </a:p>
          <a:p>
            <a:pPr algn="just"/>
            <a:r>
              <a:rPr lang="en-GB" sz="2000" b="1" dirty="0">
                <a:latin typeface="Times" pitchFamily="2" charset="0"/>
              </a:rPr>
              <a:t>2. </a:t>
            </a:r>
            <a:r>
              <a:rPr lang="en-GB" sz="2000" dirty="0">
                <a:latin typeface="Times" pitchFamily="2" charset="0"/>
              </a:rPr>
              <a:t>According to the </a:t>
            </a:r>
            <a:r>
              <a:rPr lang="en-GB" sz="2000" dirty="0" err="1">
                <a:latin typeface="Times" pitchFamily="2" charset="0"/>
              </a:rPr>
              <a:t>Behavioral</a:t>
            </a:r>
            <a:r>
              <a:rPr lang="en-GB" sz="2000" dirty="0">
                <a:latin typeface="Times" pitchFamily="2" charset="0"/>
              </a:rPr>
              <a:t> Theory of Leadership, specific </a:t>
            </a:r>
            <a:r>
              <a:rPr lang="en-GB" sz="2000" dirty="0" err="1">
                <a:latin typeface="Times" pitchFamily="2" charset="0"/>
              </a:rPr>
              <a:t>behaviors</a:t>
            </a:r>
            <a:r>
              <a:rPr lang="en-GB" sz="2000" dirty="0">
                <a:latin typeface="Times" pitchFamily="2" charset="0"/>
              </a:rPr>
              <a:t> shown by individuals can differentiate leaders from non-leaders.</a:t>
            </a:r>
          </a:p>
          <a:p>
            <a:pPr algn="just"/>
            <a:endParaRPr lang="en-GB" sz="2000" dirty="0">
              <a:latin typeface="Times" pitchFamily="2" charset="0"/>
            </a:endParaRPr>
          </a:p>
          <a:p>
            <a:pPr algn="just"/>
            <a:endParaRPr lang="en-GB" sz="2000" dirty="0">
              <a:latin typeface="Times" pitchFamily="2" charset="0"/>
            </a:endParaRPr>
          </a:p>
          <a:p>
            <a:pPr algn="just"/>
            <a:r>
              <a:rPr lang="en-GB" sz="2000" b="1" dirty="0">
                <a:latin typeface="Times" pitchFamily="2" charset="0"/>
              </a:rPr>
              <a:t>3. </a:t>
            </a:r>
            <a:r>
              <a:rPr lang="en-GB" sz="2000" dirty="0">
                <a:latin typeface="Times" pitchFamily="2" charset="0"/>
              </a:rPr>
              <a:t>Fiedler’s Contingency Model states that the effectiveness of a leader is solely dependent on their innate traits.</a:t>
            </a:r>
          </a:p>
          <a:p>
            <a:pPr algn="just"/>
            <a:endParaRPr lang="en-GB" sz="2000" dirty="0">
              <a:latin typeface="Times" pitchFamily="2" charset="0"/>
            </a:endParaRPr>
          </a:p>
        </p:txBody>
      </p:sp>
      <p:sp>
        <p:nvSpPr>
          <p:cNvPr id="5" name="TextBox 4">
            <a:extLst>
              <a:ext uri="{FF2B5EF4-FFF2-40B4-BE49-F238E27FC236}">
                <a16:creationId xmlns:a16="http://schemas.microsoft.com/office/drawing/2014/main" id="{9286A04F-7882-54F6-7760-954F05721C0E}"/>
              </a:ext>
            </a:extLst>
          </p:cNvPr>
          <p:cNvSpPr txBox="1"/>
          <p:nvPr/>
        </p:nvSpPr>
        <p:spPr>
          <a:xfrm>
            <a:off x="2515031" y="859534"/>
            <a:ext cx="7487756" cy="523220"/>
          </a:xfrm>
          <a:prstGeom prst="rect">
            <a:avLst/>
          </a:prstGeom>
          <a:noFill/>
        </p:spPr>
        <p:txBody>
          <a:bodyPr wrap="square" rtlCol="0">
            <a:spAutoFit/>
          </a:bodyPr>
          <a:lstStyle/>
          <a:p>
            <a:pPr algn="ctr"/>
            <a:r>
              <a:rPr lang="en-LK" sz="2800" b="1" dirty="0">
                <a:solidFill>
                  <a:srgbClr val="FF0000"/>
                </a:solidFill>
                <a:latin typeface="Times" pitchFamily="2" charset="0"/>
              </a:rPr>
              <a:t>Tell me if the below statements are true or false</a:t>
            </a:r>
          </a:p>
        </p:txBody>
      </p:sp>
    </p:spTree>
    <p:extLst>
      <p:ext uri="{BB962C8B-B14F-4D97-AF65-F5344CB8AC3E}">
        <p14:creationId xmlns:p14="http://schemas.microsoft.com/office/powerpoint/2010/main" val="880165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8C46B1-F865-9685-8E0E-7DFBFF439717}"/>
              </a:ext>
            </a:extLst>
          </p:cNvPr>
          <p:cNvSpPr txBox="1"/>
          <p:nvPr/>
        </p:nvSpPr>
        <p:spPr>
          <a:xfrm>
            <a:off x="1534509" y="472965"/>
            <a:ext cx="9448800" cy="461665"/>
          </a:xfrm>
          <a:prstGeom prst="rect">
            <a:avLst/>
          </a:prstGeom>
          <a:noFill/>
        </p:spPr>
        <p:txBody>
          <a:bodyPr wrap="square" rtlCol="0">
            <a:spAutoFit/>
          </a:bodyPr>
          <a:lstStyle/>
          <a:p>
            <a:pPr algn="ctr"/>
            <a:r>
              <a:rPr lang="en-LK" sz="2400" b="1" dirty="0">
                <a:latin typeface="Times" pitchFamily="2" charset="0"/>
              </a:rPr>
              <a:t>Time for some questions from today’s lesson!</a:t>
            </a:r>
          </a:p>
        </p:txBody>
      </p:sp>
      <p:pic>
        <p:nvPicPr>
          <p:cNvPr id="6" name="Picture 2" descr="Premium Vector | Vector illustration of two students studying in the  classroom | Student cartoon, Classroom clipart, School cartoon">
            <a:extLst>
              <a:ext uri="{FF2B5EF4-FFF2-40B4-BE49-F238E27FC236}">
                <a16:creationId xmlns:a16="http://schemas.microsoft.com/office/drawing/2014/main" id="{F1DC818A-9145-E011-163C-AAF8F401D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4731" y="181490"/>
            <a:ext cx="1603878" cy="124558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remium Vector | Vector illustration of two students studying in the  classroom | Student cartoon, Classroom clipart, School cartoon">
            <a:extLst>
              <a:ext uri="{FF2B5EF4-FFF2-40B4-BE49-F238E27FC236}">
                <a16:creationId xmlns:a16="http://schemas.microsoft.com/office/drawing/2014/main" id="{FBA1D6C9-4401-30C6-A48D-938D50268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52" y="181490"/>
            <a:ext cx="1603878" cy="12455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1AB9C49-B8AE-C027-CF72-B3402E4F377E}"/>
              </a:ext>
            </a:extLst>
          </p:cNvPr>
          <p:cNvSpPr txBox="1"/>
          <p:nvPr/>
        </p:nvSpPr>
        <p:spPr>
          <a:xfrm>
            <a:off x="750425" y="2083540"/>
            <a:ext cx="10691149" cy="4093428"/>
          </a:xfrm>
          <a:prstGeom prst="rect">
            <a:avLst/>
          </a:prstGeom>
          <a:noFill/>
        </p:spPr>
        <p:txBody>
          <a:bodyPr wrap="square">
            <a:spAutoFit/>
          </a:bodyPr>
          <a:lstStyle/>
          <a:p>
            <a:pPr algn="just"/>
            <a:r>
              <a:rPr lang="en-GB" sz="2000" b="1" dirty="0">
                <a:latin typeface="Times" pitchFamily="2" charset="0"/>
              </a:rPr>
              <a:t>4. </a:t>
            </a:r>
            <a:r>
              <a:rPr lang="en-GB" sz="2000" dirty="0">
                <a:latin typeface="Times" pitchFamily="2" charset="0"/>
              </a:rPr>
              <a:t>The Hersey-Blanchard Situational Leadership Theory emphasizes that effective leadership depends on the nature of the followers.</a:t>
            </a:r>
          </a:p>
          <a:p>
            <a:pPr algn="just"/>
            <a:endParaRPr lang="en-GB" sz="2000" b="1" dirty="0">
              <a:solidFill>
                <a:srgbClr val="00B050"/>
              </a:solidFill>
              <a:latin typeface="Times" pitchFamily="2" charset="0"/>
            </a:endParaRPr>
          </a:p>
          <a:p>
            <a:pPr algn="just"/>
            <a:endParaRPr lang="en-GB" sz="2000" dirty="0">
              <a:latin typeface="Times" pitchFamily="2" charset="0"/>
            </a:endParaRPr>
          </a:p>
          <a:p>
            <a:pPr algn="just"/>
            <a:r>
              <a:rPr lang="en-GB" sz="2000" b="1" dirty="0">
                <a:latin typeface="Times" pitchFamily="2" charset="0"/>
              </a:rPr>
              <a:t>5. </a:t>
            </a:r>
            <a:r>
              <a:rPr lang="en-GB" sz="2000" dirty="0">
                <a:latin typeface="Times" pitchFamily="2" charset="0"/>
              </a:rPr>
              <a:t>The Ohio State Studies identified 'Production-Oriented' and 'Employee-Oriented' as the two dimensions of leadership behavior.</a:t>
            </a:r>
          </a:p>
          <a:p>
            <a:pPr algn="just"/>
            <a:endParaRPr lang="en-GB" sz="2000" b="1" dirty="0">
              <a:solidFill>
                <a:srgbClr val="00B050"/>
              </a:solidFill>
              <a:latin typeface="Times" pitchFamily="2" charset="0"/>
            </a:endParaRPr>
          </a:p>
          <a:p>
            <a:pPr algn="just"/>
            <a:endParaRPr lang="en-GB" sz="2000" b="1" dirty="0">
              <a:solidFill>
                <a:srgbClr val="00B050"/>
              </a:solidFill>
              <a:latin typeface="Times" pitchFamily="2" charset="0"/>
            </a:endParaRPr>
          </a:p>
          <a:p>
            <a:pPr algn="just"/>
            <a:r>
              <a:rPr lang="en-GB" sz="2000" b="1" dirty="0">
                <a:latin typeface="Times" pitchFamily="2" charset="0"/>
              </a:rPr>
              <a:t>6. </a:t>
            </a:r>
            <a:r>
              <a:rPr lang="en-GB" sz="2000" dirty="0">
                <a:latin typeface="Times" pitchFamily="2" charset="0"/>
              </a:rPr>
              <a:t>The </a:t>
            </a:r>
            <a:r>
              <a:rPr lang="en-GB" sz="2000" dirty="0" err="1">
                <a:latin typeface="Times" pitchFamily="2" charset="0"/>
              </a:rPr>
              <a:t>Behavioral</a:t>
            </a:r>
            <a:r>
              <a:rPr lang="en-GB" sz="2000" dirty="0">
                <a:latin typeface="Times" pitchFamily="2" charset="0"/>
              </a:rPr>
              <a:t> Theory of Leadership proposes that leadership can be learned and developed through certain </a:t>
            </a:r>
            <a:r>
              <a:rPr lang="en-GB" sz="2000" dirty="0" err="1">
                <a:latin typeface="Times" pitchFamily="2" charset="0"/>
              </a:rPr>
              <a:t>behaviors</a:t>
            </a:r>
            <a:r>
              <a:rPr lang="en-GB" sz="2000" dirty="0">
                <a:latin typeface="Times" pitchFamily="2" charset="0"/>
              </a:rPr>
              <a:t>.</a:t>
            </a:r>
          </a:p>
          <a:p>
            <a:pPr algn="just"/>
            <a:endParaRPr lang="en-GB" sz="2000" b="1" dirty="0">
              <a:solidFill>
                <a:srgbClr val="00B050"/>
              </a:solidFill>
              <a:latin typeface="Times" pitchFamily="2" charset="0"/>
            </a:endParaRPr>
          </a:p>
          <a:p>
            <a:pPr algn="just"/>
            <a:endParaRPr lang="en-GB" sz="2000" b="1" dirty="0">
              <a:solidFill>
                <a:srgbClr val="00B050"/>
              </a:solidFill>
              <a:latin typeface="Times" pitchFamily="2" charset="0"/>
            </a:endParaRPr>
          </a:p>
          <a:p>
            <a:pPr algn="just"/>
            <a:endParaRPr lang="en-GB" sz="2000" b="1" dirty="0">
              <a:solidFill>
                <a:srgbClr val="00B050"/>
              </a:solidFill>
              <a:latin typeface="Times" pitchFamily="2" charset="0"/>
            </a:endParaRPr>
          </a:p>
        </p:txBody>
      </p:sp>
      <p:sp>
        <p:nvSpPr>
          <p:cNvPr id="5" name="TextBox 4">
            <a:extLst>
              <a:ext uri="{FF2B5EF4-FFF2-40B4-BE49-F238E27FC236}">
                <a16:creationId xmlns:a16="http://schemas.microsoft.com/office/drawing/2014/main" id="{9286A04F-7882-54F6-7760-954F05721C0E}"/>
              </a:ext>
            </a:extLst>
          </p:cNvPr>
          <p:cNvSpPr txBox="1"/>
          <p:nvPr/>
        </p:nvSpPr>
        <p:spPr>
          <a:xfrm>
            <a:off x="2515031" y="859534"/>
            <a:ext cx="7487756" cy="523220"/>
          </a:xfrm>
          <a:prstGeom prst="rect">
            <a:avLst/>
          </a:prstGeom>
          <a:noFill/>
        </p:spPr>
        <p:txBody>
          <a:bodyPr wrap="square" rtlCol="0">
            <a:spAutoFit/>
          </a:bodyPr>
          <a:lstStyle/>
          <a:p>
            <a:pPr algn="ctr"/>
            <a:r>
              <a:rPr lang="en-LK" sz="2800" b="1" dirty="0">
                <a:solidFill>
                  <a:srgbClr val="FF0000"/>
                </a:solidFill>
                <a:latin typeface="Times" pitchFamily="2" charset="0"/>
              </a:rPr>
              <a:t>Tell me if the below statements are true or false</a:t>
            </a:r>
          </a:p>
        </p:txBody>
      </p:sp>
    </p:spTree>
    <p:extLst>
      <p:ext uri="{BB962C8B-B14F-4D97-AF65-F5344CB8AC3E}">
        <p14:creationId xmlns:p14="http://schemas.microsoft.com/office/powerpoint/2010/main" val="3356379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Premium Vector | Vector illustration of two students studying in the  classroom | Student cartoon, Classroom clipart, School cartoon">
            <a:extLst>
              <a:ext uri="{FF2B5EF4-FFF2-40B4-BE49-F238E27FC236}">
                <a16:creationId xmlns:a16="http://schemas.microsoft.com/office/drawing/2014/main" id="{F1DC818A-9145-E011-163C-AAF8F401D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2682" y="5413386"/>
            <a:ext cx="1794062" cy="139328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1AB9C49-B8AE-C027-CF72-B3402E4F377E}"/>
              </a:ext>
            </a:extLst>
          </p:cNvPr>
          <p:cNvSpPr txBox="1"/>
          <p:nvPr/>
        </p:nvSpPr>
        <p:spPr>
          <a:xfrm>
            <a:off x="539187" y="200716"/>
            <a:ext cx="11113626" cy="5016758"/>
          </a:xfrm>
          <a:prstGeom prst="rect">
            <a:avLst/>
          </a:prstGeom>
          <a:noFill/>
        </p:spPr>
        <p:txBody>
          <a:bodyPr wrap="square">
            <a:spAutoFit/>
          </a:bodyPr>
          <a:lstStyle/>
          <a:p>
            <a:pPr algn="just"/>
            <a:endParaRPr lang="en-GB" sz="2000" dirty="0">
              <a:latin typeface="Times" pitchFamily="2" charset="0"/>
            </a:endParaRPr>
          </a:p>
          <a:p>
            <a:pPr algn="just"/>
            <a:r>
              <a:rPr lang="en-GB" sz="2000" b="1" dirty="0">
                <a:latin typeface="Times" pitchFamily="2" charset="0"/>
              </a:rPr>
              <a:t>7. </a:t>
            </a:r>
            <a:r>
              <a:rPr lang="en-GB" sz="2000" dirty="0">
                <a:latin typeface="Times" pitchFamily="2" charset="0"/>
              </a:rPr>
              <a:t>The Trait Theory of Leadership suggests that intelligence is not considered an important trait for effective leaders.</a:t>
            </a:r>
          </a:p>
          <a:p>
            <a:pPr algn="just"/>
            <a:endParaRPr lang="en-GB" sz="2000" dirty="0">
              <a:latin typeface="Times" pitchFamily="2" charset="0"/>
            </a:endParaRPr>
          </a:p>
          <a:p>
            <a:pPr algn="just"/>
            <a:endParaRPr lang="en-GB" sz="2000" dirty="0">
              <a:latin typeface="Times" pitchFamily="2" charset="0"/>
            </a:endParaRPr>
          </a:p>
          <a:p>
            <a:pPr algn="just"/>
            <a:r>
              <a:rPr lang="en-GB" sz="2000" b="1" dirty="0">
                <a:latin typeface="Times" pitchFamily="2" charset="0"/>
              </a:rPr>
              <a:t>8. </a:t>
            </a:r>
            <a:r>
              <a:rPr lang="en-GB" sz="2000" dirty="0">
                <a:latin typeface="Times" pitchFamily="2" charset="0"/>
              </a:rPr>
              <a:t>In the Blake and Mouton Managerial Grid, the 'Team Style' of leadership is considered the least effective approach.</a:t>
            </a:r>
          </a:p>
          <a:p>
            <a:pPr algn="just"/>
            <a:endParaRPr lang="en-GB" sz="2000" dirty="0">
              <a:latin typeface="Times" pitchFamily="2" charset="0"/>
            </a:endParaRPr>
          </a:p>
          <a:p>
            <a:pPr algn="just"/>
            <a:endParaRPr lang="en-GB" sz="2000" dirty="0">
              <a:latin typeface="Times" pitchFamily="2" charset="0"/>
            </a:endParaRPr>
          </a:p>
          <a:p>
            <a:pPr algn="just"/>
            <a:r>
              <a:rPr lang="en-GB" sz="2000" b="1" dirty="0">
                <a:latin typeface="Times" pitchFamily="2" charset="0"/>
              </a:rPr>
              <a:t>9. </a:t>
            </a:r>
            <a:r>
              <a:rPr lang="en-GB" sz="2000" dirty="0">
                <a:latin typeface="Times" pitchFamily="2" charset="0"/>
              </a:rPr>
              <a:t>Fiedler’s Contingency Model includes situational factors such as leader-member relations, task structure, and position power.</a:t>
            </a:r>
          </a:p>
          <a:p>
            <a:pPr algn="just"/>
            <a:endParaRPr lang="en-GB" sz="2000" b="1" dirty="0">
              <a:solidFill>
                <a:srgbClr val="FF0000"/>
              </a:solidFill>
              <a:latin typeface="Times" pitchFamily="2" charset="0"/>
            </a:endParaRPr>
          </a:p>
          <a:p>
            <a:pPr marL="742950" lvl="1" indent="-285750" algn="just">
              <a:buFont typeface="+mj-lt"/>
              <a:buAutoNum type="arabicPeriod" startAt="6"/>
            </a:pPr>
            <a:endParaRPr lang="en-GB" sz="2000" dirty="0">
              <a:latin typeface="Times" pitchFamily="2" charset="0"/>
            </a:endParaRPr>
          </a:p>
          <a:p>
            <a:pPr lvl="1" algn="just"/>
            <a:endParaRPr lang="en-GB" sz="2000" dirty="0">
              <a:latin typeface="Times" pitchFamily="2" charset="0"/>
            </a:endParaRPr>
          </a:p>
          <a:p>
            <a:pPr algn="just"/>
            <a:r>
              <a:rPr lang="en-GB" sz="2000" b="1" dirty="0">
                <a:latin typeface="Times" pitchFamily="2" charset="0"/>
              </a:rPr>
              <a:t>10. </a:t>
            </a:r>
            <a:r>
              <a:rPr lang="en-GB" sz="2000" dirty="0">
                <a:latin typeface="Times" pitchFamily="2" charset="0"/>
              </a:rPr>
              <a:t>The Hersey-Blanchard Situational Leadership Theory categorizes followers based on their competence and commitment.</a:t>
            </a:r>
          </a:p>
        </p:txBody>
      </p:sp>
    </p:spTree>
    <p:extLst>
      <p:ext uri="{BB962C8B-B14F-4D97-AF65-F5344CB8AC3E}">
        <p14:creationId xmlns:p14="http://schemas.microsoft.com/office/powerpoint/2010/main" val="549318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8 Ways to Appreciate Your Company's Leadership Team | Inc.com">
            <a:extLst>
              <a:ext uri="{FF2B5EF4-FFF2-40B4-BE49-F238E27FC236}">
                <a16:creationId xmlns:a16="http://schemas.microsoft.com/office/drawing/2014/main" id="{A32DD46F-1382-990D-0E4E-DFA5DD616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1375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9857</TotalTime>
  <Words>2495</Words>
  <Application>Microsoft Office PowerPoint</Application>
  <PresentationFormat>Widescreen</PresentationFormat>
  <Paragraphs>295</Paragraphs>
  <Slides>33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Bradley Hand</vt:lpstr>
      <vt:lpstr>Calibri</vt:lpstr>
      <vt:lpstr>Calibri Light</vt:lpstr>
      <vt:lpstr>Google Sans</vt:lpstr>
      <vt:lpstr>Raleway</vt:lpstr>
      <vt:lpstr>Times</vt:lpstr>
      <vt:lpstr>Office Theme</vt:lpstr>
      <vt:lpstr>Leadership Theories</vt:lpstr>
      <vt:lpstr>Learning Outcomes</vt:lpstr>
      <vt:lpstr>Contents</vt:lpstr>
      <vt:lpstr>Leadership Theories</vt:lpstr>
      <vt:lpstr>T01: Trait Theory of Leadership</vt:lpstr>
      <vt:lpstr>Trait Theory of Leadership</vt:lpstr>
      <vt:lpstr>Examples of Key Traits</vt:lpstr>
      <vt:lpstr>PowerPoint Presentation</vt:lpstr>
      <vt:lpstr>PowerPoint Presentation</vt:lpstr>
      <vt:lpstr>T02: Behavioral Theory of Leadership</vt:lpstr>
      <vt:lpstr>Behavioural Theory of Leadership</vt:lpstr>
      <vt:lpstr>Key Behaviours Explained </vt:lpstr>
      <vt:lpstr>Studies Supporting the Explanation of the Behavioural Theory</vt:lpstr>
      <vt:lpstr>1. The Ohio State Studies</vt:lpstr>
      <vt:lpstr>2. The University of Michigan Studies</vt:lpstr>
      <vt:lpstr>The Blake and Mouton Managerial Grid</vt:lpstr>
      <vt:lpstr>PowerPoint Presentation</vt:lpstr>
      <vt:lpstr>T03: Contingency Theory of Leadership</vt:lpstr>
      <vt:lpstr>Contingency Theory of Leadership</vt:lpstr>
      <vt:lpstr>Key Models related to Situational Theory</vt:lpstr>
      <vt:lpstr>Fiedler’s Contingency Model</vt:lpstr>
      <vt:lpstr>Leader-Member Relations</vt:lpstr>
      <vt:lpstr>Task-Structure</vt:lpstr>
      <vt:lpstr>Positional Power</vt:lpstr>
      <vt:lpstr>Hersey-Blanchard Situational Leadership Theory</vt:lpstr>
      <vt:lpstr>PowerPoint Presentation</vt:lpstr>
      <vt:lpstr>PowerPoint Presentation</vt:lpstr>
      <vt:lpstr>Activity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Tharuka Jayathilake</dc:creator>
  <cp:lastModifiedBy>Sandali Ehalapitiya</cp:lastModifiedBy>
  <cp:revision>100</cp:revision>
  <dcterms:created xsi:type="dcterms:W3CDTF">2023-10-02T05:28:06Z</dcterms:created>
  <dcterms:modified xsi:type="dcterms:W3CDTF">2026-03-16T03:56:59Z</dcterms:modified>
</cp:coreProperties>
</file>